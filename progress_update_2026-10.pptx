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5775a226-202e-28fd-e3f6-7418749b100c}">
          <p14:sldIdLst>
            <p14:sldId id="256"/>
          </p14:sldIdLst>
        </p14:section>
        <p14:section name="Progress" id="{5f78ca99-58b9-2ed3-9c74-f4c9a36b2698}">
          <p14:sldIdLst>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status check: where each of the three pieces stands. Nothing is graded here; no real experiment results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Job data was pulled Sept 24: 219 postings fetched, filtered to early-career US software/data roles, 20 flagged as the small workload (10 per source). Resumes: 10 chosen from 33 student resumes from a previous course, mostly new-grad CS / CompE / data, with a mix of SWE, data, AI/ML and embedded backgrounds. Location preferences were assigned by us since the owners didn't state any. The labeling rubric follows the proposal: relevant means core quals and stated constraints are met; a missing preferred skill alone doesn't count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[Aidan: update this slide if you have baseline work that isn't pushed yet.] As of the repo today, the baseline matcher isn't committed. Everything it needs to plug into is there: the shared API client, ranking prompt, output contract, experiment runner and summary tool, which already computes paired differences once baseline logs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end to end with fake responses; no real API calls or quality numbers yet. The validators reject any resume skill or job requirement that isn't an exact quote, which is how we catch invented qualifications. Main runs re-extract every time; the reuse ablation saves one 50-job extraction to measure that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800" b="1" dirty="0">
                <a:solidFill>
                  <a:srgbClr val="F4F1EA"/>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7F5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77240"/>
            <a:ext cx="8046720" cy="548640"/>
          </a:xfrm>
          <a:prstGeom prst="rect">
            <a:avLst/>
          </a:prstGeom>
          <a:noFill/>
          <a:ln/>
        </p:spPr>
        <p:txBody>
          <a:bodyPr wrap="square" rtlCol="0"/>
          <a:lstStyle>
            <a:lvl1pPr algn="l" indent="0" marL="0">
              <a:buNone/>
              <a:defRPr lang="en-US" sz="2800" b="1" dirty="0">
                <a:solidFill>
                  <a:srgbClr val="14213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8046720" cy="274320"/>
          </a:xfrm>
          <a:prstGeom prst="rect">
            <a:avLst/>
          </a:prstGeom>
          <a:noFill/>
          <a:ln/>
        </p:spPr>
        <p:txBody>
          <a:bodyPr wrap="square" lIns="0" tIns="0" rIns="0" bIns="0" rtlCol="0" anchor="ctr"/>
          <a:lstStyle/>
          <a:p>
            <a:pPr indent="0" marL="0">
              <a:buNone/>
            </a:pPr>
            <a:r>
              <a:rPr lang="en-US" sz="1200" spc="200" kern="0" dirty="0">
                <a:solidFill>
                  <a:srgbClr val="F2A65A"/>
                </a:solidFill>
                <a:latin typeface="Courier New" pitchFamily="34" charset="0"/>
                <a:ea typeface="Courier New" pitchFamily="34" charset="-122"/>
                <a:cs typeface="Courier New" pitchFamily="34" charset="-120"/>
              </a:rPr>
              <a:t>CSCE 585 · PROGRESS UPDATE · OCT 2026</a:t>
            </a:r>
            <a:endParaRPr lang="en-US" sz="1200" dirty="0"/>
          </a:p>
        </p:txBody>
      </p:sp>
      <p:sp>
        <p:nvSpPr>
          <p:cNvPr id="3"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800" b="1" dirty="0">
                <a:solidFill>
                  <a:srgbClr val="F4F1EA"/>
                </a:solidFill>
              </a:rPr>
              <a:t>One Agent or Many?</a:t>
            </a:r>
            <a:endParaRPr lang="en-US" sz="4800" dirty="0"/>
          </a:p>
        </p:txBody>
      </p:sp>
      <p:sp>
        <p:nvSpPr>
          <p:cNvPr id="4" name="Text 2"/>
          <p:cNvSpPr txBox="1"/>
          <p:nvPr/>
        </p:nvSpPr>
        <p:spPr>
          <a:xfrm>
            <a:off x="548640" y="2514600"/>
            <a:ext cx="6858000" cy="457200"/>
          </a:xfrm>
          <a:prstGeom prst="rect">
            <a:avLst/>
          </a:prstGeom>
          <a:noFill/>
          <a:ln/>
        </p:spPr>
        <p:txBody>
          <a:bodyPr wrap="square" lIns="0" tIns="0" rIns="0" bIns="0" rtlCol="0" anchor="ctr"/>
          <a:lstStyle/>
          <a:p>
            <a:pPr indent="0" marL="0">
              <a:buNone/>
            </a:pPr>
            <a:r>
              <a:rPr lang="en-US" sz="2000" dirty="0">
                <a:solidFill>
                  <a:srgbClr val="BFC8D9"/>
                </a:solidFill>
              </a:rPr>
              <a:t>Orchestrated vs. single-agent resume-to-job matching</a:t>
            </a:r>
            <a:endParaRPr lang="en-US" sz="2000" dirty="0"/>
          </a:p>
        </p:txBody>
      </p:sp>
      <p:sp>
        <p:nvSpPr>
          <p:cNvPr id="5" name="Text 3"/>
          <p:cNvSpPr txBox="1"/>
          <p:nvPr/>
        </p:nvSpPr>
        <p:spPr>
          <a:xfrm>
            <a:off x="54864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Aidan · single-agent baseline</a:t>
            </a:r>
            <a:endParaRPr lang="en-US" sz="1400" dirty="0"/>
          </a:p>
        </p:txBody>
      </p:sp>
      <p:sp>
        <p:nvSpPr>
          <p:cNvPr id="6" name="Text 4"/>
          <p:cNvSpPr txBox="1"/>
          <p:nvPr/>
        </p:nvSpPr>
        <p:spPr>
          <a:xfrm>
            <a:off x="324612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Kevin Do · orchestration</a:t>
            </a:r>
            <a:endParaRPr lang="en-US" sz="1400" dirty="0"/>
          </a:p>
        </p:txBody>
      </p:sp>
      <p:sp>
        <p:nvSpPr>
          <p:cNvPr id="7" name="Text 5"/>
          <p:cNvSpPr txBox="1"/>
          <p:nvPr/>
        </p:nvSpPr>
        <p:spPr>
          <a:xfrm>
            <a:off x="5943600" y="4343400"/>
            <a:ext cx="2606040" cy="320040"/>
          </a:xfrm>
          <a:prstGeom prst="rect">
            <a:avLst/>
          </a:prstGeom>
          <a:noFill/>
          <a:ln/>
        </p:spPr>
        <p:txBody>
          <a:bodyPr wrap="square" lIns="0" tIns="0" rIns="0" bIns="0" rtlCol="0" anchor="ctr"/>
          <a:lstStyle/>
          <a:p>
            <a:pPr indent="0" marL="0">
              <a:buNone/>
            </a:pPr>
            <a:r>
              <a:rPr lang="en-US" sz="1400" dirty="0">
                <a:solidFill>
                  <a:srgbClr val="BFC8D9"/>
                </a:solidFill>
              </a:rPr>
              <a:t>Ritvik · data &amp; eval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01 · DATA &amp; EVALUATION · RITVIK</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Jobs + resumes done · labeling next</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Jobs and resumes are in; labeling is next</a:t>
            </a:r>
            <a:endParaRPr lang="en-US" sz="2800" dirty="0"/>
          </a:p>
        </p:txBody>
      </p:sp>
      <p:sp>
        <p:nvSpPr>
          <p:cNvPr id="5" name="Shape 3"/>
          <p:cNvSpPr/>
          <p:nvPr/>
        </p:nvSpPr>
        <p:spPr>
          <a:xfrm>
            <a:off x="548640" y="1508760"/>
            <a:ext cx="1874520" cy="1280160"/>
          </a:xfrm>
          <a:prstGeom prst="roundRect">
            <a:avLst>
              <a:gd name="adj" fmla="val 5714"/>
            </a:avLst>
          </a:prstGeom>
          <a:solidFill>
            <a:srgbClr val="FFFFFF"/>
          </a:solidFill>
          <a:ln w="9525">
            <a:solidFill>
              <a:srgbClr val="E2DED3"/>
            </a:solidFill>
            <a:prstDash val="solid"/>
          </a:ln>
        </p:spPr>
      </p:sp>
      <p:sp>
        <p:nvSpPr>
          <p:cNvPr id="6" name="Text 4"/>
          <p:cNvSpPr txBox="1"/>
          <p:nvPr/>
        </p:nvSpPr>
        <p:spPr>
          <a:xfrm>
            <a:off x="6858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50</a:t>
            </a:r>
            <a:endParaRPr lang="en-US" sz="3200" dirty="0"/>
          </a:p>
        </p:txBody>
      </p:sp>
      <p:sp>
        <p:nvSpPr>
          <p:cNvPr id="7" name="Text 5"/>
          <p:cNvSpPr txBox="1"/>
          <p:nvPr/>
        </p:nvSpPr>
        <p:spPr>
          <a:xfrm>
            <a:off x="6858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new-grad SWE / data postings, 46 employers</a:t>
            </a:r>
            <a:endParaRPr lang="en-US" sz="1200" dirty="0"/>
          </a:p>
        </p:txBody>
      </p:sp>
      <p:sp>
        <p:nvSpPr>
          <p:cNvPr id="8" name="Shape 6"/>
          <p:cNvSpPr/>
          <p:nvPr/>
        </p:nvSpPr>
        <p:spPr>
          <a:xfrm>
            <a:off x="2606040" y="1508760"/>
            <a:ext cx="1874520" cy="1280160"/>
          </a:xfrm>
          <a:prstGeom prst="roundRect">
            <a:avLst>
              <a:gd name="adj" fmla="val 5714"/>
            </a:avLst>
          </a:prstGeom>
          <a:solidFill>
            <a:srgbClr val="FFFFFF"/>
          </a:solidFill>
          <a:ln w="9525">
            <a:solidFill>
              <a:srgbClr val="E2DED3"/>
            </a:solidFill>
            <a:prstDash val="solid"/>
          </a:ln>
        </p:spPr>
      </p:sp>
      <p:sp>
        <p:nvSpPr>
          <p:cNvPr id="9" name="Text 7"/>
          <p:cNvSpPr txBox="1"/>
          <p:nvPr/>
        </p:nvSpPr>
        <p:spPr>
          <a:xfrm>
            <a:off x="27432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25 + 25</a:t>
            </a:r>
            <a:endParaRPr lang="en-US" sz="3200" dirty="0"/>
          </a:p>
        </p:txBody>
      </p:sp>
      <p:sp>
        <p:nvSpPr>
          <p:cNvPr id="10" name="Text 8"/>
          <p:cNvSpPr txBox="1"/>
          <p:nvPr/>
        </p:nvSpPr>
        <p:spPr>
          <a:xfrm>
            <a:off x="27432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Greenhouse + Lever</a:t>
            </a:r>
            <a:endParaRPr lang="en-US" sz="1200" dirty="0"/>
          </a:p>
        </p:txBody>
      </p:sp>
      <p:sp>
        <p:nvSpPr>
          <p:cNvPr id="11" name="Shape 9"/>
          <p:cNvSpPr/>
          <p:nvPr/>
        </p:nvSpPr>
        <p:spPr>
          <a:xfrm>
            <a:off x="4663440" y="1508760"/>
            <a:ext cx="1874520" cy="1280160"/>
          </a:xfrm>
          <a:prstGeom prst="roundRect">
            <a:avLst>
              <a:gd name="adj" fmla="val 5714"/>
            </a:avLst>
          </a:prstGeom>
          <a:solidFill>
            <a:srgbClr val="FFFFFF"/>
          </a:solidFill>
          <a:ln w="9525">
            <a:solidFill>
              <a:srgbClr val="E2DED3"/>
            </a:solidFill>
            <a:prstDash val="solid"/>
          </a:ln>
        </p:spPr>
      </p:sp>
      <p:sp>
        <p:nvSpPr>
          <p:cNvPr id="12" name="Text 10"/>
          <p:cNvSpPr txBox="1"/>
          <p:nvPr/>
        </p:nvSpPr>
        <p:spPr>
          <a:xfrm>
            <a:off x="48006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10</a:t>
            </a:r>
            <a:endParaRPr lang="en-US" sz="3200" dirty="0"/>
          </a:p>
        </p:txBody>
      </p:sp>
      <p:sp>
        <p:nvSpPr>
          <p:cNvPr id="13" name="Text 11"/>
          <p:cNvSpPr txBox="1"/>
          <p:nvPr/>
        </p:nvSpPr>
        <p:spPr>
          <a:xfrm>
            <a:off x="48006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anonymized resumes (2 dev, 8 eval)</a:t>
            </a:r>
            <a:endParaRPr lang="en-US" sz="1200" dirty="0"/>
          </a:p>
        </p:txBody>
      </p:sp>
      <p:sp>
        <p:nvSpPr>
          <p:cNvPr id="14" name="Shape 12"/>
          <p:cNvSpPr/>
          <p:nvPr/>
        </p:nvSpPr>
        <p:spPr>
          <a:xfrm>
            <a:off x="6720840" y="1508760"/>
            <a:ext cx="1874520" cy="1280160"/>
          </a:xfrm>
          <a:prstGeom prst="roundRect">
            <a:avLst>
              <a:gd name="adj" fmla="val 5714"/>
            </a:avLst>
          </a:prstGeom>
          <a:solidFill>
            <a:srgbClr val="FFFFFF"/>
          </a:solidFill>
          <a:ln w="9525">
            <a:solidFill>
              <a:srgbClr val="E2DED3"/>
            </a:solidFill>
            <a:prstDash val="solid"/>
          </a:ln>
        </p:spPr>
      </p:sp>
      <p:sp>
        <p:nvSpPr>
          <p:cNvPr id="15" name="Text 13"/>
          <p:cNvSpPr txBox="1"/>
          <p:nvPr/>
        </p:nvSpPr>
        <p:spPr>
          <a:xfrm>
            <a:off x="6858000" y="1618488"/>
            <a:ext cx="1600200" cy="548640"/>
          </a:xfrm>
          <a:prstGeom prst="rect">
            <a:avLst/>
          </a:prstGeom>
          <a:noFill/>
          <a:ln/>
        </p:spPr>
        <p:txBody>
          <a:bodyPr wrap="square" lIns="0" tIns="0" rIns="0" bIns="0" rtlCol="0" anchor="ctr"/>
          <a:lstStyle/>
          <a:p>
            <a:pPr indent="0" marL="0">
              <a:buNone/>
            </a:pPr>
            <a:r>
              <a:rPr lang="en-US" sz="3200" b="1" dirty="0">
                <a:solidFill>
                  <a:srgbClr val="14213D"/>
                </a:solidFill>
              </a:rPr>
              <a:t>400</a:t>
            </a:r>
            <a:endParaRPr lang="en-US" sz="3200" dirty="0"/>
          </a:p>
        </p:txBody>
      </p:sp>
      <p:sp>
        <p:nvSpPr>
          <p:cNvPr id="16" name="Text 14"/>
          <p:cNvSpPr txBox="1"/>
          <p:nvPr/>
        </p:nvSpPr>
        <p:spPr>
          <a:xfrm>
            <a:off x="6858000" y="2194560"/>
            <a:ext cx="1600200" cy="502920"/>
          </a:xfrm>
          <a:prstGeom prst="rect">
            <a:avLst/>
          </a:prstGeom>
          <a:noFill/>
          <a:ln/>
        </p:spPr>
        <p:txBody>
          <a:bodyPr wrap="square" lIns="0" tIns="0" rIns="0" bIns="0" rtlCol="0" anchor="t"/>
          <a:lstStyle/>
          <a:p>
            <a:pPr indent="0" marL="0">
              <a:buNone/>
            </a:pPr>
            <a:r>
              <a:rPr lang="en-US" sz="1200" dirty="0">
                <a:solidFill>
                  <a:srgbClr val="4A5568"/>
                </a:solidFill>
              </a:rPr>
              <a:t>label rows ready, 0 filled</a:t>
            </a:r>
            <a:endParaRPr lang="en-US" sz="1200" dirty="0"/>
          </a:p>
        </p:txBody>
      </p:sp>
      <p:sp>
        <p:nvSpPr>
          <p:cNvPr id="17" name="Text 15"/>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8" name="Text 16"/>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Job set pulled from live Greenhouse / Lever APIs, reproducible selection</a:t>
            </a:r>
            <a:endParaRPr lang="en-US" sz="1300" dirty="0"/>
          </a:p>
          <a:p>
            <a:pPr marL="152400" indent="-152400">
              <a:spcAft>
                <a:spcPts val="400"/>
              </a:spcAft>
              <a:buSzPct val="100000"/>
              <a:buChar char="•"/>
            </a:pPr>
            <a:r>
              <a:rPr lang="en-US" sz="1300" dirty="0">
                <a:solidFill>
                  <a:srgbClr val="2D3748"/>
                </a:solidFill>
              </a:rPr>
              <a:t>10 resumes picked from 33 past-course resumes, names and contact info stripped</a:t>
            </a:r>
            <a:endParaRPr lang="en-US" sz="1300" dirty="0"/>
          </a:p>
          <a:p>
            <a:pPr marL="152400" indent="-152400">
              <a:spcAft>
                <a:spcPts val="400"/>
              </a:spcAft>
              <a:buSzPct val="100000"/>
              <a:buChar char="•"/>
            </a:pPr>
            <a:r>
              <a:rPr lang="en-US" sz="1300" dirty="0">
                <a:solidFill>
                  <a:srgbClr val="2D3748"/>
                </a:solidFill>
              </a:rPr>
              <a:t>Rubric, 400 + 80 label sheets, agreement / kappa script</a:t>
            </a:r>
            <a:endParaRPr lang="en-US" sz="1300" dirty="0"/>
          </a:p>
        </p:txBody>
      </p:sp>
      <p:sp>
        <p:nvSpPr>
          <p:cNvPr id="19" name="Text 17"/>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20" name="Text 18"/>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Team calibration on the 2 dev resumes</a:t>
            </a:r>
            <a:endParaRPr lang="en-US" sz="1300" dirty="0"/>
          </a:p>
          <a:p>
            <a:pPr marL="152400" indent="-152400">
              <a:spcAft>
                <a:spcPts val="400"/>
              </a:spcAft>
              <a:buSzPct val="100000"/>
              <a:buChar char="•"/>
            </a:pPr>
            <a:r>
              <a:rPr lang="en-US" sz="1300" dirty="0">
                <a:solidFill>
                  <a:srgbClr val="2D3748"/>
                </a:solidFill>
              </a:rPr>
              <a:t>Label all 400 pairs before seeing any predictions</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02 · SINGLE-AGENT BASELINE · AIDAN</a:t>
            </a:r>
            <a:endParaRPr lang="en-US" sz="1200" dirty="0"/>
          </a:p>
        </p:txBody>
      </p:sp>
      <p:sp>
        <p:nvSpPr>
          <p:cNvPr id="3" name="status"/>
          <p:cNvSpPr/>
          <p:nvPr/>
        </p:nvSpPr>
        <p:spPr>
          <a:xfrm>
            <a:off x="5669280" y="329184"/>
            <a:ext cx="2926080" cy="329184"/>
          </a:xfrm>
          <a:prstGeom prst="roundRect">
            <a:avLst>
              <a:gd name="adj" fmla="val 138889"/>
            </a:avLst>
          </a:prstGeom>
          <a:solidFill>
            <a:srgbClr val="F2C79A"/>
          </a:solidFill>
          <a:ln/>
        </p:spPr>
        <p:txBody>
          <a:bodyPr wrap="square" lIns="0" tIns="0" rIns="0" bIns="0" rtlCol="0" anchor="ctr"/>
          <a:lstStyle/>
          <a:p>
            <a:pPr algn="ctr" indent="0" marL="0">
              <a:buNone/>
            </a:pPr>
            <a:r>
              <a:rPr lang="en-US" sz="1100" b="1" dirty="0">
                <a:solidFill>
                  <a:srgbClr val="14213D"/>
                </a:solidFill>
              </a:rPr>
              <a:t>Next up · shared pieces ready</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One prompt reads everything, returns top 5</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Resume + preferences</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All postings</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Single prompt</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 + reasons</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Already in place to build on</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Shared API client with retries, token and cost logging</a:t>
            </a:r>
            <a:endParaRPr lang="en-US" sz="1300" dirty="0"/>
          </a:p>
          <a:p>
            <a:pPr marL="152400" indent="-152400">
              <a:spcAft>
                <a:spcPts val="400"/>
              </a:spcAft>
              <a:buSzPct val="100000"/>
              <a:buChar char="•"/>
            </a:pPr>
            <a:r>
              <a:rPr lang="en-US" sz="1300" dirty="0">
                <a:solidFill>
                  <a:srgbClr val="2D3748"/>
                </a:solidFill>
              </a:rPr>
              <a:t>Shared ranking prompt and output contract (5 distinct, valid job IDs)</a:t>
            </a:r>
            <a:endParaRPr lang="en-US" sz="1300" dirty="0"/>
          </a:p>
          <a:p>
            <a:pPr marL="152400" indent="-152400">
              <a:spcAft>
                <a:spcPts val="400"/>
              </a:spcAft>
              <a:buSzPct val="100000"/>
              <a:buChar char="•"/>
            </a:pPr>
            <a:r>
              <a:rPr lang="en-US" sz="1300" dirty="0">
                <a:solidFill>
                  <a:srgbClr val="2D3748"/>
                </a:solidFill>
              </a:rPr>
              <a:t>Experiment runner saves job-order seeds so runs pair with the orchestrator</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Implement the one-call matcher on the shared interface</a:t>
            </a:r>
            <a:endParaRPr lang="en-US" sz="1300" dirty="0"/>
          </a:p>
          <a:p>
            <a:pPr marL="152400" indent="-152400">
              <a:spcAft>
                <a:spcPts val="400"/>
              </a:spcAft>
              <a:buSzPct val="100000"/>
              <a:buChar char="•"/>
            </a:pPr>
            <a:r>
              <a:rPr lang="en-US" sz="1300" dirty="0">
                <a:solidFill>
                  <a:srgbClr val="2D3748"/>
                </a:solidFill>
              </a:rPr>
              <a:t>Run the same 4-run pilot as the orchestrator</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65760"/>
            <a:ext cx="5120640" cy="274320"/>
          </a:xfrm>
          <a:prstGeom prst="rect">
            <a:avLst/>
          </a:prstGeom>
          <a:noFill/>
          <a:ln/>
        </p:spPr>
        <p:txBody>
          <a:bodyPr wrap="square" lIns="0" tIns="0" rIns="0" bIns="0" rtlCol="0" anchor="ctr"/>
          <a:lstStyle/>
          <a:p>
            <a:pPr indent="0" marL="0">
              <a:buNone/>
            </a:pPr>
            <a:r>
              <a:rPr lang="en-US" sz="1200" spc="150" kern="0" dirty="0">
                <a:solidFill>
                  <a:srgbClr val="B85C1E"/>
                </a:solidFill>
                <a:latin typeface="Courier New" pitchFamily="34" charset="0"/>
                <a:ea typeface="Courier New" pitchFamily="34" charset="-122"/>
                <a:cs typeface="Courier New" pitchFamily="34" charset="-120"/>
              </a:rPr>
              <a:t>03 · ORCHESTRATED WORKFLOW · KEVIN DO</a:t>
            </a:r>
            <a:endParaRPr lang="en-US" sz="1200" dirty="0"/>
          </a:p>
        </p:txBody>
      </p:sp>
      <p:sp>
        <p:nvSpPr>
          <p:cNvPr id="3" name="status"/>
          <p:cNvSpPr/>
          <p:nvPr/>
        </p:nvSpPr>
        <p:spPr>
          <a:xfrm>
            <a:off x="5669280" y="329184"/>
            <a:ext cx="2926080" cy="329184"/>
          </a:xfrm>
          <a:prstGeom prst="roundRect">
            <a:avLst>
              <a:gd name="adj" fmla="val 138889"/>
            </a:avLst>
          </a:prstGeom>
          <a:solidFill>
            <a:srgbClr val="2F5D8C"/>
          </a:solidFill>
          <a:ln/>
        </p:spPr>
        <p:txBody>
          <a:bodyPr wrap="square" lIns="0" tIns="0" rIns="0" bIns="0" rtlCol="0" anchor="ctr"/>
          <a:lstStyle/>
          <a:p>
            <a:pPr algn="ctr" indent="0" marL="0">
              <a:buNone/>
            </a:pPr>
            <a:r>
              <a:rPr lang="en-US" sz="1100" b="1" dirty="0">
                <a:solidFill>
                  <a:srgbClr val="F7F5EF"/>
                </a:solidFill>
              </a:rPr>
              <a:t>Built · verified offline</a:t>
            </a:r>
            <a:endParaRPr lang="en-US" sz="1100" dirty="0"/>
          </a:p>
        </p:txBody>
      </p:sp>
      <p:sp>
        <p:nvSpPr>
          <p:cNvPr id="4" name="Text 0"/>
          <p:cNvSpPr/>
          <p:nvPr>
            <p:ph idx="100" type="title" hasCustomPrompt="1"/>
          </p:nvPr>
        </p:nvSpPr>
        <p:spPr>
          <a:xfrm>
            <a:off x="548640" y="777240"/>
            <a:ext cx="8046720" cy="548640"/>
          </a:xfrm>
          <a:prstGeom prst="rect">
            <a:avLst/>
          </a:prstGeom>
          <a:noFill/>
          <a:ln/>
        </p:spPr>
        <p:txBody>
          <a:bodyPr wrap="square" lIns="0" tIns="0" rIns="0" bIns="0" rtlCol="0" anchor="t"/>
          <a:lstStyle/>
          <a:p>
            <a:pPr algn="l" indent="0" marL="0">
              <a:buNone/>
            </a:pPr>
            <a:r>
              <a:rPr lang="en-US" sz="2800" b="1" dirty="0">
                <a:solidFill>
                  <a:srgbClr val="14213D"/>
                </a:solidFill>
              </a:rPr>
              <a:t>Three workers chained by a Python script</a:t>
            </a:r>
            <a:endParaRPr lang="en-US" sz="2800" dirty="0"/>
          </a:p>
        </p:txBody>
      </p:sp>
      <p:sp>
        <p:nvSpPr>
          <p:cNvPr id="5" name="Shape 3"/>
          <p:cNvSpPr/>
          <p:nvPr/>
        </p:nvSpPr>
        <p:spPr>
          <a:xfrm>
            <a:off x="548640" y="1508760"/>
            <a:ext cx="8046720" cy="1234440"/>
          </a:xfrm>
          <a:prstGeom prst="roundRect">
            <a:avLst>
              <a:gd name="adj" fmla="val 5926"/>
            </a:avLst>
          </a:prstGeom>
          <a:solidFill>
            <a:srgbClr val="FFFFFF"/>
          </a:solidFill>
          <a:ln w="9525">
            <a:solidFill>
              <a:srgbClr val="E2DED3"/>
            </a:solidFill>
            <a:prstDash val="solid"/>
          </a:ln>
        </p:spPr>
      </p:sp>
      <p:sp>
        <p:nvSpPr>
          <p:cNvPr id="6" name="Text 4"/>
          <p:cNvSpPr/>
          <p:nvPr/>
        </p:nvSpPr>
        <p:spPr>
          <a:xfrm>
            <a:off x="73152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Resume parser</a:t>
            </a:r>
            <a:endParaRPr lang="en-US" sz="1400" dirty="0"/>
          </a:p>
        </p:txBody>
      </p:sp>
      <p:sp>
        <p:nvSpPr>
          <p:cNvPr id="7" name="Shape 5"/>
          <p:cNvSpPr/>
          <p:nvPr/>
        </p:nvSpPr>
        <p:spPr>
          <a:xfrm>
            <a:off x="2366010" y="2011680"/>
            <a:ext cx="320040" cy="228600"/>
          </a:xfrm>
          <a:prstGeom prst="rightArrow">
            <a:avLst/>
          </a:prstGeom>
          <a:solidFill>
            <a:srgbClr val="B85C1E"/>
          </a:solidFill>
          <a:ln w="12700">
            <a:solidFill>
              <a:srgbClr val="B85C1E"/>
            </a:solidFill>
            <a:prstDash val="solid"/>
          </a:ln>
        </p:spPr>
      </p:sp>
      <p:sp>
        <p:nvSpPr>
          <p:cNvPr id="8" name="Text 6"/>
          <p:cNvSpPr/>
          <p:nvPr/>
        </p:nvSpPr>
        <p:spPr>
          <a:xfrm>
            <a:off x="277749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Requirement extractor</a:t>
            </a:r>
            <a:endParaRPr lang="en-US" sz="1400" dirty="0"/>
          </a:p>
        </p:txBody>
      </p:sp>
      <p:sp>
        <p:nvSpPr>
          <p:cNvPr id="9" name="Shape 7"/>
          <p:cNvSpPr/>
          <p:nvPr/>
        </p:nvSpPr>
        <p:spPr>
          <a:xfrm>
            <a:off x="4411980" y="2011680"/>
            <a:ext cx="320040" cy="228600"/>
          </a:xfrm>
          <a:prstGeom prst="rightArrow">
            <a:avLst/>
          </a:prstGeom>
          <a:solidFill>
            <a:srgbClr val="B85C1E"/>
          </a:solidFill>
          <a:ln w="12700">
            <a:solidFill>
              <a:srgbClr val="B85C1E"/>
            </a:solidFill>
            <a:prstDash val="solid"/>
          </a:ln>
        </p:spPr>
      </p:sp>
      <p:sp>
        <p:nvSpPr>
          <p:cNvPr id="10" name="Text 8"/>
          <p:cNvSpPr/>
          <p:nvPr/>
        </p:nvSpPr>
        <p:spPr>
          <a:xfrm>
            <a:off x="4823460" y="1783080"/>
            <a:ext cx="1543050" cy="685800"/>
          </a:xfrm>
          <a:prstGeom prst="roundRect">
            <a:avLst>
              <a:gd name="adj" fmla="val 8000"/>
            </a:avLst>
          </a:prstGeom>
          <a:solidFill>
            <a:srgbClr val="14213D"/>
          </a:solidFill>
          <a:ln/>
        </p:spPr>
        <p:txBody>
          <a:bodyPr wrap="square" lIns="50800" tIns="50800" rIns="50800" bIns="50800" rtlCol="0" anchor="ctr"/>
          <a:lstStyle/>
          <a:p>
            <a:pPr algn="ctr" indent="0" marL="0">
              <a:buNone/>
            </a:pPr>
            <a:r>
              <a:rPr lang="en-US" sz="1400" b="1" dirty="0">
                <a:solidFill>
                  <a:srgbClr val="F7F5EF"/>
                </a:solidFill>
              </a:rPr>
              <a:t>Scorer &amp; ranker</a:t>
            </a:r>
            <a:endParaRPr lang="en-US" sz="1400" dirty="0"/>
          </a:p>
        </p:txBody>
      </p:sp>
      <p:sp>
        <p:nvSpPr>
          <p:cNvPr id="11" name="Shape 9"/>
          <p:cNvSpPr/>
          <p:nvPr/>
        </p:nvSpPr>
        <p:spPr>
          <a:xfrm>
            <a:off x="6457950" y="2011680"/>
            <a:ext cx="320040" cy="228600"/>
          </a:xfrm>
          <a:prstGeom prst="rightArrow">
            <a:avLst/>
          </a:prstGeom>
          <a:solidFill>
            <a:srgbClr val="B85C1E"/>
          </a:solidFill>
          <a:ln w="12700">
            <a:solidFill>
              <a:srgbClr val="B85C1E"/>
            </a:solidFill>
            <a:prstDash val="solid"/>
          </a:ln>
        </p:spPr>
      </p:sp>
      <p:sp>
        <p:nvSpPr>
          <p:cNvPr id="12" name="Text 10"/>
          <p:cNvSpPr/>
          <p:nvPr/>
        </p:nvSpPr>
        <p:spPr>
          <a:xfrm>
            <a:off x="6869430" y="1783080"/>
            <a:ext cx="1543050" cy="685800"/>
          </a:xfrm>
          <a:prstGeom prst="roundRect">
            <a:avLst>
              <a:gd name="adj" fmla="val 8000"/>
            </a:avLst>
          </a:prstGeom>
          <a:solidFill>
            <a:srgbClr val="E8EEF5"/>
          </a:solidFill>
          <a:ln/>
        </p:spPr>
        <p:txBody>
          <a:bodyPr wrap="square" lIns="50800" tIns="50800" rIns="50800" bIns="50800" rtlCol="0" anchor="ctr"/>
          <a:lstStyle/>
          <a:p>
            <a:pPr algn="ctr" indent="0" marL="0">
              <a:buNone/>
            </a:pPr>
            <a:r>
              <a:rPr lang="en-US" sz="1400" b="1" dirty="0">
                <a:solidFill>
                  <a:srgbClr val="14213D"/>
                </a:solidFill>
              </a:rPr>
              <a:t>Top 5</a:t>
            </a:r>
            <a:endParaRPr lang="en-US" sz="1400" dirty="0"/>
          </a:p>
        </p:txBody>
      </p:sp>
      <p:sp>
        <p:nvSpPr>
          <p:cNvPr id="13" name="Text 11"/>
          <p:cNvSpPr txBox="1"/>
          <p:nvPr/>
        </p:nvSpPr>
        <p:spPr>
          <a:xfrm>
            <a:off x="548640" y="2971800"/>
            <a:ext cx="4572000" cy="274320"/>
          </a:xfrm>
          <a:prstGeom prst="rect">
            <a:avLst/>
          </a:prstGeom>
          <a:noFill/>
          <a:ln/>
        </p:spPr>
        <p:txBody>
          <a:bodyPr wrap="square" lIns="0" tIns="0" rIns="0" bIns="0" rtlCol="0" anchor="ctr"/>
          <a:lstStyle/>
          <a:p>
            <a:pPr indent="0" marL="0">
              <a:buNone/>
            </a:pPr>
            <a:r>
              <a:rPr lang="en-US" sz="1500" b="1" dirty="0">
                <a:solidFill>
                  <a:srgbClr val="2F5D8C"/>
                </a:solidFill>
              </a:rPr>
              <a:t>Done</a:t>
            </a:r>
            <a:endParaRPr lang="en-US" sz="1500" dirty="0"/>
          </a:p>
        </p:txBody>
      </p:sp>
      <p:sp>
        <p:nvSpPr>
          <p:cNvPr id="14" name="Text 12"/>
          <p:cNvSpPr txBox="1"/>
          <p:nvPr/>
        </p:nvSpPr>
        <p:spPr>
          <a:xfrm>
            <a:off x="548640" y="3291840"/>
            <a:ext cx="457200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Extracted skills and requirements must be exact quotes from the source</a:t>
            </a:r>
            <a:endParaRPr lang="en-US" sz="1300" dirty="0"/>
          </a:p>
          <a:p>
            <a:pPr marL="152400" indent="-152400">
              <a:spcAft>
                <a:spcPts val="400"/>
              </a:spcAft>
              <a:buSzPct val="100000"/>
              <a:buChar char="•"/>
            </a:pPr>
            <a:r>
              <a:rPr lang="en-US" sz="1300" dirty="0">
                <a:solidFill>
                  <a:srgbClr val="2D3748"/>
                </a:solidFill>
              </a:rPr>
              <a:t>Logs tokens, cost, latency and retries per call; $20 budget guard</a:t>
            </a:r>
            <a:endParaRPr lang="en-US" sz="1300" dirty="0"/>
          </a:p>
          <a:p>
            <a:pPr marL="152400" indent="-152400">
              <a:spcAft>
                <a:spcPts val="400"/>
              </a:spcAft>
              <a:buSzPct val="100000"/>
              <a:buChar char="•"/>
            </a:pPr>
            <a:r>
              <a:rPr lang="en-US" sz="1300" dirty="0">
                <a:solidFill>
                  <a:srgbClr val="2D3748"/>
                </a:solidFill>
              </a:rPr>
              <a:t>48 main runs + 6-run reuse ablation scripted; 8 offline tests pass</a:t>
            </a:r>
            <a:endParaRPr lang="en-US" sz="1300" dirty="0"/>
          </a:p>
        </p:txBody>
      </p:sp>
      <p:sp>
        <p:nvSpPr>
          <p:cNvPr id="15" name="Text 13"/>
          <p:cNvSpPr txBox="1"/>
          <p:nvPr/>
        </p:nvSpPr>
        <p:spPr>
          <a:xfrm>
            <a:off x="5486400" y="2971800"/>
            <a:ext cx="3108960" cy="274320"/>
          </a:xfrm>
          <a:prstGeom prst="rect">
            <a:avLst/>
          </a:prstGeom>
          <a:noFill/>
          <a:ln/>
        </p:spPr>
        <p:txBody>
          <a:bodyPr wrap="square" lIns="0" tIns="0" rIns="0" bIns="0" rtlCol="0" anchor="ctr"/>
          <a:lstStyle/>
          <a:p>
            <a:pPr indent="0" marL="0">
              <a:buNone/>
            </a:pPr>
            <a:r>
              <a:rPr lang="en-US" sz="1500" b="1" dirty="0">
                <a:solidFill>
                  <a:srgbClr val="B85C1E"/>
                </a:solidFill>
              </a:rPr>
              <a:t>Next</a:t>
            </a:r>
            <a:endParaRPr lang="en-US" sz="1500" dirty="0"/>
          </a:p>
        </p:txBody>
      </p:sp>
      <p:sp>
        <p:nvSpPr>
          <p:cNvPr id="16" name="Text 14"/>
          <p:cNvSpPr txBox="1"/>
          <p:nvPr/>
        </p:nvSpPr>
        <p:spPr>
          <a:xfrm>
            <a:off x="5486400" y="3291840"/>
            <a:ext cx="3108960"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2D3748"/>
                </a:solidFill>
              </a:rPr>
              <a:t>Pick a fixed model version, dated prices, API key</a:t>
            </a:r>
            <a:endParaRPr lang="en-US" sz="1300" dirty="0"/>
          </a:p>
          <a:p>
            <a:pPr marL="152400" indent="-152400">
              <a:spcAft>
                <a:spcPts val="400"/>
              </a:spcAft>
              <a:buSzPct val="100000"/>
              <a:buChar char="•"/>
            </a:pPr>
            <a:r>
              <a:rPr lang="en-US" sz="1300" dirty="0">
                <a:solidFill>
                  <a:srgbClr val="2D3748"/>
                </a:solidFill>
              </a:rPr>
              <a:t>Pilot: 2 dev resumes × 20 and 50 jobs</a:t>
            </a:r>
            <a:endParaRPr lang="en-US" sz="1300" dirty="0"/>
          </a:p>
        </p:txBody>
      </p:sp>
      <p:sp>
        <p:nvSpPr>
          <p:cNvPr id="25" name="Slide Number Placeholder 0"/>
          <p:cNvSpPr>
            <a:spLocks noGrp="1"/>
          </p:cNvSpPr>
          <p:nvPr>
            <p:ph type="sldNum" sz="quarter" idx="4294967295"/>
          </p:nvPr>
        </p:nvSpPr>
        <p:spPr>
          <a:xfrm>
            <a:off x="548640" y="4800600"/>
            <a:ext cx="9144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1809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theme/theme1.xml><?xml version="1.0" encoding="utf-8"?>
<a:theme xmlns:a="http://schemas.openxmlformats.org/drawingml/2006/main" name="Resume Matcher">
  <a:themeElements>
    <a:clrScheme name="Resume Matcher">
      <a:dk1>
        <a:srgbClr val="14213D"/>
      </a:dk1>
      <a:lt1>
        <a:srgbClr val="FFFFFF"/>
      </a:lt1>
      <a:dk2>
        <a:srgbClr val="2D3748"/>
      </a:dk2>
      <a:lt2>
        <a:srgbClr val="F7F5EF"/>
      </a:lt2>
      <a:accent1>
        <a:srgbClr val="B85C1E"/>
      </a:accent1>
      <a:accent2>
        <a:srgbClr val="2F5D8C"/>
      </a:accent2>
      <a:accent3>
        <a:srgbClr val="E8EEF5"/>
      </a:accent3>
      <a:accent4>
        <a:srgbClr val="F2C79A"/>
      </a:accent4>
      <a:accent5>
        <a:srgbClr val="718096"/>
      </a:accent5>
      <a:accent6>
        <a:srgbClr val="E2DED3"/>
      </a:accent6>
      <a:hlink>
        <a:srgbClr val="2F5D8C"/>
      </a:hlink>
      <a:folHlink>
        <a:srgbClr val="6D4C9C"/>
      </a:folHlink>
    </a:clrScheme>
    <a:fontScheme name="Resume Match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Agent or Many? Progress Update</dc:title>
  <dc:subject>PptxGenJS Presentation</dc:subject>
  <dc:creator>PptxGenJS</dc:creator>
  <cp:lastModifiedBy>PptxGenJS</cp:lastModifiedBy>
  <cp:revision>1</cp:revision>
  <dcterms:created xsi:type="dcterms:W3CDTF">2026-10-06T00:38:22Z</dcterms:created>
  <dcterms:modified xsi:type="dcterms:W3CDTF">2026-10-06T00:38:22Z</dcterms:modified>
</cp:coreProperties>
</file>