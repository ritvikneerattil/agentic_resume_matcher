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2" r:id="rId13"/>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Seconds per completed run</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65.5</c:v>
                </c:pt>
                <c:pt idx="1">
                  <c:v>274.4</c:v>
                </c:pt>
                <c:pt idx="2">
                  <c:v>354.8</c:v>
                </c:pt>
                <c:pt idx="3">
                  <c:v>1200.2</c:v>
                </c:pt>
              </c:numCache>
            </c:numRef>
          </c:val>
        </c:ser>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Tokens per completed run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31.3</c:v>
                </c:pt>
                <c:pt idx="1">
                  <c:v>92.8</c:v>
                </c:pt>
                <c:pt idx="2">
                  <c:v>73.5</c:v>
                </c:pt>
                <c:pt idx="3">
                  <c:v>214.6</c:v>
                </c:pt>
              </c:numCache>
            </c:numRef>
          </c:val>
        </c:ser>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Precision@5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0.433</c:v>
                </c:pt>
                <c:pt idx="1">
                  <c:v>0.317</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0.383</c:v>
                </c:pt>
                <c:pt idx="1">
                  <c:v>0.317</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Median seconds per resume</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13.4</c:v>
                </c:pt>
                <c:pt idx="1">
                  <c:v>33.4</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51.9</c:v>
                </c:pt>
                <c:pt idx="1">
                  <c:v>197.6</c:v>
                </c:pt>
              </c:numCache>
            </c:numRef>
          </c:val>
        </c:ser>
        <c:dLbls>
          <c:numFmt formatCode="0&quot;s&quot;"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Labels: Kevin, Ritvik and Aidan labeled all 400 eval pairs (8 resumes x 50 jobs) by applying the rubric before any matcher output existed; 109 are relevant, and every no has a reason code. The 80-pair second review by the team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sends the cleaned resume, preferences and every job description in one call and gets back five ranked job IDs with explanations. It shares input cleanup, model, output limit, ranking prompt and validation with the orchestrator, so the only difference is the architecture. The local benchmark runs both pipelines on the 2 dev resumes against 20 and 50 jobs (8 runs) and measures tokens and wall-clock time; it doesn't measure accuracy; that's the Precision@5 step using the 400 reference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extractor now selects numbered lines from each posting (at most four per required / preferred / constraints) and the controller restores the exact original text, so nothing gets paraphrased or invented. The ranker gets those references plus the full numbered postings. Local runs have $0 API cost; hardware and electricity aren't measured. Cloud runs would use GPT-4.1 mini at prices recorded Oct 6. In the benchmark both R02 multi-agent runs failed the resume-evidence check, so that validator needs a look. No quality numbers yet; Precision@5 against the reference labels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ran both pipelines locally: 2 dev resumes x 20 and 50 jobs x 2 architectures = 8 runs, 6 completed. Single agent: 65.5s and 31k tokens at 20 jobs, 355s and 74k tokens at 50 jobs. Multi agent: 274s and 93k tokens at 20 jobs, 1,200s and 215k tokens at 50 jobs. On the same resume (R01) multi agent was 4.2x slower at 20 jobs and 4.5x slower at 50. Both R02 multi-agent runs failed: the resume parser returned evidence that wasn't an exact quote, so the validator rejected it. Local runs have $0 API charges; hardware and electricity weren't measured. On R01 with 20 jobs the two pipelines agreed on 2 of their top 5 picks; that's agreement, not accuracy. Small sample, one repetition, model already warm, so treat these as early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resumes, labels done</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resumes and labels are ready</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pairs labeled, 109 relevant (labeled by the team)</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All 400 resume × job pairs labeled with the rubric, by Kevin, Ritvik and Aidan</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second review of 80 pairs</a:t>
            </a:r>
            <a:endParaRPr lang="en-US" sz="1300" dirty="0"/>
          </a:p>
          <a:p>
            <a:pPr marL="152400" indent="-152400">
              <a:spcAft>
                <a:spcPts val="400"/>
              </a:spcAft>
              <a:buSzPct val="100000"/>
              <a:buChar char="•"/>
            </a:pPr>
            <a:r>
              <a:rPr lang="en-US" sz="1300" dirty="0">
                <a:solidFill>
                  <a:srgbClr val="2D3748"/>
                </a:solidFill>
              </a:rPr>
              <a:t>Score both matchers with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Logs tokens, latency and retries for every run</a:t>
            </a:r>
            <a:endParaRPr lang="en-US" sz="1300" dirty="0"/>
          </a:p>
          <a:p>
            <a:pPr marL="152400" indent="-152400">
              <a:spcAft>
                <a:spcPts val="400"/>
              </a:spcAft>
              <a:buSzPct val="100000"/>
              <a:buChar char="•"/>
            </a:pPr>
            <a:r>
              <a:rPr lang="en-US" sz="1300" dirty="0">
                <a:solidFill>
                  <a:srgbClr val="2D3748"/>
                </a:solidFill>
              </a:rPr>
              <a:t>Local benchmark: 65s / 31k tokens at 20 jobs, 355s / 74k at 50 jobs, 4 of 4 runs passed</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Second label review (80 pairs) to confirm the scores</a:t>
            </a:r>
            <a:endParaRPr lang="en-US" sz="1300" dirty="0"/>
          </a:p>
          <a:p>
            <a:pPr marL="152400" indent="-152400">
              <a:spcAft>
                <a:spcPts val="400"/>
              </a:spcAft>
              <a:buSzPct val="100000"/>
              <a:buChar char="•"/>
            </a:pPr>
            <a:r>
              <a:rPr lang="en-US" sz="1300" dirty="0">
                <a:solidFill>
                  <a:srgbClr val="2D3748"/>
                </a:solidFill>
              </a:rPr>
              <a:t>Error analysis on low scorers (R04: 0 of 5 relevant)</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Extractor picks up to 4 key lines per category, quoted straight from the posting</a:t>
            </a:r>
            <a:endParaRPr lang="en-US" sz="1300" dirty="0"/>
          </a:p>
          <a:p>
            <a:pPr marL="152400" indent="-152400">
              <a:spcAft>
                <a:spcPts val="400"/>
              </a:spcAft>
              <a:buSzPct val="100000"/>
              <a:buChar char="•"/>
            </a:pPr>
            <a:r>
              <a:rPr lang="en-US" sz="1300" dirty="0">
                <a:solidFill>
                  <a:srgbClr val="2D3748"/>
                </a:solidFill>
              </a:rPr>
              <a:t>Models set: local Qwen3 4B for benchmarks, GPT-4.1 mini (dated prices) for cloud</a:t>
            </a:r>
            <a:endParaRPr lang="en-US" sz="1300" dirty="0"/>
          </a:p>
          <a:p>
            <a:pPr marL="152400" indent="-152400">
              <a:spcAft>
                <a:spcPts val="400"/>
              </a:spcAft>
              <a:buSzPct val="100000"/>
              <a:buChar char="•"/>
            </a:pPr>
            <a:r>
              <a:rPr lang="en-US" sz="1300" dirty="0">
                <a:solidFill>
                  <a:srgbClr val="2D3748"/>
                </a:solidFill>
              </a:rPr>
              <a:t>Local benchmark: 274s / 93k tokens at 20 jobs, 1,200s / 215k at 50 jobs</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Fixed: resume parser cites line IDs, 0 of 48 eval runs failed</a:t>
            </a:r>
            <a:endParaRPr lang="en-US" sz="1300" dirty="0"/>
          </a:p>
          <a:p>
            <a:pPr marL="152400" indent="-152400">
              <a:spcAft>
                <a:spcPts val="400"/>
              </a:spcAft>
              <a:buSzPct val="100000"/>
              <a:buChar char="•"/>
            </a:pPr>
            <a:r>
              <a:rPr lang="en-US" sz="1300" dirty="0">
                <a:solidFill>
                  <a:srgbClr val="2D3748"/>
                </a:solidFill>
              </a:rPr>
              <a:t>Find out why extra steps did not raise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Local benchmark · 8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2 of 4 multi-agent runs failed the evidence check · top 5 overlapped 2 of 5 jobs on R01 / 20 jobs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Local Qwen3 4B (Ollama) on a Mac · R01–R02, 1 repetition · median of completed runs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(PRECISION@5)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96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no more accurate, 4–6x slower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Multi-agent better on 1 of 8 resumes at 50 jobs, worse on 2 · decision rule (+5 pts, ≤2x cost/time) misses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on a Colab A100 · R03–R10 × 3 reps vs. 400 team labels · multi used 2.8x tokens · 0/96 runs failed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THEY ACTUALLY PICKED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Example top 5s · 50 jobs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Same resume, different picks: it cuts both ways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The pipelines shared 3.2 of 5 picks on average · ✓ = relevant in the team labels, ✗ = not relevant</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Repetition 1 of 3, 50-job workload · R08 has 21 relevant jobs of 50, R05 has 5 · titles shortened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R08 · multi-agent's best case</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 agent: 1/5</a:t>
            </a:r>
          </a:p>
          <a:p>
            <a:pPr>
              <a:spcBef>
                <a:spcPts val="500"/>
              </a:spcBef>
            </a:pPr>
            <a:r>
              <a:rPr sz="1100" b="1">
                <a:solidFill>
                  <a:srgbClr val="2F5D8C"/>
                </a:solidFill>
              </a:rPr>
              <a:t>✓ </a:t>
            </a:r>
            <a:r>
              <a:rPr sz="950" b="0">
                <a:solidFill>
                  <a:srgbClr val="2D3748"/>
                </a:solidFill>
              </a:rPr>
              <a:t>Data Scientist · Revenue Analy…</a:t>
            </a:r>
          </a:p>
          <a:p>
            <a:pPr>
              <a:spcBef>
                <a:spcPts val="500"/>
              </a:spcBef>
            </a:pPr>
            <a:r>
              <a:rPr sz="1100" b="1">
                <a:solidFill>
                  <a:srgbClr val="B85C1E"/>
                </a:solidFill>
              </a:rPr>
              <a:t>✗ </a:t>
            </a:r>
            <a:r>
              <a:rPr sz="950" b="0">
                <a:solidFill>
                  <a:srgbClr val="718096"/>
                </a:solidFill>
              </a:rPr>
              <a:t>Embedded Systems Engineer · Fi…</a:t>
            </a:r>
          </a:p>
          <a:p>
            <a:pPr>
              <a:spcBef>
                <a:spcPts val="500"/>
              </a:spcBef>
            </a:pPr>
            <a:r>
              <a:rPr sz="1100" b="1">
                <a:solidFill>
                  <a:srgbClr val="B85C1E"/>
                </a:solidFill>
              </a:rPr>
              <a:t>✗ </a:t>
            </a:r>
            <a:r>
              <a:rPr sz="950" b="0">
                <a:solidFill>
                  <a:srgbClr val="718096"/>
                </a:solidFill>
              </a:rPr>
              <a:t>AI Resident · Toyota Research…</a:t>
            </a:r>
          </a:p>
          <a:p>
            <a:pPr>
              <a:spcBef>
                <a:spcPts val="500"/>
              </a:spcBef>
            </a:pPr>
            <a:r>
              <a:rPr sz="1100" b="1">
                <a:solidFill>
                  <a:srgbClr val="B85C1E"/>
                </a:solidFill>
              </a:rPr>
              <a:t>✗ </a:t>
            </a:r>
            <a:r>
              <a:rPr sz="950" b="0">
                <a:solidFill>
                  <a:srgbClr val="718096"/>
                </a:solidFill>
              </a:rPr>
              <a:t>Software Engineer 0/1 · Wyetech</a:t>
            </a:r>
          </a:p>
          <a:p>
            <a:pPr>
              <a:spcBef>
                <a:spcPts val="500"/>
              </a:spcBef>
            </a:pPr>
            <a:r>
              <a:rPr sz="1100" b="1">
                <a:solidFill>
                  <a:srgbClr val="B85C1E"/>
                </a:solidFill>
              </a:rPr>
              <a:t>✗ </a:t>
            </a:r>
            <a:r>
              <a:rPr sz="950" b="0">
                <a:solidFill>
                  <a:srgbClr val="718096"/>
                </a:solidFill>
              </a:rPr>
              <a:t>Software Engineer I · True Ano…</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 3/5</a:t>
            </a:r>
          </a:p>
          <a:p>
            <a:pPr>
              <a:spcBef>
                <a:spcPts val="500"/>
              </a:spcBef>
            </a:pPr>
            <a:r>
              <a:rPr sz="1100" b="1">
                <a:solidFill>
                  <a:srgbClr val="B85C1E"/>
                </a:solidFill>
              </a:rPr>
              <a:t>✗ </a:t>
            </a:r>
            <a:r>
              <a:rPr sz="950" b="0">
                <a:solidFill>
                  <a:srgbClr val="718096"/>
                </a:solidFill>
              </a:rPr>
              <a:t>AI Resident · Toyota Research…</a:t>
            </a:r>
          </a:p>
          <a:p>
            <a:pPr>
              <a:spcBef>
                <a:spcPts val="500"/>
              </a:spcBef>
            </a:pPr>
            <a:r>
              <a:rPr sz="1100" b="1">
                <a:solidFill>
                  <a:srgbClr val="2F5D8C"/>
                </a:solidFill>
              </a:rPr>
              <a:t>✓ </a:t>
            </a:r>
            <a:r>
              <a:rPr sz="950" b="0">
                <a:solidFill>
                  <a:srgbClr val="2D3748"/>
                </a:solidFill>
              </a:rPr>
              <a:t>Data Scientist · Revenue Analy…</a:t>
            </a:r>
          </a:p>
          <a:p>
            <a:pPr>
              <a:spcBef>
                <a:spcPts val="500"/>
              </a:spcBef>
            </a:pPr>
            <a:r>
              <a:rPr sz="1100" b="1">
                <a:solidFill>
                  <a:srgbClr val="2F5D8C"/>
                </a:solidFill>
              </a:rPr>
              <a:t>✓ </a:t>
            </a:r>
            <a:r>
              <a:rPr sz="950" b="0">
                <a:solidFill>
                  <a:srgbClr val="2D3748"/>
                </a:solidFill>
              </a:rPr>
              <a:t>Software Engineer · Synergy ECP</a:t>
            </a:r>
          </a:p>
          <a:p>
            <a:pPr>
              <a:spcBef>
                <a:spcPts val="500"/>
              </a:spcBef>
            </a:pPr>
            <a:r>
              <a:rPr sz="1100" b="1">
                <a:solidFill>
                  <a:srgbClr val="2F5D8C"/>
                </a:solidFill>
              </a:rPr>
              <a:t>✓ </a:t>
            </a:r>
            <a:r>
              <a:rPr sz="950" b="0">
                <a:solidFill>
                  <a:srgbClr val="2D3748"/>
                </a:solidFill>
              </a:rPr>
              <a:t>AI Solutions Analyst · WisdomT…</a:t>
            </a:r>
          </a:p>
          <a:p>
            <a:pPr>
              <a:spcBef>
                <a:spcPts val="500"/>
              </a:spcBef>
            </a:pPr>
            <a:r>
              <a:rPr sz="1100" b="1">
                <a:solidFill>
                  <a:srgbClr val="B85C1E"/>
                </a:solidFill>
              </a:rPr>
              <a:t>✗ </a:t>
            </a:r>
            <a:r>
              <a:rPr sz="950" b="0">
                <a:solidFill>
                  <a:srgbClr val="718096"/>
                </a:solidFill>
              </a:rPr>
              <a:t>Associate Software Engineer ·…</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R05 · single agent's best case</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 agent: 2/5</a:t>
            </a:r>
          </a:p>
          <a:p>
            <a:pPr>
              <a:spcBef>
                <a:spcPts val="500"/>
              </a:spcBef>
            </a:pPr>
            <a:r>
              <a:rPr sz="1100" b="1">
                <a:solidFill>
                  <a:srgbClr val="B85C1E"/>
                </a:solidFill>
              </a:rPr>
              <a:t>✗ </a:t>
            </a:r>
            <a:r>
              <a:rPr sz="950" b="0">
                <a:solidFill>
                  <a:srgbClr val="718096"/>
                </a:solidFill>
              </a:rPr>
              <a:t>Junior Data Engineer · Hatch IT</a:t>
            </a:r>
          </a:p>
          <a:p>
            <a:pPr>
              <a:spcBef>
                <a:spcPts val="500"/>
              </a:spcBef>
            </a:pPr>
            <a:r>
              <a:rPr sz="1100" b="1">
                <a:solidFill>
                  <a:srgbClr val="2F5D8C"/>
                </a:solidFill>
              </a:rPr>
              <a:t>✓ </a:t>
            </a:r>
            <a:r>
              <a:rPr sz="950" b="0">
                <a:solidFill>
                  <a:srgbClr val="2D3748"/>
                </a:solidFill>
              </a:rPr>
              <a:t>Software Engineer I · Tebra</a:t>
            </a:r>
          </a:p>
          <a:p>
            <a:pPr>
              <a:spcBef>
                <a:spcPts val="500"/>
              </a:spcBef>
            </a:pPr>
            <a:r>
              <a:rPr sz="1100" b="1">
                <a:solidFill>
                  <a:srgbClr val="B85C1E"/>
                </a:solidFill>
              </a:rPr>
              <a:t>✗ </a:t>
            </a:r>
            <a:r>
              <a:rPr sz="950" b="0">
                <a:solidFill>
                  <a:srgbClr val="718096"/>
                </a:solidFill>
              </a:rPr>
              <a:t>Data and AI Engineer · The Bra…</a:t>
            </a:r>
          </a:p>
          <a:p>
            <a:pPr>
              <a:spcBef>
                <a:spcPts val="500"/>
              </a:spcBef>
            </a:pPr>
            <a:r>
              <a:rPr sz="1100" b="1">
                <a:solidFill>
                  <a:srgbClr val="2F5D8C"/>
                </a:solidFill>
              </a:rPr>
              <a:t>✓ </a:t>
            </a:r>
            <a:r>
              <a:rPr sz="950" b="0">
                <a:solidFill>
                  <a:srgbClr val="2D3748"/>
                </a:solidFill>
              </a:rPr>
              <a:t>Data Developer · Global Lendin…</a:t>
            </a:r>
          </a:p>
          <a:p>
            <a:pPr>
              <a:spcBef>
                <a:spcPts val="500"/>
              </a:spcBef>
            </a:pPr>
            <a:r>
              <a:rPr sz="1100" b="1">
                <a:solidFill>
                  <a:srgbClr val="B85C1E"/>
                </a:solidFill>
              </a:rPr>
              <a:t>✗ </a:t>
            </a:r>
            <a:r>
              <a:rPr sz="950" b="0">
                <a:solidFill>
                  <a:srgbClr val="718096"/>
                </a:solidFill>
              </a:rPr>
              <a:t>Associate Software Engineer ·…</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 0/5</a:t>
            </a:r>
          </a:p>
          <a:p>
            <a:pPr>
              <a:spcBef>
                <a:spcPts val="500"/>
              </a:spcBef>
            </a:pPr>
            <a:r>
              <a:rPr sz="1100" b="1">
                <a:solidFill>
                  <a:srgbClr val="B85C1E"/>
                </a:solidFill>
              </a:rPr>
              <a:t>✗ </a:t>
            </a:r>
            <a:r>
              <a:rPr sz="950" b="0">
                <a:solidFill>
                  <a:srgbClr val="718096"/>
                </a:solidFill>
              </a:rPr>
              <a:t>Junior Data Engineer · Hatch IT</a:t>
            </a:r>
          </a:p>
          <a:p>
            <a:pPr>
              <a:spcBef>
                <a:spcPts val="500"/>
              </a:spcBef>
            </a:pPr>
            <a:r>
              <a:rPr sz="1100" b="1">
                <a:solidFill>
                  <a:srgbClr val="B85C1E"/>
                </a:solidFill>
              </a:rPr>
              <a:t>✗ </a:t>
            </a:r>
            <a:r>
              <a:rPr sz="950" b="0">
                <a:solidFill>
                  <a:srgbClr val="718096"/>
                </a:solidFill>
              </a:rPr>
              <a:t>Software Engineer · Kikoff</a:t>
            </a:r>
          </a:p>
          <a:p>
            <a:pPr>
              <a:spcBef>
                <a:spcPts val="500"/>
              </a:spcBef>
            </a:pPr>
            <a:r>
              <a:rPr sz="1100" b="1">
                <a:solidFill>
                  <a:srgbClr val="B85C1E"/>
                </a:solidFill>
              </a:rPr>
              <a:t>✗ </a:t>
            </a:r>
            <a:r>
              <a:rPr sz="950" b="0">
                <a:solidFill>
                  <a:srgbClr val="718096"/>
                </a:solidFill>
              </a:rPr>
              <a:t>Data and AI Engineer · The Bra…</a:t>
            </a:r>
          </a:p>
          <a:p>
            <a:pPr>
              <a:spcBef>
                <a:spcPts val="500"/>
              </a:spcBef>
            </a:pPr>
            <a:r>
              <a:rPr sz="1100" b="1">
                <a:solidFill>
                  <a:srgbClr val="B85C1E"/>
                </a:solidFill>
              </a:rPr>
              <a:t>✗ </a:t>
            </a:r>
            <a:r>
              <a:rPr sz="950" b="0">
                <a:solidFill>
                  <a:srgbClr val="718096"/>
                </a:solidFill>
              </a:rPr>
              <a:t>Associate Software Engineer ·…</a:t>
            </a:r>
          </a:p>
          <a:p>
            <a:pPr>
              <a:spcBef>
                <a:spcPts val="500"/>
              </a:spcBef>
            </a:pPr>
            <a:r>
              <a:rPr sz="1100" b="1">
                <a:solidFill>
                  <a:srgbClr val="B85C1E"/>
                </a:solidFill>
              </a:rPr>
              <a:t>✗ </a:t>
            </a:r>
            <a:r>
              <a:rPr sz="950" b="0">
                <a:solidFill>
                  <a:srgbClr val="718096"/>
                </a:solidFill>
              </a:rPr>
              <a:t>Associate AI Engineer · AHEAD</a:t>
            </a:r>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