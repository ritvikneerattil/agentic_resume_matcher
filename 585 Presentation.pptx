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871b5066f_4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871b5066f_4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871b5066f_4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871b5066f_4_2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f871b5066f_4_2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f871b5066f_4_2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871b5066f_4_5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871b5066f_4_5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f871b5066f_4_5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871b5066f_4_7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f871b5066f_4_7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f871b5066f_4_7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/>
        </p:nvSpPr>
        <p:spPr>
          <a:xfrm>
            <a:off x="480060" y="4800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CFE8E0"/>
                </a:solidFill>
                <a:latin typeface="Calibri"/>
                <a:ea typeface="Calibri"/>
                <a:cs typeface="Calibri"/>
                <a:sym typeface="Calibri"/>
              </a:rPr>
              <a:t>PROJECT IDEA  ·  CSCE 585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 txBox="1"/>
          <p:nvPr/>
        </p:nvSpPr>
        <p:spPr>
          <a:xfrm>
            <a:off x="480060" y="1165860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mbria"/>
              <a:buNone/>
            </a:pPr>
            <a:r>
              <a:rPr b="1" i="0" lang="en" sz="3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One Agent or Many?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 txBox="1"/>
          <p:nvPr/>
        </p:nvSpPr>
        <p:spPr>
          <a:xfrm>
            <a:off x="480060" y="1748790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0"/>
              </a:buClr>
              <a:buSzPts val="1800"/>
              <a:buFont typeface="Cambria"/>
              <a:buNone/>
            </a:pPr>
            <a:r>
              <a:rPr b="0" i="1" lang="en" sz="1800" u="none" cap="none" strike="noStrike">
                <a:solidFill>
                  <a:srgbClr val="CFE8E0"/>
                </a:solidFill>
                <a:latin typeface="Cambria"/>
                <a:ea typeface="Cambria"/>
                <a:cs typeface="Cambria"/>
                <a:sym typeface="Cambria"/>
              </a:rPr>
              <a:t>Orchestrated vs. Single-Agent Resume-to-Job Matching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80060" y="2434590"/>
            <a:ext cx="7886700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480060" y="2606040"/>
            <a:ext cx="2057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1" i="0" lang="en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 txBox="1"/>
          <p:nvPr/>
        </p:nvSpPr>
        <p:spPr>
          <a:xfrm>
            <a:off x="480060" y="3132450"/>
            <a:ext cx="47319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7F6"/>
              </a:buClr>
              <a:buSzPts val="1100"/>
              <a:buFont typeface="Calibri"/>
              <a:buNone/>
            </a:pPr>
            <a:r>
              <a:rPr lang="en" sz="1200">
                <a:solidFill>
                  <a:srgbClr val="F4F7F6"/>
                </a:solidFill>
                <a:latin typeface="Calibri"/>
                <a:ea typeface="Calibri"/>
                <a:cs typeface="Calibri"/>
                <a:sym typeface="Calibri"/>
              </a:rPr>
              <a:t>Aidan</a:t>
            </a:r>
            <a:r>
              <a:rPr b="0" i="0" lang="en" sz="1200" u="none" cap="none" strike="noStrike">
                <a:solidFill>
                  <a:srgbClr val="F4F7F6"/>
                </a:solidFill>
                <a:latin typeface="Calibri"/>
                <a:ea typeface="Calibri"/>
                <a:cs typeface="Calibri"/>
                <a:sym typeface="Calibri"/>
              </a:rPr>
              <a:t> — Single-Agent Pipeline &amp; Baseline</a:t>
            </a:r>
            <a:br>
              <a:rPr b="0" i="0" lang="en" sz="1200" u="none" cap="none" strike="noStrike">
                <a:solidFill>
                  <a:srgbClr val="F4F7F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7F6"/>
              </a:buClr>
              <a:buSzPts val="1100"/>
              <a:buFont typeface="Calibri"/>
              <a:buNone/>
            </a:pPr>
            <a:r>
              <a:rPr lang="en" sz="1200">
                <a:solidFill>
                  <a:srgbClr val="F4F7F6"/>
                </a:solidFill>
                <a:latin typeface="Calibri"/>
                <a:ea typeface="Calibri"/>
                <a:cs typeface="Calibri"/>
                <a:sym typeface="Calibri"/>
              </a:rPr>
              <a:t>Kevin Do </a:t>
            </a:r>
            <a:r>
              <a:rPr b="0" i="0" lang="en" sz="1200" u="none" cap="none" strike="noStrike">
                <a:solidFill>
                  <a:srgbClr val="F4F7F6"/>
                </a:solidFill>
                <a:latin typeface="Calibri"/>
                <a:ea typeface="Calibri"/>
                <a:cs typeface="Calibri"/>
                <a:sym typeface="Calibri"/>
              </a:rPr>
              <a:t>— Orchestration &amp; Agent Design</a:t>
            </a:r>
            <a:br>
              <a:rPr b="0" i="0" lang="en" sz="1200" u="none" cap="none" strike="noStrike">
                <a:solidFill>
                  <a:srgbClr val="F4F7F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7F6"/>
              </a:buClr>
              <a:buSzPts val="1100"/>
              <a:buFont typeface="Calibri"/>
              <a:buNone/>
            </a:pPr>
            <a:r>
              <a:rPr lang="en" sz="1200">
                <a:solidFill>
                  <a:srgbClr val="F4F7F6"/>
                </a:solidFill>
                <a:latin typeface="Calibri"/>
                <a:ea typeface="Calibri"/>
                <a:cs typeface="Calibri"/>
                <a:sym typeface="Calibri"/>
              </a:rPr>
              <a:t>Ritvik </a:t>
            </a:r>
            <a:r>
              <a:rPr b="0" i="0" lang="en" sz="1200" u="none" cap="none" strike="noStrike">
                <a:solidFill>
                  <a:srgbClr val="F4F7F6"/>
                </a:solidFill>
                <a:latin typeface="Calibri"/>
                <a:ea typeface="Calibri"/>
                <a:cs typeface="Calibri"/>
                <a:sym typeface="Calibri"/>
              </a:rPr>
              <a:t>— Evaluation Harness &amp; Data Labeling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4819249" y="2866649"/>
            <a:ext cx="3547500" cy="1246500"/>
          </a:xfrm>
          <a:prstGeom prst="roundRect">
            <a:avLst>
              <a:gd fmla="val 666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/>
        </p:nvSpPr>
        <p:spPr>
          <a:xfrm>
            <a:off x="4937745" y="3038109"/>
            <a:ext cx="288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0"/>
              </a:buClr>
              <a:buSzPts val="900"/>
              <a:buFont typeface="Calibri"/>
              <a:buNone/>
            </a:pPr>
            <a:r>
              <a:rPr b="1" i="0" lang="en" sz="1200" u="none" cap="none" strike="noStrike">
                <a:solidFill>
                  <a:srgbClr val="CFE8E0"/>
                </a:solidFill>
                <a:latin typeface="Calibri"/>
                <a:ea typeface="Calibri"/>
                <a:cs typeface="Calibri"/>
                <a:sym typeface="Calibri"/>
              </a:rPr>
              <a:t>Why 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4940300" y="3238925"/>
            <a:ext cx="33054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We'</a:t>
            </a: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all been navigating the new-grad job search, so we have direct access to real resumes and postings to test against.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480060" y="34290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480060" y="582930"/>
            <a:ext cx="816102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One LLM call to do it all, or a team of specialists?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480060" y="1337310"/>
            <a:ext cx="452628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Matching a resume to the best jobs in a large database isn't one task — it's three: </a:t>
            </a:r>
            <a:r>
              <a:rPr b="1" i="0" lang="en" sz="11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extracting the candidate's skills, extracting each posting's requirements, and scoring fit between the two.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480060" y="2228850"/>
            <a:ext cx="452628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A single agent asked to do all three at once may perform worse or less consistently than a pipeline of specialized agents — but that orchestration adds LLM calls, latency, and cost.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80060" y="3188970"/>
            <a:ext cx="4526280" cy="1268730"/>
          </a:xfrm>
          <a:prstGeom prst="roundRect">
            <a:avLst>
              <a:gd fmla="val 5405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651510" y="3305556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800"/>
              <a:buFont typeface="Calibri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CENTRAL QUESTION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651510" y="3511296"/>
            <a:ext cx="418338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0" i="1" lang="en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Does splitting resume-job matching across multiple specialized agents improve match accuracy enough to justify the added latency and cost of orchestration?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5314950" y="1337310"/>
            <a:ext cx="3326130" cy="106299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DE3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5486400" y="1440180"/>
            <a:ext cx="29832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SINGLE AGENT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486400" y="1714500"/>
            <a:ext cx="2983230" cy="514350"/>
          </a:xfrm>
          <a:prstGeom prst="roundRect">
            <a:avLst>
              <a:gd fmla="val 8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5589270" y="1769364"/>
            <a:ext cx="277749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LLM 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 + all postings → ranked matches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5314950" y="2571750"/>
            <a:ext cx="3326130" cy="1885950"/>
          </a:xfrm>
          <a:prstGeom prst="roundRect">
            <a:avLst>
              <a:gd fmla="val 2909" name="adj"/>
            </a:avLst>
          </a:prstGeom>
          <a:solidFill>
            <a:srgbClr val="FFFFFF"/>
          </a:solidFill>
          <a:ln cap="flat" cmpd="sng" w="12700">
            <a:solidFill>
              <a:srgbClr val="DDE3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5486400" y="2674620"/>
            <a:ext cx="29832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ORCHESTRATOR + WORKERS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6275070" y="2914650"/>
            <a:ext cx="1405890" cy="342900"/>
          </a:xfrm>
          <a:prstGeom prst="roundRect">
            <a:avLst>
              <a:gd fmla="val 1200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6275070" y="2914650"/>
            <a:ext cx="14058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Orchestrator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 flipH="1">
            <a:off x="5897880" y="3257550"/>
            <a:ext cx="1062990" cy="274320"/>
          </a:xfrm>
          <a:prstGeom prst="straightConnector1">
            <a:avLst/>
          </a:prstGeom>
          <a:noFill/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16"/>
          <p:cNvSpPr/>
          <p:nvPr/>
        </p:nvSpPr>
        <p:spPr>
          <a:xfrm>
            <a:off x="5417820" y="3531870"/>
            <a:ext cx="960120" cy="617220"/>
          </a:xfrm>
          <a:prstGeom prst="roundRect">
            <a:avLst>
              <a:gd fmla="val 666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5417820" y="3531870"/>
            <a:ext cx="96012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16"/>
          <p:cNvCxnSpPr/>
          <p:nvPr/>
        </p:nvCxnSpPr>
        <p:spPr>
          <a:xfrm>
            <a:off x="6960870" y="325755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6"/>
          <p:cNvSpPr/>
          <p:nvPr/>
        </p:nvSpPr>
        <p:spPr>
          <a:xfrm>
            <a:off x="6480810" y="3531870"/>
            <a:ext cx="960120" cy="617220"/>
          </a:xfrm>
          <a:prstGeom prst="roundRect">
            <a:avLst>
              <a:gd fmla="val 666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6480810" y="3531870"/>
            <a:ext cx="96012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>
            <a:off x="6960870" y="3257550"/>
            <a:ext cx="1062990" cy="274320"/>
          </a:xfrm>
          <a:prstGeom prst="straightConnector1">
            <a:avLst/>
          </a:prstGeom>
          <a:noFill/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6"/>
          <p:cNvSpPr/>
          <p:nvPr/>
        </p:nvSpPr>
        <p:spPr>
          <a:xfrm>
            <a:off x="7543800" y="3531870"/>
            <a:ext cx="960120" cy="617220"/>
          </a:xfrm>
          <a:prstGeom prst="roundRect">
            <a:avLst>
              <a:gd fmla="val 666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7543800" y="3531870"/>
            <a:ext cx="96012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Scoring &amp;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/>
        </p:nvSpPr>
        <p:spPr>
          <a:xfrm>
            <a:off x="480060" y="34290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480060" y="582930"/>
            <a:ext cx="816102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Two architectures, one shared harness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480060" y="1131570"/>
            <a:ext cx="81610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Both matchers run over the same resumes and the same job database, so the only variable is architecture.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480060" y="1577340"/>
            <a:ext cx="3909060" cy="1748790"/>
          </a:xfrm>
          <a:prstGeom prst="roundRect">
            <a:avLst>
              <a:gd fmla="val 3922" name="adj"/>
            </a:avLst>
          </a:prstGeom>
          <a:solidFill>
            <a:srgbClr val="FFFFFF"/>
          </a:solidFill>
          <a:ln cap="flat" cmpd="sng" w="12700">
            <a:solidFill>
              <a:srgbClr val="DDE3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685800" y="1783080"/>
            <a:ext cx="1165860" cy="274320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685800" y="1783080"/>
            <a:ext cx="1165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685800" y="2160270"/>
            <a:ext cx="34975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mbria"/>
              <a:buNone/>
            </a:pPr>
            <a:r>
              <a:rPr b="1" i="0" lang="en" sz="14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Single-Agent Matcher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685800" y="2468880"/>
            <a:ext cx="349758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One LLM call per resume takes the full job database (or top-k retrieved candidates) as context and returns ranked matches directly </a:t>
            </a:r>
            <a:r>
              <a:rPr lang="en" sz="100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involving </a:t>
            </a:r>
            <a:r>
              <a:rPr b="0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 no intermediate steps.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732020" y="1577340"/>
            <a:ext cx="3909060" cy="1748790"/>
          </a:xfrm>
          <a:prstGeom prst="roundRect">
            <a:avLst>
              <a:gd fmla="val 3922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4937760" y="1783080"/>
            <a:ext cx="1303020" cy="274320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4937760" y="1783080"/>
            <a:ext cx="13030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8E0"/>
              </a:buClr>
              <a:buSzPts val="800"/>
              <a:buFont typeface="Calibri"/>
              <a:buNone/>
            </a:pPr>
            <a:r>
              <a:rPr b="1" lang="en" sz="1200">
                <a:solidFill>
                  <a:srgbClr val="CFE8E0"/>
                </a:solidFill>
                <a:latin typeface="Calibri"/>
                <a:ea typeface="Calibri"/>
                <a:cs typeface="Calibri"/>
                <a:sym typeface="Calibri"/>
              </a:rPr>
              <a:t>Alternate 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4937760" y="2160270"/>
            <a:ext cx="34975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Orchestrator-Worker Matcher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4937760" y="2468880"/>
            <a:ext cx="349758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8E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FE8E0"/>
                </a:solidFill>
                <a:latin typeface="Calibri"/>
                <a:ea typeface="Calibri"/>
                <a:cs typeface="Calibri"/>
                <a:sym typeface="Calibri"/>
              </a:rPr>
              <a:t>An orchestrator delegates to a resume-parsing agent, a job-requirement agent, and a scoring/ranking agent, then combines their outputs into a ranked list.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80060" y="3531870"/>
            <a:ext cx="2626614" cy="106299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DE3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617220" y="3634740"/>
            <a:ext cx="235229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REUSED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617220" y="3861054"/>
            <a:ext cx="235229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LLM API (or small local model) + an off-the-shelf orchestration framework (e.g. </a:t>
            </a:r>
            <a:r>
              <a:rPr lang="en" sz="90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Google ADK</a:t>
            </a: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); a public or scraped job-listings dataset.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3278124" y="3531870"/>
            <a:ext cx="2626614" cy="106299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DE3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3415284" y="3634740"/>
            <a:ext cx="235229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TEAM'S CONTRIBUTION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3415296" y="3840479"/>
            <a:ext cx="2352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The single-agent baseline, the orchestration pipeline and agent prompts, and the harness that runs both over identical inputs for comparison.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6076188" y="3531870"/>
            <a:ext cx="2626614" cy="106299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DE3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6213348" y="3634740"/>
            <a:ext cx="235229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6213348" y="3861054"/>
            <a:ext cx="235229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Resume rewriting</a:t>
            </a:r>
            <a:r>
              <a:rPr lang="en" sz="90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actually applying to jobs</a:t>
            </a:r>
            <a:r>
              <a:rPr lang="en" sz="90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480060" y="34290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480060" y="582930"/>
            <a:ext cx="816102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Accuracy vs. the cost of getting there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480060" y="1303020"/>
            <a:ext cx="445770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Research questions:  </a:t>
            </a:r>
            <a:r>
              <a:rPr b="0" i="0" lang="en" sz="11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Does the multi-agent architecture produce more accurate matches, and how much latency/cost does that gain cost?</a:t>
            </a:r>
            <a:br>
              <a:rPr b="0" i="0" lang="en" sz="11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11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Independent variables:  </a:t>
            </a:r>
            <a:r>
              <a:rPr b="0" i="0" lang="en" sz="11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architecture (single-agent vs. orchestrator), job-database size (small vs. large), resume complexity.</a:t>
            </a:r>
            <a:br>
              <a:rPr b="0" i="0" lang="en" sz="11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11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Baseline:  </a:t>
            </a:r>
            <a:r>
              <a:rPr b="0" i="0" lang="en" sz="11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single-agent end-to-end matcher.</a:t>
            </a:r>
            <a:br>
              <a:rPr b="0" i="0" lang="en" sz="11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11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Rigor:  </a:t>
            </a:r>
            <a:r>
              <a:rPr b="0" i="0" lang="en" sz="11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each resume run through both architectures multiple times to capture LLM run-to-run variance; report variance, not single-run numbers.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5212080" y="1303020"/>
            <a:ext cx="3429000" cy="1611630"/>
          </a:xfrm>
          <a:prstGeom prst="roundRect">
            <a:avLst>
              <a:gd fmla="val 4255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5417820" y="1426464"/>
            <a:ext cx="301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800"/>
              <a:buFont typeface="Calibri"/>
              <a:buNone/>
            </a:pPr>
            <a:r>
              <a:rPr b="1" i="0" lang="en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5417820" y="1680210"/>
            <a:ext cx="301752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Match accuracy / precision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Latency per resume processed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Token cost per resume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Throughput (resumes / minute)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5212080" y="3017520"/>
            <a:ext cx="3429000" cy="144018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DDE3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5417820" y="3140964"/>
            <a:ext cx="30175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800"/>
              <a:buFont typeface="Calibri"/>
              <a:buNone/>
            </a:pPr>
            <a:r>
              <a:rPr b="1" i="0" lang="en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WORKLOADS &amp; EVIDENCE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5417820" y="3374136"/>
            <a:ext cx="301752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Real resumes (team</a:t>
            </a:r>
            <a:r>
              <a:rPr lang="en" sz="90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anonymized) matched against scraped new-grad postings, with human-labeled ground-truth matches. </a:t>
            </a:r>
            <a:r>
              <a:rPr b="1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 table of accuracy/latency/cost per architecture per database-size condition, plus example resumes where orchestration catches a match the single agent misses.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