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12"/>
    <p:sldId id="264" r:id="rId15"/>
    <p:sldId id="262" r:id="rId13"/>
    <p:sldId id="263" r:id="rId14"/>
  </p:sldIdLst>
  <p:notesMasterIdLst>
    <p:notesMasterId r:id="rId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fc9c66c6-658e-dcf3-2991-d085cadbce8a}">
          <p14:sldIdLst>
            <p14:sldId id="256"/>
          </p14:sldIdLst>
        </p14:section>
        <p14:section name="Progress" id="{9d883d13-2848-e685-c1ae-1f6a632c0069}">
          <p14:sldIdLst>
            <p14:sldId id="257"/>
            <p14:sldId id="258"/>
            <p14:sldId id="259"/>
          </p14:sldIdLst>
        </p14:section>
        <p14:section name="Results" id="{a4225a8b-24fc-cca3-683c-d76ebfa2725b}">
          <p14:sldIdLst>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openxmlformats.org/officeDocument/2006/relationships/slide" Target="slides/slide6.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213D"/>
                </a:solidFill>
                <a:latin typeface="+mn-lt"/>
              </a:defRPr>
            </a:pPr>
            <a:r>
              <a:rPr sz="1300" b="0" i="0" u="none" strike="noStrike">
                <a:solidFill>
                  <a:srgbClr val="14213D"/>
                </a:solidFill>
                <a:latin typeface="+mn-lt"/>
              </a:rPr>
              <a:t>Median seconds per resume</a:t>
            </a:r>
          </a:p>
        </c:rich>
      </c:tx>
      <c:layout/>
      <c:overlay val="0"/>
    </c:title>
    <c:autoTitleDeleted val="0"/>
    <c:plotArea>
      <c:layout/>
      <c:barChart>
        <c:barDir val="col"/>
        <c:grouping val="clustered"/>
        <c:varyColors val="0"/>
        <c:ser>
          <c:idx val="0"/>
          <c:order val="0"/>
          <c:tx>
            <c:strRef>
              <c:f>Sheet1!$B$1</c:f>
              <c:strCache>
                <c:ptCount val="1"/>
                <c:pt idx="0">
                  <c:v>Seconds</c:v>
                </c:pt>
              </c:strCache>
            </c:strRef>
          </c:tx>
          <c:spPr>
            <a:solidFill>
              <a:srgbClr val="2A64A8"/>
            </a:solidFill>
            <a:effectLst/>
          </c:spPr>
          <c:invertIfNegative val="0"/>
          <c:dLbls>
            <c:numFmt formatCode="0.0&quot;s&quot;" sourceLinked="0"/>
            <c:txPr>
              <a:bodyPr/>
              <a:lstStyle/>
              <a:p>
                <a:pPr>
                  <a:defRPr b="1" i="0" strike="noStrike" sz="900" u="none">
                    <a:solidFill>
                      <a:srgbClr val="14213D"/>
                    </a:solidFill>
                    <a:latin typeface="+mn-lt"/>
                  </a:defRPr>
                </a:pPr>
              </a:p>
            </c:txPr>
            <c:showLegendKey val="0"/>
            <c:showVal val="1"/>
            <c:showCatName val="0"/>
            <c:showSerName val="0"/>
            <c:showPercent val="0"/>
            <c:showBubbleSize val="0"/>
            <c:showLeaderLines val="0"/>
          </c:dLbls>
          <c:dPt>
            <c:idx val="0"/>
            <c:invertIfNegative val="0"/>
            <c:bubble3D val="0"/>
            <c:spPr>
              <a:solidFill>
                <a:srgbClr val="2A64A8"/>
              </a:solidFill>
              <a:effectLst/>
            </c:spPr>
          </c:dPt>
          <c:dPt>
            <c:idx val="1"/>
            <c:invertIfNegative val="0"/>
            <c:bubble3D val="0"/>
            <c:spPr>
              <a:solidFill>
                <a:srgbClr val="B85C1E"/>
              </a:solidFill>
              <a:effectLst/>
            </c:spPr>
          </c:dPt>
          <c:dPt>
            <c:idx val="2"/>
            <c:invertIfNegative val="0"/>
            <c:bubble3D val="0"/>
            <c:spPr>
              <a:solidFill>
                <a:srgbClr val="2A64A8"/>
              </a:solidFill>
              <a:effectLst/>
            </c:spPr>
          </c:dPt>
          <c:dPt>
            <c:idx val="3"/>
            <c:invertIfNegative val="0"/>
            <c:bubble3D val="0"/>
            <c:spPr>
              <a:solidFill>
                <a:srgbClr val="B85C1E"/>
              </a:solidFill>
              <a:effectLst/>
            </c:spPr>
          </c:dPt>
          <c:cat>
            <c:strRef>
              <c:f>Sheet1!$A$2:$A$5</c:f>
              <c:strCache>
                <c:ptCount val="4"/>
                <c:pt idx="0">
                  <c:v>4B Single</c:v>
                </c:pt>
                <c:pt idx="1">
                  <c:v>4B Multi</c:v>
                </c:pt>
                <c:pt idx="2">
                  <c:v>14B Single</c:v>
                </c:pt>
                <c:pt idx="3">
                  <c:v>14B Multi</c:v>
                </c:pt>
              </c:strCache>
            </c:strRef>
          </c:cat>
          <c:val>
            <c:numRef>
              <c:f>Sheet1!$B$2:$B$5</c:f>
              <c:numCache>
                <c:formatCode>General</c:formatCode>
                <c:ptCount val="4"/>
                <c:pt idx="0">
                  <c:v>5.5</c:v>
                </c:pt>
                <c:pt idx="1">
                  <c:v>20.9</c:v>
                </c:pt>
                <c:pt idx="2">
                  <c:v>10.6</c:v>
                </c:pt>
                <c:pt idx="3">
                  <c:v>40.8</c:v>
                </c:pt>
              </c:numCache>
            </c:numRef>
          </c:val>
        </c:ser>
        <c:dLbls>
          <c:numFmt formatCode="0.0&quot;s&quot;" sourceLinked="0"/>
          <c:txPr>
            <a:bodyPr/>
            <a:lstStyle/>
            <a:p>
              <a:pPr>
                <a:defRPr b="0" i="0" strike="noStrike" sz="1100" u="none">
                  <a:solidFill>
                    <a:srgbClr val="1421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213D"/>
                </a:solidFill>
                <a:latin typeface="+mn-lt"/>
              </a:defRPr>
            </a:pPr>
            <a:r>
              <a:rPr sz="1300" b="0" i="0" u="none" strike="noStrike">
                <a:solidFill>
                  <a:srgbClr val="14213D"/>
                </a:solidFill>
                <a:latin typeface="+mn-lt"/>
              </a:rPr>
              <a:t>Median tokens per resume (thousands)</a:t>
            </a:r>
          </a:p>
        </c:rich>
      </c:tx>
      <c:layout/>
      <c:overlay val="0"/>
    </c:title>
    <c:autoTitleDeleted val="0"/>
    <c:plotArea>
      <c:layout/>
      <c:barChart>
        <c:barDir val="col"/>
        <c:grouping val="clustered"/>
        <c:varyColors val="0"/>
        <c:ser>
          <c:idx val="0"/>
          <c:order val="0"/>
          <c:tx>
            <c:strRef>
              <c:f>Sheet1!$B$1</c:f>
              <c:strCache>
                <c:ptCount val="1"/>
                <c:pt idx="0">
                  <c:v>Tokens</c:v>
                </c:pt>
              </c:strCache>
            </c:strRef>
          </c:tx>
          <c:spPr>
            <a:solidFill>
              <a:srgbClr val="2A64A8"/>
            </a:solidFill>
            <a:effectLst/>
          </c:spPr>
          <c:invertIfNegative val="0"/>
          <c:dLbls>
            <c:numFmt formatCode="0.0&quot;k&quot;" sourceLinked="0"/>
            <c:txPr>
              <a:bodyPr/>
              <a:lstStyle/>
              <a:p>
                <a:pPr>
                  <a:defRPr b="1" i="0" strike="noStrike" sz="900" u="none">
                    <a:solidFill>
                      <a:srgbClr val="14213D"/>
                    </a:solidFill>
                    <a:latin typeface="+mn-lt"/>
                  </a:defRPr>
                </a:pPr>
              </a:p>
            </c:txPr>
            <c:showLegendKey val="0"/>
            <c:showVal val="1"/>
            <c:showCatName val="0"/>
            <c:showSerName val="0"/>
            <c:showPercent val="0"/>
            <c:showBubbleSize val="0"/>
            <c:showLeaderLines val="0"/>
          </c:dLbls>
          <c:dPt>
            <c:idx val="0"/>
            <c:invertIfNegative val="0"/>
            <c:bubble3D val="0"/>
            <c:spPr>
              <a:solidFill>
                <a:srgbClr val="2A64A8"/>
              </a:solidFill>
              <a:effectLst/>
            </c:spPr>
          </c:dPt>
          <c:dPt>
            <c:idx val="1"/>
            <c:invertIfNegative val="0"/>
            <c:bubble3D val="0"/>
            <c:spPr>
              <a:solidFill>
                <a:srgbClr val="B85C1E"/>
              </a:solidFill>
              <a:effectLst/>
            </c:spPr>
          </c:dPt>
          <c:dPt>
            <c:idx val="2"/>
            <c:invertIfNegative val="0"/>
            <c:bubble3D val="0"/>
            <c:spPr>
              <a:solidFill>
                <a:srgbClr val="2A64A8"/>
              </a:solidFill>
              <a:effectLst/>
            </c:spPr>
          </c:dPt>
          <c:dPt>
            <c:idx val="3"/>
            <c:invertIfNegative val="0"/>
            <c:bubble3D val="0"/>
            <c:spPr>
              <a:solidFill>
                <a:srgbClr val="B85C1E"/>
              </a:solidFill>
              <a:effectLst/>
            </c:spPr>
          </c:dPt>
          <c:cat>
            <c:strRef>
              <c:f>Sheet1!$A$2:$A$5</c:f>
              <c:strCache>
                <c:ptCount val="4"/>
                <c:pt idx="0">
                  <c:v>4B Single</c:v>
                </c:pt>
                <c:pt idx="1">
                  <c:v>4B Multi</c:v>
                </c:pt>
                <c:pt idx="2">
                  <c:v>14B Single</c:v>
                </c:pt>
                <c:pt idx="3">
                  <c:v>14B Multi</c:v>
                </c:pt>
              </c:strCache>
            </c:strRef>
          </c:cat>
          <c:val>
            <c:numRef>
              <c:f>Sheet1!$B$2:$B$5</c:f>
              <c:numCache>
                <c:formatCode>General</c:formatCode>
                <c:ptCount val="4"/>
                <c:pt idx="0">
                  <c:v>9.9</c:v>
                </c:pt>
                <c:pt idx="1">
                  <c:v>32.2</c:v>
                </c:pt>
                <c:pt idx="2">
                  <c:v>9.9</c:v>
                </c:pt>
                <c:pt idx="3">
                  <c:v>32.0</c:v>
                </c:pt>
              </c:numCache>
            </c:numRef>
          </c:val>
        </c:ser>
        <c:dLbls>
          <c:numFmt formatCode="0.0&quot;k&quot;" sourceLinked="0"/>
          <c:txPr>
            <a:bodyPr/>
            <a:lstStyle/>
            <a:p>
              <a:pPr>
                <a:defRPr b="0" i="0" strike="noStrike" sz="1100" u="none">
                  <a:solidFill>
                    <a:srgbClr val="1421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solidFill>
                  <a:srgbClr val="14213D"/>
                </a:solidFill>
              </a:rPr>
              <a:t>Accuracy, 14B (higher is better)</a:t>
            </a:r>
          </a:p>
        </c:rich>
      </c:tx>
      <c:layout/>
      <c:overlay val="0"/>
    </c:title>
    <c:autoTitleDeleted val="0"/>
    <c:plotArea>
      <c:barChart>
        <c:barDir val="col"/>
        <c:grouping val="clustered"/>
        <c:ser>
          <c:idx val="0"/>
          <c:order val="0"/>
          <c:tx>
            <c:strRef>
              <c:f>Sheet1!$B$1</c:f>
              <c:strCache>
                <c:ptCount val="1"/>
                <c:pt idx="0">
                  <c:v>Single agent</c:v>
                </c:pt>
              </c:strCache>
            </c:strRef>
          </c:tx>
          <c:spPr>
            <a:solidFill>
              <a:srgbClr val="2F5D8C"/>
            </a:solidFill>
          </c:spPr>
          <c:dLbls>
            <c:numFmt formatCode="0.00" sourceLinked="0"/>
            <c:txPr>
              <a:bodyPr/>
              <a:lstStyle/>
              <a:p>
                <a:pPr>
                  <a:defRPr sz="900" b="1"/>
                </a:pPr>
              </a:p>
            </c:txPr>
            <c:showLegendKey val="0"/>
            <c:showVal val="1"/>
            <c:showCatName val="0"/>
            <c:showSerName val="0"/>
            <c:showPercent val="0"/>
            <c:showBubbleSize val="0"/>
            <c:showLeaderLines val="1"/>
          </c:dLbls>
          <c:cat>
            <c:strRef>
              <c:f>Sheet1!$A$2:$A$4</c:f>
              <c:strCache>
                <c:ptCount val="3"/>
                <c:pt idx="0">
                  <c:v>nDCG@5</c:v>
                </c:pt>
                <c:pt idx="1">
                  <c:v>Precision@5</c:v>
                </c:pt>
                <c:pt idx="2">
                  <c:v>Top-1 hit</c:v>
                </c:pt>
              </c:strCache>
            </c:strRef>
          </c:cat>
          <c:val>
            <c:numRef>
              <c:f>Sheet1!$B$2:$B$4</c:f>
              <c:numCache>
                <c:formatCode>General</c:formatCode>
                <c:ptCount val="3"/>
                <c:pt idx="0">
                  <c:v>0.533</c:v>
                </c:pt>
                <c:pt idx="1">
                  <c:v>0.7</c:v>
                </c:pt>
                <c:pt idx="2">
                  <c:v>0.714</c:v>
                </c:pt>
              </c:numCache>
            </c:numRef>
          </c:val>
        </c:ser>
        <c:ser>
          <c:idx val="1"/>
          <c:order val="1"/>
          <c:tx>
            <c:strRef>
              <c:f>Sheet1!$C$1</c:f>
              <c:strCache>
                <c:ptCount val="1"/>
                <c:pt idx="0">
                  <c:v>Multi-agent</c:v>
                </c:pt>
              </c:strCache>
            </c:strRef>
          </c:tx>
          <c:spPr>
            <a:solidFill>
              <a:srgbClr val="B85C1E"/>
            </a:solidFill>
          </c:spPr>
          <c:dLbls>
            <c:numFmt formatCode="0.00" sourceLinked="0"/>
            <c:txPr>
              <a:bodyPr/>
              <a:lstStyle/>
              <a:p>
                <a:pPr>
                  <a:defRPr sz="900" b="1"/>
                </a:pPr>
              </a:p>
            </c:txPr>
            <c:showLegendKey val="0"/>
            <c:showVal val="1"/>
            <c:showCatName val="0"/>
            <c:showSerName val="0"/>
            <c:showPercent val="0"/>
            <c:showBubbleSize val="0"/>
            <c:showLeaderLines val="1"/>
          </c:dLbls>
          <c:cat>
            <c:strRef>
              <c:f>Sheet1!$A$2:$A$4</c:f>
              <c:strCache>
                <c:ptCount val="3"/>
                <c:pt idx="0">
                  <c:v>nDCG@5</c:v>
                </c:pt>
                <c:pt idx="1">
                  <c:v>Precision@5</c:v>
                </c:pt>
                <c:pt idx="2">
                  <c:v>Top-1 hit</c:v>
                </c:pt>
              </c:strCache>
            </c:strRef>
          </c:cat>
          <c:val>
            <c:numRef>
              <c:f>Sheet1!$C$2:$C$4</c:f>
              <c:numCache>
                <c:formatCode>General</c:formatCode>
                <c:ptCount val="3"/>
                <c:pt idx="0">
                  <c:v>0.486</c:v>
                </c:pt>
                <c:pt idx="1">
                  <c:v>0.664</c:v>
                </c:pt>
                <c:pt idx="2">
                  <c:v>0.429</c:v>
                </c:pt>
              </c:numCache>
            </c:numRef>
          </c:val>
        </c:ser>
        <c:dLbls>
          <c:numFmt formatCode="0.00" sourceLinked="0"/>
          <c:txPr>
            <a:bodyPr/>
            <a:lstStyle/>
            <a:p>
              <a:pPr>
                <a:defRPr sz="1000" b="1">
                  <a:solidFill>
                    <a:srgbClr val="14213D"/>
                  </a:solidFill>
                </a:defRPr>
              </a:pPr>
            </a:p>
          </c:txPr>
          <c:dLblPos val="outEnd"/>
          <c:showLegendKey val="0"/>
          <c:showVal val="1"/>
          <c:showCatName val="0"/>
          <c:showSerName val="0"/>
          <c:showPercent val="0"/>
          <c:showBubbleSize val="0"/>
          <c:showLeaderLines val="1"/>
        </c:dLbls>
        <c:gapWidth val="80"/>
        <c:overlap val="-10"/>
        <c:axId val="-2068027336"/>
        <c:axId val="-2113994440"/>
      </c:barChart>
      <c:catAx>
        <c:axId val="-2068027336"/>
        <c:scaling>
          <c:orientation val="minMax"/>
        </c:scaling>
        <c:delete val="0"/>
        <c:axPos val="b"/>
        <c:majorTickMark val="out"/>
        <c:minorTickMark val="none"/>
        <c:tickLblPos val="nextTo"/>
        <c:spPr>
          <a:ln>
            <a:solidFill>
              <a:srgbClr val="CBD5E0"/>
            </a:solidFill>
          </a:ln>
        </c:spPr>
        <c:txPr>
          <a:bodyPr/>
          <a:lstStyle/>
          <a:p>
            <a:pPr>
              <a:defRPr sz="1000">
                <a:solidFill>
                  <a:srgbClr val="4A5568"/>
                </a:solidFill>
              </a:defRPr>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legend>
      <c:legendPos val="b"/>
      <c:overlay val="0"/>
      <c:txPr>
        <a:bodyPr/>
        <a:lstStyle/>
        <a:p>
          <a:pPr>
            <a:defRPr sz="1000">
              <a:solidFill>
                <a:srgbClr val="4A5568"/>
              </a:solidFill>
            </a:defRPr>
          </a:pPr>
        </a:p>
      </c:txPr>
    </c:legend>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solidFill>
                  <a:srgbClr val="14213D"/>
                </a:solidFill>
              </a:rPr>
              <a:t>nDCG@5 by pool size (9 / 7 / 12 resumes)</a:t>
            </a:r>
          </a:p>
        </c:rich>
      </c:tx>
      <c:layout/>
      <c:overlay val="0"/>
    </c:title>
    <c:autoTitleDeleted val="0"/>
    <c:plotArea>
      <c:barChart>
        <c:barDir val="col"/>
        <c:grouping val="clustered"/>
        <c:ser>
          <c:idx val="0"/>
          <c:order val="0"/>
          <c:tx>
            <c:strRef>
              <c:f>Sheet1!$B$1</c:f>
              <c:strCache>
                <c:ptCount val="1"/>
                <c:pt idx="0">
                  <c:v>Single agent</c:v>
                </c:pt>
              </c:strCache>
            </c:strRef>
          </c:tx>
          <c:spPr>
            <a:solidFill>
              <a:srgbClr val="2F5D8C"/>
            </a:solidFill>
          </c:spPr>
          <c:dLbls>
            <c:numFmt formatCode="0.00" sourceLinked="0"/>
            <c:txPr>
              <a:bodyPr/>
              <a:lstStyle/>
              <a:p>
                <a:pPr>
                  <a:defRPr sz="900" b="1"/>
                </a:pPr>
              </a:p>
            </c:txPr>
            <c:showLegendKey val="0"/>
            <c:showVal val="1"/>
            <c:showCatName val="0"/>
            <c:showSerName val="0"/>
            <c:showPercent val="0"/>
            <c:showBubbleSize val="0"/>
            <c:showLeaderLines val="1"/>
          </c:dLbls>
          <c:cat>
            <c:strRef>
              <c:f>Sheet1!$A$2:$A$4</c:f>
              <c:strCache>
                <c:ptCount val="3"/>
                <c:pt idx="0">
                  <c:v>&lt;=12 jobs</c:v>
                </c:pt>
                <c:pt idx="1">
                  <c:v>13-16 jobs</c:v>
                </c:pt>
                <c:pt idx="2">
                  <c:v>&gt;16 jobs</c:v>
                </c:pt>
              </c:strCache>
            </c:strRef>
          </c:cat>
          <c:val>
            <c:numRef>
              <c:f>Sheet1!$B$2:$B$4</c:f>
              <c:numCache>
                <c:formatCode>General</c:formatCode>
                <c:ptCount val="3"/>
                <c:pt idx="0">
                  <c:v>0.558</c:v>
                </c:pt>
                <c:pt idx="1">
                  <c:v>0.518</c:v>
                </c:pt>
                <c:pt idx="2">
                  <c:v>0.524</c:v>
                </c:pt>
              </c:numCache>
            </c:numRef>
          </c:val>
        </c:ser>
        <c:ser>
          <c:idx val="1"/>
          <c:order val="1"/>
          <c:tx>
            <c:strRef>
              <c:f>Sheet1!$C$1</c:f>
              <c:strCache>
                <c:ptCount val="1"/>
                <c:pt idx="0">
                  <c:v>Multi-agent</c:v>
                </c:pt>
              </c:strCache>
            </c:strRef>
          </c:tx>
          <c:spPr>
            <a:solidFill>
              <a:srgbClr val="B85C1E"/>
            </a:solidFill>
          </c:spPr>
          <c:dLbls>
            <c:numFmt formatCode="0.00" sourceLinked="0"/>
            <c:txPr>
              <a:bodyPr/>
              <a:lstStyle/>
              <a:p>
                <a:pPr>
                  <a:defRPr sz="900" b="1"/>
                </a:pPr>
              </a:p>
            </c:txPr>
            <c:showLegendKey val="0"/>
            <c:showVal val="1"/>
            <c:showCatName val="0"/>
            <c:showSerName val="0"/>
            <c:showPercent val="0"/>
            <c:showBubbleSize val="0"/>
            <c:showLeaderLines val="1"/>
          </c:dLbls>
          <c:cat>
            <c:strRef>
              <c:f>Sheet1!$A$2:$A$4</c:f>
              <c:strCache>
                <c:ptCount val="3"/>
                <c:pt idx="0">
                  <c:v>&lt;=12 jobs</c:v>
                </c:pt>
                <c:pt idx="1">
                  <c:v>13-16 jobs</c:v>
                </c:pt>
                <c:pt idx="2">
                  <c:v>&gt;16 jobs</c:v>
                </c:pt>
              </c:strCache>
            </c:strRef>
          </c:cat>
          <c:val>
            <c:numRef>
              <c:f>Sheet1!$C$2:$C$4</c:f>
              <c:numCache>
                <c:formatCode>General</c:formatCode>
                <c:ptCount val="3"/>
                <c:pt idx="0">
                  <c:v>0.414</c:v>
                </c:pt>
                <c:pt idx="1">
                  <c:v>0.537</c:v>
                </c:pt>
                <c:pt idx="2">
                  <c:v>0.511</c:v>
                </c:pt>
              </c:numCache>
            </c:numRef>
          </c:val>
        </c:ser>
        <c:dLbls>
          <c:numFmt formatCode="0.00" sourceLinked="0"/>
          <c:txPr>
            <a:bodyPr/>
            <a:lstStyle/>
            <a:p>
              <a:pPr>
                <a:defRPr sz="1000" b="1">
                  <a:solidFill>
                    <a:srgbClr val="14213D"/>
                  </a:solidFill>
                </a:defRPr>
              </a:pPr>
            </a:p>
          </c:txPr>
          <c:dLblPos val="outEnd"/>
          <c:showLegendKey val="0"/>
          <c:showVal val="1"/>
          <c:showCatName val="0"/>
          <c:showSerName val="0"/>
          <c:showPercent val="0"/>
          <c:showBubbleSize val="0"/>
          <c:showLeaderLines val="1"/>
        </c:dLbls>
        <c:gapWidth val="80"/>
        <c:overlap val="-10"/>
        <c:axId val="-2068027336"/>
        <c:axId val="-2113994440"/>
      </c:barChart>
      <c:catAx>
        <c:axId val="-2068027336"/>
        <c:scaling>
          <c:orientation val="minMax"/>
        </c:scaling>
        <c:delete val="0"/>
        <c:axPos val="b"/>
        <c:majorTickMark val="out"/>
        <c:minorTickMark val="none"/>
        <c:tickLblPos val="nextTo"/>
        <c:spPr>
          <a:ln>
            <a:solidFill>
              <a:srgbClr val="CBD5E0"/>
            </a:solidFill>
          </a:ln>
        </c:spPr>
        <c:txPr>
          <a:bodyPr/>
          <a:lstStyle/>
          <a:p>
            <a:pPr>
              <a:defRPr sz="1000">
                <a:solidFill>
                  <a:srgbClr val="4A5568"/>
                </a:solidFill>
              </a:defRPr>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legend>
      <c:legendPos val="b"/>
      <c:overlay val="0"/>
      <c:txPr>
        <a:bodyPr/>
        <a:lstStyle/>
        <a:p>
          <a:pPr>
            <a:defRPr sz="1000">
              <a:solidFill>
                <a:srgbClr val="4A5568"/>
              </a:solidFill>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Quick status check. Both approaches now have measured results on a public labeled dataset, with two model sizes (Qwen3 4B and 14B).</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deviated from the proposal. Our 50-job Greenhouse/Lever workload with 400 team labels was small (8 eval resumes), so we switched to rjdfit (cnamuangtoun/resume-job-description-fit on Hugging Face): 8,000 resume/job pairs labeled no fit, potential fit or good fit. It has about 642 unique resumes and 280 unique jobs, so each resume has roughly a dozen labeled jobs. We built 30 pools, one per resume (a resume plus its own labeled jobs, 8 to 20 jobs each, about 15 on average): 2 for development, 28 for evaluation. That is 456 of the 8,000 pairs, covering 205 unique jobs. About 58% of jobs are relevant, so a random top 5 scores about 0.58 precision. The dataset has no card, so the license and labeling method are unknown; we should not call these human labels in the report.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baseline sends the resume and every job in the pool in one call and gets back five ranked job IDs with explanations. It shares input cleanup, model, output limit, ranking prompt and validation with the orchestrator, so the only difference is the architecture. Final run is Qwen3 14B (4-bit) on an A100, 28 eval resumes, one run each: nDCG@5 0.533, Precision@5 0.700, top-1 hit rate 0.714, no failures. Median 10.6 seconds and about 9.9k tokens per resume. The earlier 4B run scored nDCG@5 0.568, so the bigger model did not help the single agent on nDCG.</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orchestrator runs three workers: resume parser, requirement extractor and ranker, chained by Python. Workers pick numbered lines and the controller restores the exact source text. The two failures on the 4B run (P03 and P17) were the resume parser hitting its 2,000-token output cap on long resumes by listing about 60 skills; the cap is now 4,000 tokens and the prompt asks for at most 15 skills. On the final 14B run all 28 resumes completed: nDCG@5 0.486, Precision@5 0.664, top-1 0.429. Median 40.8 seconds and 32.0k tokens. Local runs have no API cost; hardware cost is not measured.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Median wall-clock per resume: 4B single 5.5s, 4B multi 20.9s (3.8x); 14B single 10.6s, 14B multi 40.8s (3.9x). Median tokens: 9.9k vs 32.2k on 4B, 9.9k vs 32.0k on 14B (3.2x). The 14B model roughly doubles the time for both. The whole 28-resume eval took about 24 minutes of model time on 14B (4.7 for single, 19.1 for multi) versus about 14 on 4B. This matches the old workload (4 to 6x slower, about 2.8x tokens) and is expected: three sequential calls, and later calls re-read the resume and job text.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Qwen3 14B, 28 eval resumes, one run each, no failures. Single agent: nDCG@5 0.533, Precision@5 0.700, top-1 0.714. Multi-agent: 0.486, 0.664, 0.429. Per resume, single was better on 15, multi on 12, tied on 1. Mean gap 0.047, bootstrap 95% interval about -0.14 to +0.02, so we can't call it a real difference. One resume, P06, accounts for most of it: multi scored 0 (single 0.97). Without P06 the mean gap is about -0.01. By pool size, multi is clearly behind only on small pools (&lt;=12 jobs: 0.41 vs 0.56) and is level or slightly ahead on 13-16 and above (0.54 vs 0.52, 0.51 vs 0.52), but groups are 9, 7 and 12 resumes, so that is a hint, not a finding. The earlier 4B run: single 0.568, multi 0.512 with 2 failed runs that scored 0; the bigger model did not raise nDCG for either architecture, though Precision@5 went up slightly. Both are only modestly above the 0.58 random Precision@5.</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Largest per-resume gaps on the 14B run. Single wins: P06 (0.97 vs 0.00), P11 (0.56 vs 0.37), P09 (0.79 vs 0.61), P15 (0.65 vs 0.47). Multi-agent wins: P20 (0.37 vs 0.65), P23 (0.25 vs 0.45), P13 (0.73 vs 0.89), P22 (0.85 vs 1.00). P14 tied exactly. Full table is in paired_resumes.csv.</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model output for eval resume P05, a software test analyst background with a pool of 20 jobs where 16 are relevant (random Precision@5 is 0.80). This is a typical case: nDCG@5 is 0.515 for the single agent and 0.518 for the orchestrator, and both get 4 of 5 relevant. They pick different jobs: the single agent leans toward engineering roles, the orchestrator toward business analyst and QA automation roles, and it puts a no-fit ServiceNow BA job first. For contrast, the biggest gap of the 28 resumes is P06 (software engineer resume, 8 jobs): the orchestrator's ranker picked five accounting jobs, 0 of 5 relevant, nDCG@5 0.00, while single got 0.97. That one is on the per-resume slide; it is an outlier, not the typical case. Explanations are sometimes cut off at the 300-character limit.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421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914400"/>
          </a:xfrm>
          <a:prstGeom prst="rect">
            <a:avLst/>
          </a:prstGeom>
          <a:noFill/>
          <a:ln/>
        </p:spPr>
        <p:txBody>
          <a:bodyPr wrap="square" rtlCol="0"/>
          <a:lstStyle>
            <a:lvl1pPr algn="l" indent="0" marL="0">
              <a:buNone/>
              <a:defRPr lang="en-US" sz="4800" b="1" dirty="0">
                <a:solidFill>
                  <a:srgbClr val="F4F1EA"/>
                </a:solidFill>
              </a:defRPr>
            </a:lvl1pPr>
          </a:lstStyle>
          <a:p>
            <a:pPr algn="l" indent="0" marL="0">
              <a:buNone/>
            </a:pPr>
            <a:endParaRPr lang="en-US" sz="4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7F5E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77240"/>
            <a:ext cx="8046720" cy="548640"/>
          </a:xfrm>
          <a:prstGeom prst="rect">
            <a:avLst/>
          </a:prstGeom>
          <a:noFill/>
          <a:ln/>
        </p:spPr>
        <p:txBody>
          <a:bodyPr wrap="square" rtlCol="0"/>
          <a:lstStyle>
            <a:lvl1pPr algn="l" indent="0" marL="0">
              <a:buNone/>
              <a:defRPr lang="en-US" sz="2800" b="1" dirty="0">
                <a:solidFill>
                  <a:srgbClr val="14213D"/>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chart" Target="../charts/chart2.xml"/><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chart" Target="../charts/chart3.xml"/><Relationship Id="rId3" Type="http://schemas.openxmlformats.org/officeDocument/2006/relationships/chart" Target="../charts/chart4.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502920"/>
            <a:ext cx="8046720" cy="274320"/>
          </a:xfrm>
          <a:prstGeom prst="rect">
            <a:avLst/>
          </a:prstGeom>
          <a:noFill/>
          <a:ln/>
        </p:spPr>
        <p:txBody>
          <a:bodyPr wrap="square" lIns="0" tIns="0" rIns="0" bIns="0" rtlCol="0" anchor="ctr"/>
          <a:lstStyle/>
          <a:p>
            <a:pPr indent="0" marL="0">
              <a:buNone/>
            </a:pPr>
            <a:r>
              <a:rPr lang="en-US" sz="1200" spc="200" kern="0" dirty="0">
                <a:solidFill>
                  <a:srgbClr val="F2A65A"/>
                </a:solidFill>
                <a:latin typeface="Courier New" pitchFamily="34" charset="0"/>
                <a:ea typeface="Courier New" pitchFamily="34" charset="-122"/>
                <a:cs typeface="Courier New" pitchFamily="34" charset="-120"/>
              </a:rPr>
              <a:t>CSCE 585 · PROGRESS UPDATE · OCT 2026</a:t>
            </a:r>
            <a:endParaRPr lang="en-US" sz="1200" dirty="0"/>
          </a:p>
        </p:txBody>
      </p:sp>
      <p:sp>
        <p:nvSpPr>
          <p:cNvPr id="3" name="Text 0"/>
          <p:cNvSpPr/>
          <p:nvPr>
            <p:ph idx="100" type="title" hasCustomPrompt="1"/>
          </p:nvPr>
        </p:nvSpPr>
        <p:spPr>
          <a:xfrm>
            <a:off x="548640" y="1554480"/>
            <a:ext cx="8046720" cy="914400"/>
          </a:xfrm>
          <a:prstGeom prst="rect">
            <a:avLst/>
          </a:prstGeom>
          <a:noFill/>
          <a:ln/>
        </p:spPr>
        <p:txBody>
          <a:bodyPr wrap="square" lIns="0" tIns="0" rIns="0" bIns="0" rtlCol="0" anchor="t"/>
          <a:lstStyle/>
          <a:p>
            <a:pPr algn="l" indent="0" marL="0">
              <a:buNone/>
            </a:pPr>
            <a:r>
              <a:rPr lang="en-US" sz="4800" b="1" dirty="0">
                <a:solidFill>
                  <a:srgbClr val="F4F1EA"/>
                </a:solidFill>
              </a:rPr>
              <a:t>One Agent or Many?</a:t>
            </a:r>
            <a:endParaRPr lang="en-US" sz="4800" dirty="0"/>
          </a:p>
        </p:txBody>
      </p:sp>
      <p:sp>
        <p:nvSpPr>
          <p:cNvPr id="4" name="Text 2"/>
          <p:cNvSpPr txBox="1"/>
          <p:nvPr/>
        </p:nvSpPr>
        <p:spPr>
          <a:xfrm>
            <a:off x="548640" y="2514600"/>
            <a:ext cx="6858000" cy="457200"/>
          </a:xfrm>
          <a:prstGeom prst="rect">
            <a:avLst/>
          </a:prstGeom>
          <a:noFill/>
          <a:ln/>
        </p:spPr>
        <p:txBody>
          <a:bodyPr wrap="square" lIns="0" tIns="0" rIns="0" bIns="0" rtlCol="0" anchor="ctr"/>
          <a:lstStyle/>
          <a:p>
            <a:pPr indent="0" marL="0">
              <a:buNone/>
            </a:pPr>
            <a:r>
              <a:rPr lang="en-US" sz="2000" dirty="0">
                <a:solidFill>
                  <a:srgbClr val="BFC8D9"/>
                </a:solidFill>
              </a:rPr>
              <a:t>Orchestrated vs. single-agent resume-to-job matching</a:t>
            </a:r>
            <a:endParaRPr lang="en-US" sz="2000" dirty="0"/>
          </a:p>
        </p:txBody>
      </p:sp>
      <p:sp>
        <p:nvSpPr>
          <p:cNvPr id="5" name="Text 3"/>
          <p:cNvSpPr txBox="1"/>
          <p:nvPr/>
        </p:nvSpPr>
        <p:spPr>
          <a:xfrm>
            <a:off x="548640" y="4343400"/>
            <a:ext cx="2606040" cy="320040"/>
          </a:xfrm>
          <a:prstGeom prst="rect">
            <a:avLst/>
          </a:prstGeom>
          <a:noFill/>
          <a:ln/>
        </p:spPr>
        <p:txBody>
          <a:bodyPr wrap="square" lIns="0" tIns="0" rIns="0" bIns="0" rtlCol="0" anchor="ctr"/>
          <a:lstStyle/>
          <a:p>
            <a:pPr indent="0" marL="0">
              <a:buNone/>
            </a:pPr>
            <a:r>
              <a:rPr lang="en-US" sz="1400" dirty="0">
                <a:solidFill>
                  <a:srgbClr val="BFC8D9"/>
                </a:solidFill>
              </a:rPr>
              <a:t>Aidan · single-agent baseline</a:t>
            </a:r>
            <a:endParaRPr lang="en-US" sz="1400" dirty="0"/>
          </a:p>
        </p:txBody>
      </p:sp>
      <p:sp>
        <p:nvSpPr>
          <p:cNvPr id="6" name="Text 4"/>
          <p:cNvSpPr txBox="1"/>
          <p:nvPr/>
        </p:nvSpPr>
        <p:spPr>
          <a:xfrm>
            <a:off x="3246120" y="4343400"/>
            <a:ext cx="2606040" cy="320040"/>
          </a:xfrm>
          <a:prstGeom prst="rect">
            <a:avLst/>
          </a:prstGeom>
          <a:noFill/>
          <a:ln/>
        </p:spPr>
        <p:txBody>
          <a:bodyPr wrap="square" lIns="0" tIns="0" rIns="0" bIns="0" rtlCol="0" anchor="ctr"/>
          <a:lstStyle/>
          <a:p>
            <a:pPr indent="0" marL="0">
              <a:buNone/>
            </a:pPr>
            <a:r>
              <a:rPr lang="en-US" sz="1400" dirty="0">
                <a:solidFill>
                  <a:srgbClr val="BFC8D9"/>
                </a:solidFill>
              </a:rPr>
              <a:t>Kevin Do · orchestration</a:t>
            </a:r>
            <a:endParaRPr lang="en-US" sz="1400" dirty="0"/>
          </a:p>
        </p:txBody>
      </p:sp>
      <p:sp>
        <p:nvSpPr>
          <p:cNvPr id="7" name="Text 5"/>
          <p:cNvSpPr txBox="1"/>
          <p:nvPr/>
        </p:nvSpPr>
        <p:spPr>
          <a:xfrm>
            <a:off x="5943600" y="4343400"/>
            <a:ext cx="2606040" cy="320040"/>
          </a:xfrm>
          <a:prstGeom prst="rect">
            <a:avLst/>
          </a:prstGeom>
          <a:noFill/>
          <a:ln/>
        </p:spPr>
        <p:txBody>
          <a:bodyPr wrap="square" lIns="0" tIns="0" rIns="0" bIns="0" rtlCol="0" anchor="ctr"/>
          <a:lstStyle/>
          <a:p>
            <a:pPr indent="0" marL="0">
              <a:buNone/>
            </a:pPr>
            <a:r>
              <a:rPr lang="en-US" sz="1400" dirty="0">
                <a:solidFill>
                  <a:srgbClr val="BFC8D9"/>
                </a:solidFill>
              </a:rPr>
              <a:t>Ritvik · data &amp; eval</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yebrow"/>
          <p:cNvSpPr txBox="1"/>
          <p:nvPr/>
        </p:nvSpPr>
        <p:spPr>
          <a:xfrm>
            <a:off x="548640" y="365760"/>
            <a:ext cx="5120640" cy="274320"/>
          </a:xfrm>
          <a:prstGeom prst="rect">
            <a:avLst/>
          </a:prstGeom>
          <a:noFill/>
          <a:ln/>
        </p:spPr>
        <p:txBody>
          <a:bodyPr wrap="square" lIns="0" tIns="0" rIns="0" bIns="0" rtlCol="0" anchor="ctr"/>
          <a:lstStyle/>
          <a:p>
            <a:pPr indent="0" marL="0">
              <a:buNone/>
            </a:pPr>
            <a:r>
              <a:rPr lang="en-US" sz="1200" spc="150" kern="0" dirty="0">
                <a:solidFill>
                  <a:srgbClr val="B85C1E"/>
                </a:solidFill>
                <a:latin typeface="Courier New" pitchFamily="34" charset="0"/>
                <a:ea typeface="Courier New" pitchFamily="34" charset="-122"/>
                <a:cs typeface="Courier New" pitchFamily="34" charset="-120"/>
              </a:rPr>
              <a:t>01 · DATA &amp; EVALUATION · RITVIK</a:t>
            </a:r>
            <a:endParaRPr lang="en-US" sz="1200" dirty="0"/>
          </a:p>
        </p:txBody>
      </p:sp>
      <p:sp>
        <p:nvSpPr>
          <p:cNvPr id="3" name="status"/>
          <p:cNvSpPr/>
          <p:nvPr/>
        </p:nvSpPr>
        <p:spPr>
          <a:xfrm>
            <a:off x="5669280" y="329184"/>
            <a:ext cx="2926080" cy="329184"/>
          </a:xfrm>
          <a:prstGeom prst="roundRect">
            <a:avLst>
              <a:gd name="adj" fmla="val 138889"/>
            </a:avLst>
          </a:prstGeom>
          <a:solidFill>
            <a:srgbClr val="2F5D8C"/>
          </a:solidFill>
          <a:ln/>
        </p:spPr>
        <p:txBody>
          <a:bodyPr wrap="square" lIns="0" tIns="0" rIns="0" bIns="0" rtlCol="0" anchor="ctr"/>
          <a:lstStyle/>
          <a:p>
            <a:pPr algn="ctr" indent="0" marL="0">
              <a:buNone/>
            </a:pPr>
            <a:r>
              <a:rPr lang="en-US" sz="1100" b="1" dirty="0">
                <a:solidFill>
                  <a:srgbClr val="F7F5EF"/>
                </a:solidFill>
              </a:rPr>
              <a:t>Dataset + pools ready</a:t>
            </a:r>
            <a:endParaRPr lang="en-US" sz="1100" dirty="0"/>
          </a:p>
        </p:txBody>
      </p:sp>
      <p:sp>
        <p:nvSpPr>
          <p:cNvPr id="4" name="Text 0"/>
          <p:cNvSpPr/>
          <p:nvPr>
            <p:ph idx="100" type="title" hasCustomPrompt="1"/>
          </p:nvPr>
        </p:nvSpPr>
        <p:spPr>
          <a:xfrm>
            <a:off x="548640" y="777240"/>
            <a:ext cx="8046720" cy="548640"/>
          </a:xfrm>
          <a:prstGeom prst="rect">
            <a:avLst/>
          </a:prstGeom>
          <a:noFill/>
          <a:ln/>
        </p:spPr>
        <p:txBody>
          <a:bodyPr wrap="square" lIns="0" tIns="0" rIns="0" bIns="0" rtlCol="0" anchor="t"/>
          <a:lstStyle/>
          <a:p>
            <a:pPr algn="l" indent="0" marL="0">
              <a:buNone/>
            </a:pPr>
            <a:r>
              <a:rPr lang="en-US" sz="2800" b="1" dirty="0">
                <a:solidFill>
                  <a:srgbClr val="14213D"/>
                </a:solidFill>
              </a:rPr>
              <a:t>Switched to a public labeled dataset</a:t>
            </a:r>
            <a:endParaRPr lang="en-US" sz="2800" dirty="0"/>
          </a:p>
        </p:txBody>
      </p:sp>
      <p:sp>
        <p:nvSpPr>
          <p:cNvPr id="5" name="Shape 3"/>
          <p:cNvSpPr/>
          <p:nvPr/>
        </p:nvSpPr>
        <p:spPr>
          <a:xfrm>
            <a:off x="548640" y="1508760"/>
            <a:ext cx="1874520" cy="1280160"/>
          </a:xfrm>
          <a:prstGeom prst="roundRect">
            <a:avLst>
              <a:gd name="adj" fmla="val 5714"/>
            </a:avLst>
          </a:prstGeom>
          <a:solidFill>
            <a:srgbClr val="FFFFFF"/>
          </a:solidFill>
          <a:ln w="9525">
            <a:solidFill>
              <a:srgbClr val="E2DED3"/>
            </a:solidFill>
            <a:prstDash val="solid"/>
          </a:ln>
        </p:spPr>
      </p:sp>
      <p:sp>
        <p:nvSpPr>
          <p:cNvPr id="6" name="Text 4"/>
          <p:cNvSpPr txBox="1"/>
          <p:nvPr/>
        </p:nvSpPr>
        <p:spPr>
          <a:xfrm>
            <a:off x="685800" y="1618488"/>
            <a:ext cx="1600200" cy="548640"/>
          </a:xfrm>
          <a:prstGeom prst="rect">
            <a:avLst/>
          </a:prstGeom>
          <a:noFill/>
          <a:ln/>
        </p:spPr>
        <p:txBody>
          <a:bodyPr wrap="square" lIns="0" tIns="0" rIns="0" bIns="0" rtlCol="0" anchor="ctr"/>
          <a:lstStyle/>
          <a:p>
            <a:pPr indent="0" marL="0">
              <a:buNone/>
            </a:pPr>
            <a:r>
              <a:rPr lang="en-US" sz="3200" b="1" dirty="0">
                <a:solidFill>
                  <a:srgbClr val="14213D"/>
                </a:solidFill>
              </a:rPr>
              <a:t>8,000</a:t>
            </a:r>
            <a:endParaRPr lang="en-US" sz="3200" dirty="0"/>
          </a:p>
        </p:txBody>
      </p:sp>
      <p:sp>
        <p:nvSpPr>
          <p:cNvPr id="7" name="Text 5"/>
          <p:cNvSpPr txBox="1"/>
          <p:nvPr/>
        </p:nvSpPr>
        <p:spPr>
          <a:xfrm>
            <a:off x="685800" y="2194560"/>
            <a:ext cx="1600200" cy="502920"/>
          </a:xfrm>
          <a:prstGeom prst="rect">
            <a:avLst/>
          </a:prstGeom>
          <a:noFill/>
          <a:ln/>
        </p:spPr>
        <p:txBody>
          <a:bodyPr wrap="square" lIns="0" tIns="0" rIns="0" bIns="0" rtlCol="0" anchor="t"/>
          <a:lstStyle/>
          <a:p>
            <a:pPr indent="0" marL="0">
              <a:buNone/>
            </a:pPr>
            <a:r>
              <a:rPr lang="en-US" sz="1200" dirty="0">
                <a:solidFill>
                  <a:srgbClr val="4A5568"/>
                </a:solidFill>
              </a:rPr>
              <a:t>pairs in rjdfit (we use 456 of them)</a:t>
            </a:r>
            <a:endParaRPr lang="en-US" sz="1200" dirty="0"/>
          </a:p>
        </p:txBody>
      </p:sp>
      <p:sp>
        <p:nvSpPr>
          <p:cNvPr id="8" name="Shape 6"/>
          <p:cNvSpPr/>
          <p:nvPr/>
        </p:nvSpPr>
        <p:spPr>
          <a:xfrm>
            <a:off x="2606040" y="1508760"/>
            <a:ext cx="1874520" cy="1280160"/>
          </a:xfrm>
          <a:prstGeom prst="roundRect">
            <a:avLst>
              <a:gd name="adj" fmla="val 5714"/>
            </a:avLst>
          </a:prstGeom>
          <a:solidFill>
            <a:srgbClr val="FFFFFF"/>
          </a:solidFill>
          <a:ln w="9525">
            <a:solidFill>
              <a:srgbClr val="E2DED3"/>
            </a:solidFill>
            <a:prstDash val="solid"/>
          </a:ln>
        </p:spPr>
      </p:sp>
      <p:sp>
        <p:nvSpPr>
          <p:cNvPr id="9" name="Text 7"/>
          <p:cNvSpPr txBox="1"/>
          <p:nvPr/>
        </p:nvSpPr>
        <p:spPr>
          <a:xfrm>
            <a:off x="2743200" y="1618488"/>
            <a:ext cx="1600200" cy="548640"/>
          </a:xfrm>
          <a:prstGeom prst="rect">
            <a:avLst/>
          </a:prstGeom>
          <a:noFill/>
          <a:ln/>
        </p:spPr>
        <p:txBody>
          <a:bodyPr wrap="square" lIns="0" tIns="0" rIns="0" bIns="0" rtlCol="0" anchor="ctr"/>
          <a:lstStyle/>
          <a:p>
            <a:pPr indent="0" marL="0">
              <a:buNone/>
            </a:pPr>
            <a:r>
              <a:rPr lang="en-US" sz="3200" b="1" dirty="0">
                <a:solidFill>
                  <a:srgbClr val="14213D"/>
                </a:solidFill>
              </a:rPr>
              <a:t>30</a:t>
            </a:r>
            <a:endParaRPr lang="en-US" sz="3200" dirty="0"/>
          </a:p>
        </p:txBody>
      </p:sp>
      <p:sp>
        <p:nvSpPr>
          <p:cNvPr id="10" name="Text 8"/>
          <p:cNvSpPr txBox="1"/>
          <p:nvPr/>
        </p:nvSpPr>
        <p:spPr>
          <a:xfrm>
            <a:off x="2743200" y="2194560"/>
            <a:ext cx="1600200" cy="502920"/>
          </a:xfrm>
          <a:prstGeom prst="rect">
            <a:avLst/>
          </a:prstGeom>
          <a:noFill/>
          <a:ln/>
        </p:spPr>
        <p:txBody>
          <a:bodyPr wrap="square" lIns="0" tIns="0" rIns="0" bIns="0" rtlCol="0" anchor="t"/>
          <a:lstStyle/>
          <a:p>
            <a:pPr indent="0" marL="0">
              <a:buNone/>
            </a:pPr>
            <a:r>
              <a:rPr lang="en-US" sz="1200" dirty="0">
                <a:solidFill>
                  <a:srgbClr val="4A5568"/>
                </a:solidFill>
              </a:rPr>
              <a:t>resume pools (2 dev, 28 eval), one per resume</a:t>
            </a:r>
            <a:endParaRPr lang="en-US" sz="1200" dirty="0"/>
          </a:p>
        </p:txBody>
      </p:sp>
      <p:sp>
        <p:nvSpPr>
          <p:cNvPr id="11" name="Shape 9"/>
          <p:cNvSpPr/>
          <p:nvPr/>
        </p:nvSpPr>
        <p:spPr>
          <a:xfrm>
            <a:off x="4663440" y="1508760"/>
            <a:ext cx="1874520" cy="1280160"/>
          </a:xfrm>
          <a:prstGeom prst="roundRect">
            <a:avLst>
              <a:gd name="adj" fmla="val 5714"/>
            </a:avLst>
          </a:prstGeom>
          <a:solidFill>
            <a:srgbClr val="FFFFFF"/>
          </a:solidFill>
          <a:ln w="9525">
            <a:solidFill>
              <a:srgbClr val="E2DED3"/>
            </a:solidFill>
            <a:prstDash val="solid"/>
          </a:ln>
        </p:spPr>
      </p:sp>
      <p:sp>
        <p:nvSpPr>
          <p:cNvPr id="12" name="Text 10"/>
          <p:cNvSpPr txBox="1"/>
          <p:nvPr/>
        </p:nvSpPr>
        <p:spPr>
          <a:xfrm>
            <a:off x="4800600" y="1618488"/>
            <a:ext cx="1600200" cy="548640"/>
          </a:xfrm>
          <a:prstGeom prst="rect">
            <a:avLst/>
          </a:prstGeom>
          <a:noFill/>
          <a:ln/>
        </p:spPr>
        <p:txBody>
          <a:bodyPr wrap="square" lIns="0" tIns="0" rIns="0" bIns="0" rtlCol="0" anchor="ctr"/>
          <a:lstStyle/>
          <a:p>
            <a:pPr indent="0" marL="0">
              <a:buNone/>
            </a:pPr>
            <a:r>
              <a:rPr lang="en-US" sz="3200" b="1" dirty="0">
                <a:solidFill>
                  <a:srgbClr val="14213D"/>
                </a:solidFill>
              </a:rPr>
              <a:t>8–20</a:t>
            </a:r>
            <a:endParaRPr lang="en-US" sz="3200" dirty="0"/>
          </a:p>
        </p:txBody>
      </p:sp>
      <p:sp>
        <p:nvSpPr>
          <p:cNvPr id="13" name="Text 11"/>
          <p:cNvSpPr txBox="1"/>
          <p:nvPr/>
        </p:nvSpPr>
        <p:spPr>
          <a:xfrm>
            <a:off x="4800600" y="2194560"/>
            <a:ext cx="1600200" cy="502920"/>
          </a:xfrm>
          <a:prstGeom prst="rect">
            <a:avLst/>
          </a:prstGeom>
          <a:noFill/>
          <a:ln/>
        </p:spPr>
        <p:txBody>
          <a:bodyPr wrap="square" lIns="0" tIns="0" rIns="0" bIns="0" rtlCol="0" anchor="t"/>
          <a:lstStyle/>
          <a:p>
            <a:pPr indent="0" marL="0">
              <a:buNone/>
            </a:pPr>
            <a:r>
              <a:rPr lang="en-US" sz="1200" dirty="0">
                <a:solidFill>
                  <a:srgbClr val="4A5568"/>
                </a:solidFill>
              </a:rPr>
              <a:t>jobs per pool, all labeled for that resume</a:t>
            </a:r>
            <a:endParaRPr lang="en-US" sz="1200" dirty="0"/>
          </a:p>
        </p:txBody>
      </p:sp>
      <p:sp>
        <p:nvSpPr>
          <p:cNvPr id="14" name="Shape 12"/>
          <p:cNvSpPr/>
          <p:nvPr/>
        </p:nvSpPr>
        <p:spPr>
          <a:xfrm>
            <a:off x="6720840" y="1508760"/>
            <a:ext cx="1874520" cy="1280160"/>
          </a:xfrm>
          <a:prstGeom prst="roundRect">
            <a:avLst>
              <a:gd name="adj" fmla="val 5714"/>
            </a:avLst>
          </a:prstGeom>
          <a:solidFill>
            <a:srgbClr val="FFFFFF"/>
          </a:solidFill>
          <a:ln w="9525">
            <a:solidFill>
              <a:srgbClr val="E2DED3"/>
            </a:solidFill>
            <a:prstDash val="solid"/>
          </a:ln>
        </p:spPr>
      </p:sp>
      <p:sp>
        <p:nvSpPr>
          <p:cNvPr id="15" name="Text 13"/>
          <p:cNvSpPr txBox="1"/>
          <p:nvPr/>
        </p:nvSpPr>
        <p:spPr>
          <a:xfrm>
            <a:off x="6858000" y="1618488"/>
            <a:ext cx="1600200" cy="548640"/>
          </a:xfrm>
          <a:prstGeom prst="rect">
            <a:avLst/>
          </a:prstGeom>
          <a:noFill/>
          <a:ln/>
        </p:spPr>
        <p:txBody>
          <a:bodyPr wrap="square" lIns="0" tIns="0" rIns="0" bIns="0" rtlCol="0" anchor="ctr"/>
          <a:lstStyle/>
          <a:p>
            <a:pPr indent="0" marL="0">
              <a:buNone/>
            </a:pPr>
            <a:r>
              <a:rPr lang="en-US" sz="3200" b="1" dirty="0">
                <a:solidFill>
                  <a:srgbClr val="14213D"/>
                </a:solidFill>
              </a:rPr>
              <a:t>58%</a:t>
            </a:r>
            <a:endParaRPr lang="en-US" sz="3200" dirty="0"/>
          </a:p>
        </p:txBody>
      </p:sp>
      <p:sp>
        <p:nvSpPr>
          <p:cNvPr id="16" name="Text 14"/>
          <p:cNvSpPr txBox="1"/>
          <p:nvPr/>
        </p:nvSpPr>
        <p:spPr>
          <a:xfrm>
            <a:off x="6858000" y="2194560"/>
            <a:ext cx="1600200" cy="502920"/>
          </a:xfrm>
          <a:prstGeom prst="rect">
            <a:avLst/>
          </a:prstGeom>
          <a:noFill/>
          <a:ln/>
        </p:spPr>
        <p:txBody>
          <a:bodyPr wrap="square" lIns="0" tIns="0" rIns="0" bIns="0" rtlCol="0" anchor="t"/>
          <a:lstStyle/>
          <a:p>
            <a:pPr indent="0" marL="0">
              <a:buNone/>
            </a:pPr>
            <a:r>
              <a:rPr lang="en-US" sz="1200" dirty="0">
                <a:solidFill>
                  <a:srgbClr val="4A5568"/>
                </a:solidFill>
              </a:rPr>
              <a:t>of jobs are relevant, so random Precision@5 ≈ 0.58</a:t>
            </a:r>
            <a:endParaRPr lang="en-US" sz="1200" dirty="0"/>
          </a:p>
        </p:txBody>
      </p:sp>
      <p:sp>
        <p:nvSpPr>
          <p:cNvPr id="17" name="Text 15"/>
          <p:cNvSpPr txBox="1"/>
          <p:nvPr/>
        </p:nvSpPr>
        <p:spPr>
          <a:xfrm>
            <a:off x="548640" y="2971800"/>
            <a:ext cx="4572000" cy="274320"/>
          </a:xfrm>
          <a:prstGeom prst="rect">
            <a:avLst/>
          </a:prstGeom>
          <a:noFill/>
          <a:ln/>
        </p:spPr>
        <p:txBody>
          <a:bodyPr wrap="square" lIns="0" tIns="0" rIns="0" bIns="0" rtlCol="0" anchor="ctr"/>
          <a:lstStyle/>
          <a:p>
            <a:pPr indent="0" marL="0">
              <a:buNone/>
            </a:pPr>
            <a:r>
              <a:rPr lang="en-US" sz="1500" b="1" dirty="0">
                <a:solidFill>
                  <a:srgbClr val="2F5D8C"/>
                </a:solidFill>
              </a:rPr>
              <a:t>Done</a:t>
            </a:r>
            <a:endParaRPr lang="en-US" sz="1500" dirty="0"/>
          </a:p>
        </p:txBody>
      </p:sp>
      <p:sp>
        <p:nvSpPr>
          <p:cNvPr id="18" name="Text 16"/>
          <p:cNvSpPr txBox="1"/>
          <p:nvPr/>
        </p:nvSpPr>
        <p:spPr>
          <a:xfrm>
            <a:off x="548640" y="3291840"/>
            <a:ext cx="4572000" cy="13258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rgbClr val="2D3748"/>
                </a:solidFill>
              </a:rPr>
              <a:t>Our own 50-job set was too small and noisy, so we moved to rjdfit: labels are no fit / potential fit / good fit</a:t>
            </a:r>
            <a:endParaRPr lang="en-US" sz="1300" dirty="0"/>
          </a:p>
          <a:p>
            <a:pPr marL="152400" indent="-152400">
              <a:spcAft>
                <a:spcPts val="400"/>
              </a:spcAft>
              <a:buSzPct val="100000"/>
              <a:buChar char="•"/>
            </a:pPr>
            <a:r>
              <a:rPr lang="en-US" sz="1300" dirty="0">
                <a:solidFill>
                  <a:srgbClr val="2D3748"/>
                </a:solidFill>
              </a:rPr>
              <a:t>Each pool is one resume plus its own labeled jobs (456 pairs total); the matcher returns a top 5</a:t>
            </a:r>
            <a:endParaRPr lang="en-US" sz="1300" dirty="0"/>
          </a:p>
          <a:p>
            <a:pPr marL="152400" indent="-152400">
              <a:spcAft>
                <a:spcPts val="400"/>
              </a:spcAft>
              <a:buSzPct val="100000"/>
              <a:buChar char="•"/>
            </a:pPr>
            <a:r>
              <a:rPr lang="en-US" sz="1300" dirty="0">
                <a:solidFill>
                  <a:srgbClr val="2D3748"/>
                </a:solidFill>
              </a:rPr>
              <a:t>Pools are fixed (seed 585) and hashed, so both matchers see identical inputs</a:t>
            </a:r>
            <a:endParaRPr lang="en-US" sz="1300" dirty="0"/>
          </a:p>
        </p:txBody>
      </p:sp>
      <p:sp>
        <p:nvSpPr>
          <p:cNvPr id="19" name="Text 17"/>
          <p:cNvSpPr txBox="1"/>
          <p:nvPr/>
        </p:nvSpPr>
        <p:spPr>
          <a:xfrm>
            <a:off x="5486400" y="2971800"/>
            <a:ext cx="3108960" cy="274320"/>
          </a:xfrm>
          <a:prstGeom prst="rect">
            <a:avLst/>
          </a:prstGeom>
          <a:noFill/>
          <a:ln/>
        </p:spPr>
        <p:txBody>
          <a:bodyPr wrap="square" lIns="0" tIns="0" rIns="0" bIns="0" rtlCol="0" anchor="ctr"/>
          <a:lstStyle/>
          <a:p>
            <a:pPr indent="0" marL="0">
              <a:buNone/>
            </a:pPr>
            <a:r>
              <a:rPr lang="en-US" sz="1500" b="1" dirty="0">
                <a:solidFill>
                  <a:srgbClr val="B85C1E"/>
                </a:solidFill>
              </a:rPr>
              <a:t>Next</a:t>
            </a:r>
            <a:endParaRPr lang="en-US" sz="1500" dirty="0"/>
          </a:p>
        </p:txBody>
      </p:sp>
      <p:sp>
        <p:nvSpPr>
          <p:cNvPr id="20" name="Text 18"/>
          <p:cNvSpPr txBox="1"/>
          <p:nvPr/>
        </p:nvSpPr>
        <p:spPr>
          <a:xfrm>
            <a:off x="5486400" y="3291840"/>
            <a:ext cx="3108960" cy="13258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rgbClr val="2D3748"/>
                </a:solidFill>
              </a:rPr>
              <a:t>Labels come from the dataset; we could not verify who labeled them</a:t>
            </a:r>
            <a:endParaRPr lang="en-US" sz="1300" dirty="0"/>
          </a:p>
          <a:p>
            <a:pPr marL="152400" indent="-152400">
              <a:spcAft>
                <a:spcPts val="400"/>
              </a:spcAft>
              <a:buSzPct val="100000"/>
              <a:buChar char="•"/>
            </a:pPr>
            <a:r>
              <a:rPr lang="en-US" sz="1300" dirty="0">
                <a:solidFill>
                  <a:srgbClr val="2D3748"/>
                </a:solidFill>
              </a:rPr>
              <a:t>Repeat with 3 runs per resume to check run-to-run noise</a:t>
            </a:r>
            <a:endParaRPr lang="en-US" sz="1300" dirty="0"/>
          </a:p>
        </p:txBody>
      </p:sp>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p:cNvSpPr txBox="1"/>
          <p:nvPr/>
        </p:nvSpPr>
        <p:spPr>
          <a:xfrm>
            <a:off x="548640" y="365760"/>
            <a:ext cx="5120640" cy="274320"/>
          </a:xfrm>
          <a:prstGeom prst="rect">
            <a:avLst/>
          </a:prstGeom>
          <a:noFill/>
          <a:ln/>
        </p:spPr>
        <p:txBody>
          <a:bodyPr wrap="square" lIns="0" tIns="0" rIns="0" bIns="0" rtlCol="0" anchor="ctr"/>
          <a:lstStyle/>
          <a:p>
            <a:pPr indent="0" marL="0">
              <a:buNone/>
            </a:pPr>
            <a:r>
              <a:rPr lang="en-US" sz="1200" spc="150" kern="0" dirty="0">
                <a:solidFill>
                  <a:srgbClr val="B85C1E"/>
                </a:solidFill>
                <a:latin typeface="Courier New" pitchFamily="34" charset="0"/>
                <a:ea typeface="Courier New" pitchFamily="34" charset="-122"/>
                <a:cs typeface="Courier New" pitchFamily="34" charset="-120"/>
              </a:rPr>
              <a:t>02 · SINGLE-AGENT BASELINE</a:t>
            </a:r>
            <a:endParaRPr lang="en-US" sz="1200" dirty="0"/>
          </a:p>
        </p:txBody>
      </p:sp>
      <p:sp>
        <p:nvSpPr>
          <p:cNvPr id="3" name="status"/>
          <p:cNvSpPr/>
          <p:nvPr/>
        </p:nvSpPr>
        <p:spPr>
          <a:xfrm>
            <a:off x="5669280" y="329184"/>
            <a:ext cx="2926080" cy="329184"/>
          </a:xfrm>
          <a:prstGeom prst="roundRect">
            <a:avLst>
              <a:gd name="adj" fmla="val 138889"/>
            </a:avLst>
          </a:prstGeom>
          <a:solidFill>
            <a:srgbClr val="2F5D8C"/>
          </a:solidFill>
          <a:ln/>
        </p:spPr>
        <p:txBody>
          <a:bodyPr wrap="square" lIns="0" tIns="0" rIns="0" bIns="0" rtlCol="0" anchor="ctr"/>
          <a:lstStyle/>
          <a:p>
            <a:pPr algn="ctr" indent="0" marL="0">
              <a:buNone/>
            </a:pPr>
            <a:r>
              <a:rPr lang="en-US" sz="1100" b="1" dirty="0">
                <a:solidFill>
                  <a:srgbClr val="F7F5EF"/>
                </a:solidFill>
              </a:rPr>
              <a:t>Built · evaluated</a:t>
            </a:r>
            <a:endParaRPr lang="en-US" sz="1100" dirty="0"/>
          </a:p>
        </p:txBody>
      </p:sp>
      <p:sp>
        <p:nvSpPr>
          <p:cNvPr id="4" name="Text 0"/>
          <p:cNvSpPr/>
          <p:nvPr>
            <p:ph idx="100" type="title" hasCustomPrompt="1"/>
          </p:nvPr>
        </p:nvSpPr>
        <p:spPr>
          <a:xfrm>
            <a:off x="548640" y="777240"/>
            <a:ext cx="8046720" cy="548640"/>
          </a:xfrm>
          <a:prstGeom prst="rect">
            <a:avLst/>
          </a:prstGeom>
          <a:noFill/>
          <a:ln/>
        </p:spPr>
        <p:txBody>
          <a:bodyPr wrap="square" lIns="0" tIns="0" rIns="0" bIns="0" rtlCol="0" anchor="t"/>
          <a:lstStyle/>
          <a:p>
            <a:pPr algn="l" indent="0" marL="0">
              <a:buNone/>
            </a:pPr>
            <a:r>
              <a:rPr lang="en-US" sz="2800" b="1" dirty="0">
                <a:solidFill>
                  <a:srgbClr val="14213D"/>
                </a:solidFill>
              </a:rPr>
              <a:t>One prompt reads everything, returns top 5</a:t>
            </a:r>
            <a:endParaRPr lang="en-US" sz="2800" dirty="0"/>
          </a:p>
        </p:txBody>
      </p:sp>
      <p:sp>
        <p:nvSpPr>
          <p:cNvPr id="5" name="Shape 3"/>
          <p:cNvSpPr/>
          <p:nvPr/>
        </p:nvSpPr>
        <p:spPr>
          <a:xfrm>
            <a:off x="548640" y="1508760"/>
            <a:ext cx="8046720" cy="1234440"/>
          </a:xfrm>
          <a:prstGeom prst="roundRect">
            <a:avLst>
              <a:gd name="adj" fmla="val 5926"/>
            </a:avLst>
          </a:prstGeom>
          <a:solidFill>
            <a:srgbClr val="FFFFFF"/>
          </a:solidFill>
          <a:ln w="9525">
            <a:solidFill>
              <a:srgbClr val="E2DED3"/>
            </a:solidFill>
            <a:prstDash val="solid"/>
          </a:ln>
        </p:spPr>
      </p:sp>
      <p:sp>
        <p:nvSpPr>
          <p:cNvPr id="6" name="Text 4"/>
          <p:cNvSpPr/>
          <p:nvPr/>
        </p:nvSpPr>
        <p:spPr>
          <a:xfrm>
            <a:off x="731520" y="1783080"/>
            <a:ext cx="1543050" cy="685800"/>
          </a:xfrm>
          <a:prstGeom prst="roundRect">
            <a:avLst>
              <a:gd name="adj" fmla="val 8000"/>
            </a:avLst>
          </a:prstGeom>
          <a:solidFill>
            <a:srgbClr val="E8EEF5"/>
          </a:solidFill>
          <a:ln/>
        </p:spPr>
        <p:txBody>
          <a:bodyPr wrap="square" lIns="50800" tIns="50800" rIns="50800" bIns="50800" rtlCol="0" anchor="ctr"/>
          <a:lstStyle/>
          <a:p>
            <a:pPr algn="ctr" indent="0" marL="0">
              <a:buNone/>
            </a:pPr>
            <a:r>
              <a:rPr lang="en-US" sz="1400" b="1" dirty="0">
                <a:solidFill>
                  <a:srgbClr val="14213D"/>
                </a:solidFill>
              </a:rPr>
              <a:t>Resume text</a:t>
            </a:r>
            <a:endParaRPr lang="en-US" sz="1400" dirty="0"/>
          </a:p>
        </p:txBody>
      </p:sp>
      <p:sp>
        <p:nvSpPr>
          <p:cNvPr id="7" name="Shape 5"/>
          <p:cNvSpPr/>
          <p:nvPr/>
        </p:nvSpPr>
        <p:spPr>
          <a:xfrm>
            <a:off x="2366010" y="2011680"/>
            <a:ext cx="320040" cy="228600"/>
          </a:xfrm>
          <a:prstGeom prst="rightArrow">
            <a:avLst/>
          </a:prstGeom>
          <a:solidFill>
            <a:srgbClr val="B85C1E"/>
          </a:solidFill>
          <a:ln w="12700">
            <a:solidFill>
              <a:srgbClr val="B85C1E"/>
            </a:solidFill>
            <a:prstDash val="solid"/>
          </a:ln>
        </p:spPr>
      </p:sp>
      <p:sp>
        <p:nvSpPr>
          <p:cNvPr id="8" name="Text 6"/>
          <p:cNvSpPr/>
          <p:nvPr/>
        </p:nvSpPr>
        <p:spPr>
          <a:xfrm>
            <a:off x="2777490" y="1783080"/>
            <a:ext cx="1543050" cy="685800"/>
          </a:xfrm>
          <a:prstGeom prst="roundRect">
            <a:avLst>
              <a:gd name="adj" fmla="val 8000"/>
            </a:avLst>
          </a:prstGeom>
          <a:solidFill>
            <a:srgbClr val="E8EEF5"/>
          </a:solidFill>
          <a:ln/>
        </p:spPr>
        <p:txBody>
          <a:bodyPr wrap="square" lIns="50800" tIns="50800" rIns="50800" bIns="50800" rtlCol="0" anchor="ctr"/>
          <a:lstStyle/>
          <a:p>
            <a:pPr algn="ctr" indent="0" marL="0">
              <a:buNone/>
            </a:pPr>
            <a:r>
              <a:rPr lang="en-US" sz="1400" b="1" dirty="0">
                <a:solidFill>
                  <a:srgbClr val="14213D"/>
                </a:solidFill>
              </a:rPr>
              <a:t>All pool jobs</a:t>
            </a:r>
            <a:endParaRPr lang="en-US" sz="1400" dirty="0"/>
          </a:p>
        </p:txBody>
      </p:sp>
      <p:sp>
        <p:nvSpPr>
          <p:cNvPr id="9" name="Shape 7"/>
          <p:cNvSpPr/>
          <p:nvPr/>
        </p:nvSpPr>
        <p:spPr>
          <a:xfrm>
            <a:off x="4411980" y="2011680"/>
            <a:ext cx="320040" cy="228600"/>
          </a:xfrm>
          <a:prstGeom prst="rightArrow">
            <a:avLst/>
          </a:prstGeom>
          <a:solidFill>
            <a:srgbClr val="B85C1E"/>
          </a:solidFill>
          <a:ln w="12700">
            <a:solidFill>
              <a:srgbClr val="B85C1E"/>
            </a:solidFill>
            <a:prstDash val="solid"/>
          </a:ln>
        </p:spPr>
      </p:sp>
      <p:sp>
        <p:nvSpPr>
          <p:cNvPr id="10" name="Text 8"/>
          <p:cNvSpPr/>
          <p:nvPr/>
        </p:nvSpPr>
        <p:spPr>
          <a:xfrm>
            <a:off x="4823460" y="1783080"/>
            <a:ext cx="1543050" cy="685800"/>
          </a:xfrm>
          <a:prstGeom prst="roundRect">
            <a:avLst>
              <a:gd name="adj" fmla="val 8000"/>
            </a:avLst>
          </a:prstGeom>
          <a:solidFill>
            <a:srgbClr val="14213D"/>
          </a:solidFill>
          <a:ln/>
        </p:spPr>
        <p:txBody>
          <a:bodyPr wrap="square" lIns="50800" tIns="50800" rIns="50800" bIns="50800" rtlCol="0" anchor="ctr"/>
          <a:lstStyle/>
          <a:p>
            <a:pPr algn="ctr" indent="0" marL="0">
              <a:buNone/>
            </a:pPr>
            <a:r>
              <a:rPr lang="en-US" sz="1400" b="1" dirty="0">
                <a:solidFill>
                  <a:srgbClr val="F7F5EF"/>
                </a:solidFill>
              </a:rPr>
              <a:t>Single prompt</a:t>
            </a:r>
            <a:endParaRPr lang="en-US" sz="1400" dirty="0"/>
          </a:p>
        </p:txBody>
      </p:sp>
      <p:sp>
        <p:nvSpPr>
          <p:cNvPr id="11" name="Shape 9"/>
          <p:cNvSpPr/>
          <p:nvPr/>
        </p:nvSpPr>
        <p:spPr>
          <a:xfrm>
            <a:off x="6457950" y="2011680"/>
            <a:ext cx="320040" cy="228600"/>
          </a:xfrm>
          <a:prstGeom prst="rightArrow">
            <a:avLst/>
          </a:prstGeom>
          <a:solidFill>
            <a:srgbClr val="B85C1E"/>
          </a:solidFill>
          <a:ln w="12700">
            <a:solidFill>
              <a:srgbClr val="B85C1E"/>
            </a:solidFill>
            <a:prstDash val="solid"/>
          </a:ln>
        </p:spPr>
      </p:sp>
      <p:sp>
        <p:nvSpPr>
          <p:cNvPr id="12" name="Text 10"/>
          <p:cNvSpPr/>
          <p:nvPr/>
        </p:nvSpPr>
        <p:spPr>
          <a:xfrm>
            <a:off x="6869430" y="1783080"/>
            <a:ext cx="1543050" cy="685800"/>
          </a:xfrm>
          <a:prstGeom prst="roundRect">
            <a:avLst>
              <a:gd name="adj" fmla="val 8000"/>
            </a:avLst>
          </a:prstGeom>
          <a:solidFill>
            <a:srgbClr val="E8EEF5"/>
          </a:solidFill>
          <a:ln/>
        </p:spPr>
        <p:txBody>
          <a:bodyPr wrap="square" lIns="50800" tIns="50800" rIns="50800" bIns="50800" rtlCol="0" anchor="ctr"/>
          <a:lstStyle/>
          <a:p>
            <a:pPr algn="ctr" indent="0" marL="0">
              <a:buNone/>
            </a:pPr>
            <a:r>
              <a:rPr lang="en-US" sz="1400" b="1" dirty="0">
                <a:solidFill>
                  <a:srgbClr val="14213D"/>
                </a:solidFill>
              </a:rPr>
              <a:t>Top 5 + reasons</a:t>
            </a:r>
            <a:endParaRPr lang="en-US" sz="1400" dirty="0"/>
          </a:p>
        </p:txBody>
      </p:sp>
      <p:sp>
        <p:nvSpPr>
          <p:cNvPr id="13" name="Text 11"/>
          <p:cNvSpPr txBox="1"/>
          <p:nvPr/>
        </p:nvSpPr>
        <p:spPr>
          <a:xfrm>
            <a:off x="548640" y="2971800"/>
            <a:ext cx="4572000" cy="274320"/>
          </a:xfrm>
          <a:prstGeom prst="rect">
            <a:avLst/>
          </a:prstGeom>
          <a:noFill/>
          <a:ln/>
        </p:spPr>
        <p:txBody>
          <a:bodyPr wrap="square" lIns="0" tIns="0" rIns="0" bIns="0" rtlCol="0" anchor="ctr"/>
          <a:lstStyle/>
          <a:p>
            <a:pPr indent="0" marL="0">
              <a:buNone/>
            </a:pPr>
            <a:r>
              <a:rPr lang="en-US" sz="1500" b="1" dirty="0">
                <a:solidFill>
                  <a:srgbClr val="2F5D8C"/>
                </a:solidFill>
              </a:rPr>
              <a:t>Done</a:t>
            </a:r>
            <a:endParaRPr lang="en-US" sz="1500" dirty="0"/>
          </a:p>
        </p:txBody>
      </p:sp>
      <p:sp>
        <p:nvSpPr>
          <p:cNvPr id="14" name="Text 12"/>
          <p:cNvSpPr txBox="1"/>
          <p:nvPr/>
        </p:nvSpPr>
        <p:spPr>
          <a:xfrm>
            <a:off x="548640" y="3291840"/>
            <a:ext cx="4572000" cy="13258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rgbClr val="2D3748"/>
                </a:solidFill>
              </a:rPr>
              <a:t>One-call matcher with the same prompt, model and output check as the orchestrator</a:t>
            </a:r>
            <a:endParaRPr lang="en-US" sz="1300" dirty="0"/>
          </a:p>
          <a:p>
            <a:pPr marL="152400" indent="-152400">
              <a:spcAft>
                <a:spcPts val="400"/>
              </a:spcAft>
              <a:buSzPct val="100000"/>
              <a:buChar char="•"/>
            </a:pPr>
            <a:r>
              <a:rPr lang="en-US" sz="1300" dirty="0">
                <a:solidFill>
                  <a:srgbClr val="2D3748"/>
                </a:solidFill>
              </a:rPr>
              <a:t>Qwen3 14B, 28 eval resumes: nDCG@5 0.533, Precision@5 0.70, 0 of 28 runs failed</a:t>
            </a:r>
            <a:endParaRPr lang="en-US" sz="1300" dirty="0"/>
          </a:p>
          <a:p>
            <a:pPr marL="152400" indent="-152400">
              <a:spcAft>
                <a:spcPts val="400"/>
              </a:spcAft>
              <a:buSzPct val="100000"/>
              <a:buChar char="•"/>
            </a:pPr>
            <a:r>
              <a:rPr lang="en-US" sz="1300" dirty="0">
                <a:solidFill>
                  <a:srgbClr val="2D3748"/>
                </a:solidFill>
              </a:rPr>
              <a:t>Median 10.6s and 9.9k tokens per resume (4B run: nDCG@5 0.568)</a:t>
            </a:r>
            <a:endParaRPr lang="en-US" sz="1300" dirty="0"/>
          </a:p>
        </p:txBody>
      </p:sp>
      <p:sp>
        <p:nvSpPr>
          <p:cNvPr id="15" name="Text 13"/>
          <p:cNvSpPr txBox="1"/>
          <p:nvPr/>
        </p:nvSpPr>
        <p:spPr>
          <a:xfrm>
            <a:off x="5486400" y="2971800"/>
            <a:ext cx="3108960" cy="274320"/>
          </a:xfrm>
          <a:prstGeom prst="rect">
            <a:avLst/>
          </a:prstGeom>
          <a:noFill/>
          <a:ln/>
        </p:spPr>
        <p:txBody>
          <a:bodyPr wrap="square" lIns="0" tIns="0" rIns="0" bIns="0" rtlCol="0" anchor="ctr"/>
          <a:lstStyle/>
          <a:p>
            <a:pPr indent="0" marL="0">
              <a:buNone/>
            </a:pPr>
            <a:r>
              <a:rPr lang="en-US" sz="1500" b="1" dirty="0">
                <a:solidFill>
                  <a:srgbClr val="B85C1E"/>
                </a:solidFill>
              </a:rPr>
              <a:t>Next</a:t>
            </a:r>
            <a:endParaRPr lang="en-US" sz="1500" dirty="0"/>
          </a:p>
        </p:txBody>
      </p:sp>
      <p:sp>
        <p:nvSpPr>
          <p:cNvPr id="16" name="Text 14"/>
          <p:cNvSpPr txBox="1"/>
          <p:nvPr/>
        </p:nvSpPr>
        <p:spPr>
          <a:xfrm>
            <a:off x="5486400" y="3291840"/>
            <a:ext cx="3108960" cy="13258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rgbClr val="2D3748"/>
                </a:solidFill>
              </a:rPr>
              <a:t>Look at low scorers (P23: 0.25, P10: 0.26)</a:t>
            </a:r>
            <a:endParaRPr lang="en-US" sz="1300" dirty="0"/>
          </a:p>
          <a:p>
            <a:pPr marL="152400" indent="-152400">
              <a:spcAft>
                <a:spcPts val="400"/>
              </a:spcAft>
              <a:buSzPct val="100000"/>
              <a:buChar char="•"/>
            </a:pPr>
            <a:r>
              <a:rPr lang="en-US" sz="1300" dirty="0">
                <a:solidFill>
                  <a:srgbClr val="2D3748"/>
                </a:solidFill>
              </a:rPr>
              <a:t>More repetitions per resume</a:t>
            </a:r>
            <a:endParaRPr lang="en-US" sz="1300" dirty="0"/>
          </a:p>
        </p:txBody>
      </p:sp>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eyebrow"/>
          <p:cNvSpPr txBox="1"/>
          <p:nvPr/>
        </p:nvSpPr>
        <p:spPr>
          <a:xfrm>
            <a:off x="548640" y="365760"/>
            <a:ext cx="5120640" cy="274320"/>
          </a:xfrm>
          <a:prstGeom prst="rect">
            <a:avLst/>
          </a:prstGeom>
          <a:noFill/>
          <a:ln/>
        </p:spPr>
        <p:txBody>
          <a:bodyPr wrap="square" lIns="0" tIns="0" rIns="0" bIns="0" rtlCol="0" anchor="ctr"/>
          <a:lstStyle/>
          <a:p>
            <a:pPr indent="0" marL="0">
              <a:buNone/>
            </a:pPr>
            <a:r>
              <a:rPr lang="en-US" sz="1200" spc="150" kern="0" dirty="0">
                <a:solidFill>
                  <a:srgbClr val="B85C1E"/>
                </a:solidFill>
                <a:latin typeface="Courier New" pitchFamily="34" charset="0"/>
                <a:ea typeface="Courier New" pitchFamily="34" charset="-122"/>
                <a:cs typeface="Courier New" pitchFamily="34" charset="-120"/>
              </a:rPr>
              <a:t>03 · ORCHESTRATED WORKFLOW · KEVIN DO</a:t>
            </a:r>
            <a:endParaRPr lang="en-US" sz="1200" dirty="0"/>
          </a:p>
        </p:txBody>
      </p:sp>
      <p:sp>
        <p:nvSpPr>
          <p:cNvPr id="3" name="status"/>
          <p:cNvSpPr/>
          <p:nvPr/>
        </p:nvSpPr>
        <p:spPr>
          <a:xfrm>
            <a:off x="5669280" y="329184"/>
            <a:ext cx="2926080" cy="329184"/>
          </a:xfrm>
          <a:prstGeom prst="roundRect">
            <a:avLst>
              <a:gd name="adj" fmla="val 138889"/>
            </a:avLst>
          </a:prstGeom>
          <a:solidFill>
            <a:srgbClr val="2F5D8C"/>
          </a:solidFill>
          <a:ln/>
        </p:spPr>
        <p:txBody>
          <a:bodyPr wrap="square" lIns="0" tIns="0" rIns="0" bIns="0" rtlCol="0" anchor="ctr"/>
          <a:lstStyle/>
          <a:p>
            <a:pPr algn="ctr" indent="0" marL="0">
              <a:buNone/>
            </a:pPr>
            <a:r>
              <a:rPr lang="en-US" sz="1100" b="1" dirty="0">
                <a:solidFill>
                  <a:srgbClr val="F7F5EF"/>
                </a:solidFill>
              </a:rPr>
              <a:t>Built · evaluated</a:t>
            </a:r>
            <a:endParaRPr lang="en-US" sz="1100" dirty="0"/>
          </a:p>
        </p:txBody>
      </p:sp>
      <p:sp>
        <p:nvSpPr>
          <p:cNvPr id="4" name="Text 0"/>
          <p:cNvSpPr/>
          <p:nvPr>
            <p:ph idx="100" type="title" hasCustomPrompt="1"/>
          </p:nvPr>
        </p:nvSpPr>
        <p:spPr>
          <a:xfrm>
            <a:off x="548640" y="777240"/>
            <a:ext cx="8046720" cy="548640"/>
          </a:xfrm>
          <a:prstGeom prst="rect">
            <a:avLst/>
          </a:prstGeom>
          <a:noFill/>
          <a:ln/>
        </p:spPr>
        <p:txBody>
          <a:bodyPr wrap="square" lIns="0" tIns="0" rIns="0" bIns="0" rtlCol="0" anchor="t"/>
          <a:lstStyle/>
          <a:p>
            <a:pPr algn="l" indent="0" marL="0">
              <a:buNone/>
            </a:pPr>
            <a:r>
              <a:rPr lang="en-US" sz="2800" b="1" dirty="0">
                <a:solidFill>
                  <a:srgbClr val="14213D"/>
                </a:solidFill>
              </a:rPr>
              <a:t>Three workers chained by a Python script</a:t>
            </a:r>
            <a:endParaRPr lang="en-US" sz="2800" dirty="0"/>
          </a:p>
        </p:txBody>
      </p:sp>
      <p:sp>
        <p:nvSpPr>
          <p:cNvPr id="5" name="Shape 3"/>
          <p:cNvSpPr/>
          <p:nvPr/>
        </p:nvSpPr>
        <p:spPr>
          <a:xfrm>
            <a:off x="548640" y="1508760"/>
            <a:ext cx="8046720" cy="1234440"/>
          </a:xfrm>
          <a:prstGeom prst="roundRect">
            <a:avLst>
              <a:gd name="adj" fmla="val 5926"/>
            </a:avLst>
          </a:prstGeom>
          <a:solidFill>
            <a:srgbClr val="FFFFFF"/>
          </a:solidFill>
          <a:ln w="9525">
            <a:solidFill>
              <a:srgbClr val="E2DED3"/>
            </a:solidFill>
            <a:prstDash val="solid"/>
          </a:ln>
        </p:spPr>
      </p:sp>
      <p:sp>
        <p:nvSpPr>
          <p:cNvPr id="6" name="Text 4"/>
          <p:cNvSpPr/>
          <p:nvPr/>
        </p:nvSpPr>
        <p:spPr>
          <a:xfrm>
            <a:off x="731520" y="1783080"/>
            <a:ext cx="1543050" cy="685800"/>
          </a:xfrm>
          <a:prstGeom prst="roundRect">
            <a:avLst>
              <a:gd name="adj" fmla="val 8000"/>
            </a:avLst>
          </a:prstGeom>
          <a:solidFill>
            <a:srgbClr val="14213D"/>
          </a:solidFill>
          <a:ln/>
        </p:spPr>
        <p:txBody>
          <a:bodyPr wrap="square" lIns="50800" tIns="50800" rIns="50800" bIns="50800" rtlCol="0" anchor="ctr"/>
          <a:lstStyle/>
          <a:p>
            <a:pPr algn="ctr" indent="0" marL="0">
              <a:buNone/>
            </a:pPr>
            <a:r>
              <a:rPr lang="en-US" sz="1400" b="1" dirty="0">
                <a:solidFill>
                  <a:srgbClr val="F7F5EF"/>
                </a:solidFill>
              </a:rPr>
              <a:t>Resume parser</a:t>
            </a:r>
            <a:endParaRPr lang="en-US" sz="1400" dirty="0"/>
          </a:p>
        </p:txBody>
      </p:sp>
      <p:sp>
        <p:nvSpPr>
          <p:cNvPr id="7" name="Shape 5"/>
          <p:cNvSpPr/>
          <p:nvPr/>
        </p:nvSpPr>
        <p:spPr>
          <a:xfrm>
            <a:off x="2366010" y="2011680"/>
            <a:ext cx="320040" cy="228600"/>
          </a:xfrm>
          <a:prstGeom prst="rightArrow">
            <a:avLst/>
          </a:prstGeom>
          <a:solidFill>
            <a:srgbClr val="B85C1E"/>
          </a:solidFill>
          <a:ln w="12700">
            <a:solidFill>
              <a:srgbClr val="B85C1E"/>
            </a:solidFill>
            <a:prstDash val="solid"/>
          </a:ln>
        </p:spPr>
      </p:sp>
      <p:sp>
        <p:nvSpPr>
          <p:cNvPr id="8" name="Text 6"/>
          <p:cNvSpPr/>
          <p:nvPr/>
        </p:nvSpPr>
        <p:spPr>
          <a:xfrm>
            <a:off x="2777490" y="1783080"/>
            <a:ext cx="1543050" cy="685800"/>
          </a:xfrm>
          <a:prstGeom prst="roundRect">
            <a:avLst>
              <a:gd name="adj" fmla="val 8000"/>
            </a:avLst>
          </a:prstGeom>
          <a:solidFill>
            <a:srgbClr val="14213D"/>
          </a:solidFill>
          <a:ln/>
        </p:spPr>
        <p:txBody>
          <a:bodyPr wrap="square" lIns="50800" tIns="50800" rIns="50800" bIns="50800" rtlCol="0" anchor="ctr"/>
          <a:lstStyle/>
          <a:p>
            <a:pPr algn="ctr" indent="0" marL="0">
              <a:buNone/>
            </a:pPr>
            <a:r>
              <a:rPr lang="en-US" sz="1400" b="1" dirty="0">
                <a:solidFill>
                  <a:srgbClr val="F7F5EF"/>
                </a:solidFill>
              </a:rPr>
              <a:t>Requirement extractor</a:t>
            </a:r>
            <a:endParaRPr lang="en-US" sz="1400" dirty="0"/>
          </a:p>
        </p:txBody>
      </p:sp>
      <p:sp>
        <p:nvSpPr>
          <p:cNvPr id="9" name="Shape 7"/>
          <p:cNvSpPr/>
          <p:nvPr/>
        </p:nvSpPr>
        <p:spPr>
          <a:xfrm>
            <a:off x="4411980" y="2011680"/>
            <a:ext cx="320040" cy="228600"/>
          </a:xfrm>
          <a:prstGeom prst="rightArrow">
            <a:avLst/>
          </a:prstGeom>
          <a:solidFill>
            <a:srgbClr val="B85C1E"/>
          </a:solidFill>
          <a:ln w="12700">
            <a:solidFill>
              <a:srgbClr val="B85C1E"/>
            </a:solidFill>
            <a:prstDash val="solid"/>
          </a:ln>
        </p:spPr>
      </p:sp>
      <p:sp>
        <p:nvSpPr>
          <p:cNvPr id="10" name="Text 8"/>
          <p:cNvSpPr/>
          <p:nvPr/>
        </p:nvSpPr>
        <p:spPr>
          <a:xfrm>
            <a:off x="4823460" y="1783080"/>
            <a:ext cx="1543050" cy="685800"/>
          </a:xfrm>
          <a:prstGeom prst="roundRect">
            <a:avLst>
              <a:gd name="adj" fmla="val 8000"/>
            </a:avLst>
          </a:prstGeom>
          <a:solidFill>
            <a:srgbClr val="14213D"/>
          </a:solidFill>
          <a:ln/>
        </p:spPr>
        <p:txBody>
          <a:bodyPr wrap="square" lIns="50800" tIns="50800" rIns="50800" bIns="50800" rtlCol="0" anchor="ctr"/>
          <a:lstStyle/>
          <a:p>
            <a:pPr algn="ctr" indent="0" marL="0">
              <a:buNone/>
            </a:pPr>
            <a:r>
              <a:rPr lang="en-US" sz="1400" b="1" dirty="0">
                <a:solidFill>
                  <a:srgbClr val="F7F5EF"/>
                </a:solidFill>
              </a:rPr>
              <a:t>Scorer &amp; ranker</a:t>
            </a:r>
            <a:endParaRPr lang="en-US" sz="1400" dirty="0"/>
          </a:p>
        </p:txBody>
      </p:sp>
      <p:sp>
        <p:nvSpPr>
          <p:cNvPr id="11" name="Shape 9"/>
          <p:cNvSpPr/>
          <p:nvPr/>
        </p:nvSpPr>
        <p:spPr>
          <a:xfrm>
            <a:off x="6457950" y="2011680"/>
            <a:ext cx="320040" cy="228600"/>
          </a:xfrm>
          <a:prstGeom prst="rightArrow">
            <a:avLst/>
          </a:prstGeom>
          <a:solidFill>
            <a:srgbClr val="B85C1E"/>
          </a:solidFill>
          <a:ln w="12700">
            <a:solidFill>
              <a:srgbClr val="B85C1E"/>
            </a:solidFill>
            <a:prstDash val="solid"/>
          </a:ln>
        </p:spPr>
      </p:sp>
      <p:sp>
        <p:nvSpPr>
          <p:cNvPr id="12" name="Text 10"/>
          <p:cNvSpPr/>
          <p:nvPr/>
        </p:nvSpPr>
        <p:spPr>
          <a:xfrm>
            <a:off x="6869430" y="1783080"/>
            <a:ext cx="1543050" cy="685800"/>
          </a:xfrm>
          <a:prstGeom prst="roundRect">
            <a:avLst>
              <a:gd name="adj" fmla="val 8000"/>
            </a:avLst>
          </a:prstGeom>
          <a:solidFill>
            <a:srgbClr val="E8EEF5"/>
          </a:solidFill>
          <a:ln/>
        </p:spPr>
        <p:txBody>
          <a:bodyPr wrap="square" lIns="50800" tIns="50800" rIns="50800" bIns="50800" rtlCol="0" anchor="ctr"/>
          <a:lstStyle/>
          <a:p>
            <a:pPr algn="ctr" indent="0" marL="0">
              <a:buNone/>
            </a:pPr>
            <a:r>
              <a:rPr lang="en-US" sz="1400" b="1" dirty="0">
                <a:solidFill>
                  <a:srgbClr val="14213D"/>
                </a:solidFill>
              </a:rPr>
              <a:t>Top 5</a:t>
            </a:r>
            <a:endParaRPr lang="en-US" sz="1400" dirty="0"/>
          </a:p>
        </p:txBody>
      </p:sp>
      <p:sp>
        <p:nvSpPr>
          <p:cNvPr id="13" name="Text 11"/>
          <p:cNvSpPr txBox="1"/>
          <p:nvPr/>
        </p:nvSpPr>
        <p:spPr>
          <a:xfrm>
            <a:off x="548640" y="2971800"/>
            <a:ext cx="4572000" cy="274320"/>
          </a:xfrm>
          <a:prstGeom prst="rect">
            <a:avLst/>
          </a:prstGeom>
          <a:noFill/>
          <a:ln/>
        </p:spPr>
        <p:txBody>
          <a:bodyPr wrap="square" lIns="0" tIns="0" rIns="0" bIns="0" rtlCol="0" anchor="ctr"/>
          <a:lstStyle/>
          <a:p>
            <a:pPr indent="0" marL="0">
              <a:buNone/>
            </a:pPr>
            <a:r>
              <a:rPr lang="en-US" sz="1500" b="1" dirty="0">
                <a:solidFill>
                  <a:srgbClr val="2F5D8C"/>
                </a:solidFill>
              </a:rPr>
              <a:t>Done</a:t>
            </a:r>
            <a:endParaRPr lang="en-US" sz="1500" dirty="0"/>
          </a:p>
        </p:txBody>
      </p:sp>
      <p:sp>
        <p:nvSpPr>
          <p:cNvPr id="14" name="Text 12"/>
          <p:cNvSpPr txBox="1"/>
          <p:nvPr/>
        </p:nvSpPr>
        <p:spPr>
          <a:xfrm>
            <a:off x="548640" y="3291840"/>
            <a:ext cx="4572000" cy="13258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rgbClr val="2D3748"/>
                </a:solidFill>
              </a:rPr>
              <a:t>Resume parser output cap raised to 4,000 tokens and limited to 15 skills: fixed the 2 failed runs from the 4B run</a:t>
            </a:r>
            <a:endParaRPr lang="en-US" sz="1300" dirty="0"/>
          </a:p>
          <a:p>
            <a:pPr marL="152400" indent="-152400">
              <a:spcAft>
                <a:spcPts val="400"/>
              </a:spcAft>
              <a:buSzPct val="100000"/>
              <a:buChar char="•"/>
            </a:pPr>
            <a:r>
              <a:rPr lang="en-US" sz="1300" dirty="0">
                <a:solidFill>
                  <a:srgbClr val="2D3748"/>
                </a:solidFill>
              </a:rPr>
              <a:t>Qwen3 14B, 28 eval resumes: nDCG@5 0.486, Precision@5 0.66, 0 of 28 runs failed</a:t>
            </a:r>
            <a:endParaRPr lang="en-US" sz="1300" dirty="0"/>
          </a:p>
          <a:p>
            <a:pPr marL="152400" indent="-152400">
              <a:spcAft>
                <a:spcPts val="400"/>
              </a:spcAft>
              <a:buSzPct val="100000"/>
              <a:buChar char="•"/>
            </a:pPr>
            <a:r>
              <a:rPr lang="en-US" sz="1300" dirty="0">
                <a:solidFill>
                  <a:srgbClr val="2D3748"/>
                </a:solidFill>
              </a:rPr>
              <a:t>Median 40.8s and 32.0k tokens per resume</a:t>
            </a:r>
            <a:endParaRPr lang="en-US" sz="1300" dirty="0"/>
          </a:p>
        </p:txBody>
      </p:sp>
      <p:sp>
        <p:nvSpPr>
          <p:cNvPr id="15" name="Text 13"/>
          <p:cNvSpPr txBox="1"/>
          <p:nvPr/>
        </p:nvSpPr>
        <p:spPr>
          <a:xfrm>
            <a:off x="5486400" y="2971800"/>
            <a:ext cx="3108960" cy="274320"/>
          </a:xfrm>
          <a:prstGeom prst="rect">
            <a:avLst/>
          </a:prstGeom>
          <a:noFill/>
          <a:ln/>
        </p:spPr>
        <p:txBody>
          <a:bodyPr wrap="square" lIns="0" tIns="0" rIns="0" bIns="0" rtlCol="0" anchor="ctr"/>
          <a:lstStyle/>
          <a:p>
            <a:pPr indent="0" marL="0">
              <a:buNone/>
            </a:pPr>
            <a:r>
              <a:rPr lang="en-US" sz="1500" b="1" dirty="0">
                <a:solidFill>
                  <a:srgbClr val="B85C1E"/>
                </a:solidFill>
              </a:rPr>
              <a:t>Next</a:t>
            </a:r>
            <a:endParaRPr lang="en-US" sz="1500" dirty="0"/>
          </a:p>
        </p:txBody>
      </p:sp>
      <p:sp>
        <p:nvSpPr>
          <p:cNvPr id="16" name="Text 14"/>
          <p:cNvSpPr txBox="1"/>
          <p:nvPr/>
        </p:nvSpPr>
        <p:spPr>
          <a:xfrm>
            <a:off x="5486400" y="3291840"/>
            <a:ext cx="3108960" cy="13258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rgbClr val="2D3748"/>
                </a:solidFill>
              </a:rPr>
              <a:t>One resume (P06) scored 0 while the other 27 were fine; find out why</a:t>
            </a:r>
            <a:endParaRPr lang="en-US" sz="1300" dirty="0"/>
          </a:p>
          <a:p>
            <a:pPr marL="152400" indent="-152400">
              <a:spcAft>
                <a:spcPts val="400"/>
              </a:spcAft>
              <a:buSzPct val="100000"/>
              <a:buChar char="•"/>
            </a:pPr>
            <a:r>
              <a:rPr lang="en-US" sz="1300" dirty="0">
                <a:solidFill>
                  <a:srgbClr val="2D3748"/>
                </a:solidFill>
              </a:rPr>
              <a:t>Test giving the ranker the full resume</a:t>
            </a:r>
            <a:endParaRPr lang="en-US" sz="1300" dirty="0"/>
          </a:p>
        </p:txBody>
      </p:sp>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eyebrow"/>
          <p:cNvSpPr txBox="1"/>
          <p:nvPr/>
        </p:nvSpPr>
        <p:spPr>
          <a:xfrm>
            <a:off x="548640" y="365760"/>
            <a:ext cx="5120640" cy="274320"/>
          </a:xfrm>
          <a:prstGeom prst="rect">
            <a:avLst/>
          </a:prstGeom>
          <a:noFill/>
          <a:ln/>
        </p:spPr>
        <p:txBody>
          <a:bodyPr wrap="square" lIns="0" tIns="0" rIns="0" bIns="0" rtlCol="0" anchor="ctr"/>
          <a:lstStyle/>
          <a:p>
            <a:pPr indent="0" marL="0">
              <a:buNone/>
            </a:pPr>
            <a:r>
              <a:rPr lang="en-US" sz="1200" spc="150" kern="0" dirty="0">
                <a:solidFill>
                  <a:srgbClr val="B85C1E"/>
                </a:solidFill>
                <a:latin typeface="Courier New" pitchFamily="34" charset="0"/>
                <a:ea typeface="Courier New" pitchFamily="34" charset="-122"/>
                <a:cs typeface="Courier New" pitchFamily="34" charset="-120"/>
              </a:rPr>
              <a:t>04 · FIRST MEASUREMENTS</a:t>
            </a:r>
            <a:endParaRPr lang="en-US" sz="1200" dirty="0"/>
          </a:p>
        </p:txBody>
      </p:sp>
      <p:sp>
        <p:nvSpPr>
          <p:cNvPr id="3" name="status"/>
          <p:cNvSpPr/>
          <p:nvPr/>
        </p:nvSpPr>
        <p:spPr>
          <a:xfrm>
            <a:off x="5669280" y="329184"/>
            <a:ext cx="2926080" cy="329184"/>
          </a:xfrm>
          <a:prstGeom prst="roundRect">
            <a:avLst>
              <a:gd name="adj" fmla="val 138889"/>
            </a:avLst>
          </a:prstGeom>
          <a:solidFill>
            <a:srgbClr val="2F5D8C"/>
          </a:solidFill>
          <a:ln/>
        </p:spPr>
        <p:txBody>
          <a:bodyPr wrap="square" lIns="0" tIns="0" rIns="0" bIns="0" rtlCol="0" anchor="ctr"/>
          <a:lstStyle/>
          <a:p>
            <a:pPr algn="ctr" indent="0" marL="0">
              <a:buNone/>
            </a:pPr>
            <a:r>
              <a:rPr lang="en-US" sz="1100" b="1" dirty="0">
                <a:solidFill>
                  <a:srgbClr val="F7F5EF"/>
                </a:solidFill>
              </a:rPr>
              <a:t>A100 · 4B and 14B</a:t>
            </a:r>
            <a:endParaRPr lang="en-US" sz="1100" dirty="0"/>
          </a:p>
        </p:txBody>
      </p:sp>
      <p:sp>
        <p:nvSpPr>
          <p:cNvPr id="4" name="Text 0"/>
          <p:cNvSpPr/>
          <p:nvPr>
            <p:ph idx="100" type="title" hasCustomPrompt="1"/>
          </p:nvPr>
        </p:nvSpPr>
        <p:spPr>
          <a:xfrm>
            <a:off x="548640" y="777240"/>
            <a:ext cx="8046720" cy="548640"/>
          </a:xfrm>
          <a:prstGeom prst="rect">
            <a:avLst/>
          </a:prstGeom>
          <a:noFill/>
          <a:ln/>
        </p:spPr>
        <p:txBody>
          <a:bodyPr wrap="square" lIns="0" tIns="0" rIns="0" bIns="0" rtlCol="0" anchor="t"/>
          <a:lstStyle/>
          <a:p>
            <a:pPr algn="l" indent="0" marL="0">
              <a:buNone/>
            </a:pPr>
            <a:r>
              <a:rPr lang="en-US" sz="2800" b="1" dirty="0">
                <a:solidFill>
                  <a:srgbClr val="14213D"/>
                </a:solidFill>
              </a:rPr>
              <a:t>Multi-agent took ~4x the time and ~3x the tokens</a:t>
            </a:r>
            <a:endParaRPr lang="en-US" sz="2800" dirty="0"/>
          </a:p>
        </p:txBody>
      </p:sp>
      <p:sp>
        <p:nvSpPr>
          <p:cNvPr id="5" name="Text 3"/>
          <p:cNvSpPr txBox="1"/>
          <p:nvPr/>
        </p:nvSpPr>
        <p:spPr>
          <a:xfrm>
            <a:off x="548640" y="1325880"/>
            <a:ext cx="8046720" cy="274320"/>
          </a:xfrm>
          <a:prstGeom prst="rect">
            <a:avLst/>
          </a:prstGeom>
          <a:noFill/>
          <a:ln/>
        </p:spPr>
        <p:txBody>
          <a:bodyPr wrap="square" lIns="0" tIns="0" rIns="0" bIns="0" rtlCol="0" anchor="ctr"/>
          <a:lstStyle/>
          <a:p>
            <a:pPr indent="0" marL="0">
              <a:buNone/>
            </a:pPr>
            <a:r>
              <a:rPr lang="en-US" sz="1300" dirty="0">
                <a:solidFill>
                  <a:srgbClr val="4A5568"/>
                </a:solidFill>
              </a:rPr>
              <a:t>Median per resume: multi is ~3.9x the time and ~3.2x the tokens, at both model sizes</a:t>
            </a:r>
            <a:endParaRPr lang="en-US" sz="1300" dirty="0"/>
          </a:p>
        </p:txBody>
      </p:sp>
      <p:sp>
        <p:nvSpPr>
          <p:cNvPr id="6" name="Shape 4"/>
          <p:cNvSpPr/>
          <p:nvPr/>
        </p:nvSpPr>
        <p:spPr>
          <a:xfrm>
            <a:off x="548640" y="1737360"/>
            <a:ext cx="3931920" cy="2880360"/>
          </a:xfrm>
          <a:prstGeom prst="roundRect">
            <a:avLst>
              <a:gd name="adj" fmla="val 2540"/>
            </a:avLst>
          </a:prstGeom>
          <a:solidFill>
            <a:srgbClr val="FFFFFF"/>
          </a:solidFill>
          <a:ln w="9525">
            <a:solidFill>
              <a:srgbClr val="E2DED3"/>
            </a:solidFill>
            <a:prstDash val="solid"/>
          </a:ln>
        </p:spPr>
      </p:sp>
      <p:sp>
        <p:nvSpPr>
          <p:cNvPr id="7" name="Shape 5"/>
          <p:cNvSpPr/>
          <p:nvPr/>
        </p:nvSpPr>
        <p:spPr>
          <a:xfrm>
            <a:off x="4663440" y="1737360"/>
            <a:ext cx="3931920" cy="2880360"/>
          </a:xfrm>
          <a:prstGeom prst="roundRect">
            <a:avLst>
              <a:gd name="adj" fmla="val 2540"/>
            </a:avLst>
          </a:prstGeom>
          <a:solidFill>
            <a:srgbClr val="FFFFFF"/>
          </a:solidFill>
          <a:ln w="9525">
            <a:solidFill>
              <a:srgbClr val="E2DED3"/>
            </a:solidFill>
            <a:prstDash val="solid"/>
          </a:ln>
        </p:spPr>
      </p:sp>
      <p:graphicFrame>
        <p:nvGraphicFramePr>
          <p:cNvPr id="8" name="time chart" descr=""/>
          <p:cNvGraphicFramePr/>
          <p:nvPr/>
        </p:nvGraphicFramePr>
        <p:xfrm>
          <a:off x="640080" y="1810512"/>
          <a:ext cx="3749040" cy="2743200"/>
        </p:xfrm>
        <a:graphic xmlns:a="http://schemas.openxmlformats.org/drawingml/2006/main">
          <a:graphicData uri="http://schemas.openxmlformats.org/drawingml/2006/chart">
            <c:chart xmlns:c="http://schemas.openxmlformats.org/drawingml/2006/chart" r:id="rId1"/>
          </a:graphicData>
        </a:graphic>
      </p:graphicFrame>
      <p:graphicFrame>
        <p:nvGraphicFramePr>
          <p:cNvPr id="9" name="token chart" descr=""/>
          <p:cNvGraphicFramePr/>
          <p:nvPr/>
        </p:nvGraphicFramePr>
        <p:xfrm>
          <a:off x="4754880" y="1810512"/>
          <a:ext cx="3749040" cy="274320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65760"/>
            <a:ext cx="5120640" cy="274320"/>
          </a:xfrm>
          <a:prstGeom prst="rect">
            <a:avLst/>
          </a:prstGeom>
          <a:noFill/>
          <a:ln/>
        </p:spPr>
        <p:txBody>
          <a:bodyPr wrap="square" lIns="0" tIns="0" rIns="0" bIns="0" rtlCol="0" anchor="ctr"/>
          <a:lstStyle/>
          <a:p>
            <a:pPr indent="0" marL="0">
              <a:buNone/>
            </a:pPr>
            <a:r>
              <a:rPr lang="en-US" sz="1200" spc="150" kern="0" dirty="0">
                <a:solidFill>
                  <a:srgbClr val="B85C1E"/>
                </a:solidFill>
                <a:latin typeface="Courier New" pitchFamily="34" charset="0"/>
                <a:ea typeface="Courier New" pitchFamily="34" charset="-122"/>
                <a:cs typeface="Courier New" pitchFamily="34" charset="-120"/>
              </a:rPr>
              <a:t>05 · ACCURACY (nDCG@5)</a:t>
            </a:r>
            <a:endParaRPr lang="en-US" sz="1200" dirty="0"/>
          </a:p>
        </p:txBody>
      </p:sp>
      <p:sp>
        <p:nvSpPr>
          <p:cNvPr id="3" name="status"/>
          <p:cNvSpPr/>
          <p:nvPr/>
        </p:nvSpPr>
        <p:spPr>
          <a:xfrm>
            <a:off x="5669280" y="329184"/>
            <a:ext cx="2926080" cy="329184"/>
          </a:xfrm>
          <a:prstGeom prst="roundRect">
            <a:avLst>
              <a:gd name="adj" fmla="val 138889"/>
            </a:avLst>
          </a:prstGeom>
          <a:solidFill>
            <a:srgbClr val="2F5D8C"/>
          </a:solidFill>
          <a:ln/>
        </p:spPr>
        <p:txBody>
          <a:bodyPr wrap="square" lIns="0" tIns="0" rIns="0" bIns="0" rtlCol="0" anchor="ctr"/>
          <a:lstStyle/>
          <a:p>
            <a:pPr algn="ctr" indent="0" marL="0">
              <a:buNone/>
            </a:pPr>
            <a:r>
              <a:rPr lang="en-US" sz="1100" b="1" dirty="0">
                <a:solidFill>
                  <a:srgbClr val="F7F5EF"/>
                </a:solidFill>
              </a:rPr>
              <a:t>Held-out eval · Qwen3 14B</a:t>
            </a:r>
            <a:endParaRPr lang="en-US" sz="1100" dirty="0"/>
          </a:p>
        </p:txBody>
      </p:sp>
      <p:sp>
        <p:nvSpPr>
          <p:cNvPr id="4" name="Text 0"/>
          <p:cNvSpPr/>
          <p:nvPr>
            <p:ph idx="100" type="title" hasCustomPrompt="1"/>
          </p:nvPr>
        </p:nvSpPr>
        <p:spPr>
          <a:xfrm>
            <a:off x="548640" y="777240"/>
            <a:ext cx="8046720" cy="548640"/>
          </a:xfrm>
          <a:prstGeom prst="rect">
            <a:avLst/>
          </a:prstGeom>
          <a:noFill/>
          <a:ln/>
        </p:spPr>
        <p:txBody>
          <a:bodyPr wrap="square" lIns="0" tIns="0" rIns="0" bIns="0" rtlCol="0" anchor="t"/>
          <a:lstStyle/>
          <a:p>
            <a:pPr algn="l" indent="0" marL="0">
              <a:buNone/>
            </a:pPr>
            <a:r>
              <a:rPr lang="en-US" sz="2800" b="1" dirty="0">
                <a:solidFill>
                  <a:srgbClr val="14213D"/>
                </a:solidFill>
              </a:rPr>
              <a:t>Single still ahead; a bigger model didn't help</a:t>
            </a:r>
            <a:endParaRPr lang="en-US" sz="2800" dirty="0"/>
          </a:p>
        </p:txBody>
      </p:sp>
      <p:sp>
        <p:nvSpPr>
          <p:cNvPr id="5" name="Text 3"/>
          <p:cNvSpPr txBox="1"/>
          <p:nvPr/>
        </p:nvSpPr>
        <p:spPr>
          <a:xfrm>
            <a:off x="548640" y="1325880"/>
            <a:ext cx="8046720" cy="274320"/>
          </a:xfrm>
          <a:prstGeom prst="rect">
            <a:avLst/>
          </a:prstGeom>
          <a:noFill/>
          <a:ln/>
        </p:spPr>
        <p:txBody>
          <a:bodyPr wrap="square" lIns="0" tIns="0" rIns="0" bIns="0" rtlCol="0" anchor="ctr"/>
          <a:lstStyle/>
          <a:p>
            <a:pPr indent="0" marL="0">
              <a:buNone/>
            </a:pPr>
            <a:r>
              <a:rPr lang="en-US" sz="1300" dirty="0">
                <a:solidFill>
                  <a:srgbClr val="4A5568"/>
                </a:solidFill>
              </a:rPr>
              <a:t>Single better on 15 resumes, multi on 12, tied on 1 · mean gap 0.05, not significant · random Precision@5 = 0.58</a:t>
            </a:r>
            <a:endParaRPr lang="en-US" sz="1300" dirty="0"/>
          </a:p>
        </p:txBody>
      </p:sp>
      <p:sp>
        <p:nvSpPr>
          <p:cNvPr id="6" name="Shape 4"/>
          <p:cNvSpPr/>
          <p:nvPr/>
        </p:nvSpPr>
        <p:spPr>
          <a:xfrm>
            <a:off x="548640" y="1737360"/>
            <a:ext cx="3931920" cy="2880360"/>
          </a:xfrm>
          <a:prstGeom prst="roundRect">
            <a:avLst>
              <a:gd name="adj" fmla="val 2540"/>
            </a:avLst>
          </a:prstGeom>
          <a:solidFill>
            <a:srgbClr val="FFFFFF"/>
          </a:solidFill>
          <a:ln w="9525">
            <a:solidFill>
              <a:srgbClr val="E2DED3"/>
            </a:solidFill>
            <a:prstDash val="solid"/>
          </a:ln>
        </p:spPr>
      </p:sp>
      <p:sp>
        <p:nvSpPr>
          <p:cNvPr id="7" name="Shape 5"/>
          <p:cNvSpPr/>
          <p:nvPr/>
        </p:nvSpPr>
        <p:spPr>
          <a:xfrm>
            <a:off x="4663440" y="1737360"/>
            <a:ext cx="3931920" cy="2880360"/>
          </a:xfrm>
          <a:prstGeom prst="roundRect">
            <a:avLst>
              <a:gd name="adj" fmla="val 2540"/>
            </a:avLst>
          </a:prstGeom>
          <a:solidFill>
            <a:srgbClr val="FFFFFF"/>
          </a:solidFill>
          <a:ln w="9525">
            <a:solidFill>
              <a:srgbClr val="E2DED3"/>
            </a:solidFill>
            <a:prstDash val="solid"/>
          </a:ln>
        </p:spPr>
      </p:sp>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r>
              <a:t>6</a:t>
            </a:r>
          </a:p>
        </p:txBody>
      </p:sp>
      <p:graphicFrame>
        <p:nvGraphicFramePr>
          <p:cNvPr id="26" name="Chart 25"/>
          <p:cNvGraphicFramePr>
            <a:graphicFrameLocks noGrp="1"/>
          </p:cNvGraphicFramePr>
          <p:nvPr/>
        </p:nvGraphicFramePr>
        <p:xfrm>
          <a:off x="640080" y="1810512"/>
          <a:ext cx="3749040" cy="2734056"/>
        </p:xfrm>
        <a:graphic>
          <a:graphicData uri="http://schemas.openxmlformats.org/drawingml/2006/chart">
            <c:chart xmlns:c="http://schemas.openxmlformats.org/drawingml/2006/chart" r:id="rId2"/>
          </a:graphicData>
        </a:graphic>
      </p:graphicFrame>
      <p:graphicFrame>
        <p:nvGraphicFramePr>
          <p:cNvPr id="27" name="Chart 26"/>
          <p:cNvGraphicFramePr>
            <a:graphicFrameLocks noGrp="1"/>
          </p:cNvGraphicFramePr>
          <p:nvPr/>
        </p:nvGraphicFramePr>
        <p:xfrm>
          <a:off x="4754880" y="1810512"/>
          <a:ext cx="3749040" cy="2734056"/>
        </p:xfrm>
        <a:graphic>
          <a:graphicData uri="http://schemas.openxmlformats.org/drawingml/2006/chart">
            <c:chart xmlns:c="http://schemas.openxmlformats.org/drawingml/2006/chart" r:id="rId3"/>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65760"/>
            <a:ext cx="5120640" cy="274320"/>
          </a:xfrm>
          <a:prstGeom prst="rect">
            <a:avLst/>
          </a:prstGeom>
          <a:noFill/>
          <a:ln/>
        </p:spPr>
        <p:txBody>
          <a:bodyPr wrap="square" lIns="0" tIns="0" rIns="0" bIns="0" rtlCol="0" anchor="ctr"/>
          <a:lstStyle/>
          <a:p>
            <a:pPr indent="0" marL="0">
              <a:buNone/>
            </a:pPr>
            <a:r>
              <a:rPr lang="en-US" sz="1200" spc="150" kern="0" dirty="0">
                <a:solidFill>
                  <a:srgbClr val="B85C1E"/>
                </a:solidFill>
                <a:latin typeface="Courier New" pitchFamily="34" charset="0"/>
                <a:ea typeface="Courier New" pitchFamily="34" charset="-122"/>
                <a:cs typeface="Courier New" pitchFamily="34" charset="-120"/>
              </a:rPr>
              <a:t>06 · WHAT THE MODEL SAID</a:t>
            </a:r>
            <a:endParaRPr lang="en-US" sz="1200" dirty="0"/>
          </a:p>
        </p:txBody>
      </p:sp>
      <p:sp>
        <p:nvSpPr>
          <p:cNvPr id="3" name="status"/>
          <p:cNvSpPr/>
          <p:nvPr/>
        </p:nvSpPr>
        <p:spPr>
          <a:xfrm>
            <a:off x="5669280" y="329184"/>
            <a:ext cx="2926080" cy="329184"/>
          </a:xfrm>
          <a:prstGeom prst="roundRect">
            <a:avLst>
              <a:gd name="adj" fmla="val 138889"/>
            </a:avLst>
          </a:prstGeom>
          <a:solidFill>
            <a:srgbClr val="2F5D8C"/>
          </a:solidFill>
          <a:ln/>
        </p:spPr>
        <p:txBody>
          <a:bodyPr wrap="square" lIns="0" tIns="0" rIns="0" bIns="0" rtlCol="0" anchor="ctr"/>
          <a:lstStyle/>
          <a:p>
            <a:pPr algn="ctr" indent="0" marL="0">
              <a:buNone/>
            </a:pPr>
            <a:r>
              <a:rPr lang="en-US" sz="1100" b="1" dirty="0">
                <a:solidFill>
                  <a:srgbClr val="F7F5EF"/>
                </a:solidFill>
              </a:rPr>
              <a:t>Eval resume P05 · one of the 28</a:t>
            </a:r>
            <a:endParaRPr lang="en-US" sz="1100" dirty="0"/>
          </a:p>
        </p:txBody>
      </p:sp>
      <p:sp>
        <p:nvSpPr>
          <p:cNvPr id="4" name="Text 0"/>
          <p:cNvSpPr/>
          <p:nvPr>
            <p:ph idx="100" type="title" hasCustomPrompt="1"/>
          </p:nvPr>
        </p:nvSpPr>
        <p:spPr>
          <a:xfrm>
            <a:off x="548640" y="777240"/>
            <a:ext cx="8046720" cy="548640"/>
          </a:xfrm>
          <a:prstGeom prst="rect">
            <a:avLst/>
          </a:prstGeom>
          <a:noFill/>
          <a:ln/>
        </p:spPr>
        <p:txBody>
          <a:bodyPr wrap="square" lIns="0" tIns="0" rIns="0" bIns="0" rtlCol="0" anchor="t"/>
          <a:lstStyle/>
          <a:p>
            <a:pPr algn="l" indent="0" marL="0">
              <a:buNone/>
            </a:pPr>
            <a:r>
              <a:rPr lang="en-US" sz="2800" b="1" dirty="0">
                <a:solidFill>
                  <a:srgbClr val="14213D"/>
                </a:solidFill>
              </a:rPr>
              <a:t>A typical resume: close scores, different picks</a:t>
            </a:r>
            <a:endParaRPr lang="en-US" sz="2800" dirty="0"/>
          </a:p>
        </p:txBody>
      </p:sp>
      <p:sp>
        <p:nvSpPr>
          <p:cNvPr id="5" name="Text 3"/>
          <p:cNvSpPr txBox="1"/>
          <p:nvPr/>
        </p:nvSpPr>
        <p:spPr>
          <a:xfrm>
            <a:off x="548640" y="1325880"/>
            <a:ext cx="8046720" cy="274320"/>
          </a:xfrm>
          <a:prstGeom prst="rect">
            <a:avLst/>
          </a:prstGeom>
          <a:noFill/>
          <a:ln/>
        </p:spPr>
        <p:txBody>
          <a:bodyPr wrap="square" lIns="0" tIns="0" rIns="0" bIns="0" rtlCol="0" anchor="ctr"/>
          <a:lstStyle/>
          <a:p>
            <a:pPr indent="0" marL="0">
              <a:buNone/>
            </a:pPr>
            <a:r>
              <a:rPr lang="en-US" sz="1300" dirty="0">
                <a:solidFill>
                  <a:srgbClr val="4A5568"/>
                </a:solidFill>
              </a:rPr>
              <a:t>Its pool has 20 jobs and 16 are relevant, so both land 4 of 5 · ✓ relevant, ✗ no fit in the dataset labels</a:t>
            </a:r>
            <a:endParaRPr lang="en-US" sz="1300" dirty="0"/>
          </a:p>
        </p:txBody>
      </p:sp>
      <p:sp>
        <p:nvSpPr>
          <p:cNvPr id="6" name="Shape 4"/>
          <p:cNvSpPr/>
          <p:nvPr/>
        </p:nvSpPr>
        <p:spPr>
          <a:xfrm>
            <a:off x="548640" y="1737360"/>
            <a:ext cx="3931920" cy="2880360"/>
          </a:xfrm>
          <a:prstGeom prst="roundRect">
            <a:avLst>
              <a:gd name="adj" fmla="val 2540"/>
            </a:avLst>
          </a:prstGeom>
          <a:solidFill>
            <a:srgbClr val="FFFFFF"/>
          </a:solidFill>
          <a:ln w="9525">
            <a:solidFill>
              <a:srgbClr val="E2DED3"/>
            </a:solidFill>
            <a:prstDash val="solid"/>
          </a:ln>
        </p:spPr>
      </p:sp>
      <p:sp>
        <p:nvSpPr>
          <p:cNvPr id="7" name="Shape 5"/>
          <p:cNvSpPr/>
          <p:nvPr/>
        </p:nvSpPr>
        <p:spPr>
          <a:xfrm>
            <a:off x="4663440" y="1737360"/>
            <a:ext cx="3931920" cy="2880360"/>
          </a:xfrm>
          <a:prstGeom prst="roundRect">
            <a:avLst>
              <a:gd name="adj" fmla="val 2540"/>
            </a:avLst>
          </a:prstGeom>
          <a:solidFill>
            <a:srgbClr val="FFFFFF"/>
          </a:solidFill>
          <a:ln w="9525">
            <a:solidFill>
              <a:srgbClr val="E2DED3"/>
            </a:solidFill>
            <a:prstDash val="solid"/>
          </a:ln>
        </p:spPr>
      </p:sp>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r>
              <a:t>7</a:t>
            </a:r>
          </a:p>
        </p:txBody>
      </p:sp>
      <p:sp>
        <p:nvSpPr>
          <p:cNvPr id="26" name="TextBox 25"/>
          <p:cNvSpPr txBox="1"/>
          <p:nvPr/>
        </p:nvSpPr>
        <p:spPr>
          <a:xfrm>
            <a:off x="685800" y="1847088"/>
            <a:ext cx="3657600" cy="274320"/>
          </a:xfrm>
          <a:prstGeom prst="rect">
            <a:avLst/>
          </a:prstGeom>
          <a:noFill/>
        </p:spPr>
        <p:txBody>
          <a:bodyPr wrap="square" lIns="18288" rIns="18288" tIns="0" bIns="0">
            <a:spAutoFit/>
          </a:bodyPr>
          <a:lstStyle/>
          <a:p>
            <a:r>
              <a:rPr sz="1300" b="1">
                <a:solidFill>
                  <a:srgbClr val="14213D"/>
                </a:solidFill>
              </a:rPr>
              <a:t>Single agent · nDCG@5 0.51</a:t>
            </a:r>
          </a:p>
        </p:txBody>
      </p:sp>
      <p:sp>
        <p:nvSpPr>
          <p:cNvPr id="27" name="TextBox 26"/>
          <p:cNvSpPr txBox="1"/>
          <p:nvPr/>
        </p:nvSpPr>
        <p:spPr>
          <a:xfrm>
            <a:off x="685800" y="2231136"/>
            <a:ext cx="3657600" cy="2286000"/>
          </a:xfrm>
          <a:prstGeom prst="rect">
            <a:avLst/>
          </a:prstGeom>
          <a:noFill/>
        </p:spPr>
        <p:txBody>
          <a:bodyPr wrap="square" lIns="18288" rIns="18288" tIns="0" bIns="0">
            <a:spAutoFit/>
          </a:bodyPr>
          <a:lstStyle/>
          <a:p>
            <a:r>
              <a:rPr sz="1200" b="1">
                <a:solidFill>
                  <a:srgbClr val="2F5D8C"/>
                </a:solidFill>
              </a:rPr>
              <a:t>Top 5 (4/5 relevant)</a:t>
            </a:r>
          </a:p>
          <a:p>
            <a:pPr>
              <a:spcBef>
                <a:spcPts val="500"/>
              </a:spcBef>
            </a:pPr>
            <a:r>
              <a:rPr sz="1100" b="1">
                <a:solidFill>
                  <a:srgbClr val="2F5D8C"/>
                </a:solidFill>
              </a:rPr>
              <a:t>✓ Diagnostics company role</a:t>
            </a:r>
          </a:p>
          <a:p>
            <a:pPr>
              <a:spcBef>
                <a:spcPts val="500"/>
              </a:spcBef>
            </a:pPr>
            <a:r>
              <a:rPr sz="1100" b="1">
                <a:solidFill>
                  <a:srgbClr val="2F5D8C"/>
                </a:solidFill>
              </a:rPr>
              <a:t>✓ Senior Software Engineer (Java)</a:t>
            </a:r>
          </a:p>
          <a:p>
            <a:pPr>
              <a:spcBef>
                <a:spcPts val="500"/>
              </a:spcBef>
            </a:pPr>
            <a:r>
              <a:rPr sz="1100" b="1">
                <a:solidFill>
                  <a:srgbClr val="2F5D8C"/>
                </a:solidFill>
              </a:rPr>
              <a:t>✓ 3-month contract-to-hire role</a:t>
            </a:r>
          </a:p>
          <a:p>
            <a:pPr>
              <a:spcBef>
                <a:spcPts val="500"/>
              </a:spcBef>
            </a:pPr>
            <a:r>
              <a:rPr sz="1100" b="1">
                <a:solidFill>
                  <a:srgbClr val="2F5D8C"/>
                </a:solidFill>
              </a:rPr>
              <a:t>✗ ServiceNow Business Analyst</a:t>
            </a:r>
          </a:p>
          <a:p>
            <a:pPr>
              <a:spcBef>
                <a:spcPts val="500"/>
              </a:spcBef>
            </a:pPr>
            <a:r>
              <a:rPr sz="1100" b="1">
                <a:solidFill>
                  <a:srgbClr val="2F5D8C"/>
                </a:solidFill>
              </a:rPr>
              <a:t>✓ MTK Technologies role</a:t>
            </a:r>
          </a:p>
          <a:p>
            <a:pPr>
              <a:spcBef>
                <a:spcPts val="500"/>
              </a:spcBef>
            </a:pPr>
            <a:r>
              <a:rPr sz="1100" b="1">
                <a:solidFill>
                  <a:srgbClr val="2F5D8C"/>
                </a:solidFill>
              </a:rPr>
              <a:t>Does not pick the QA automation job</a:t>
            </a:r>
          </a:p>
        </p:txBody>
      </p:sp>
      <p:sp>
        <p:nvSpPr>
          <p:cNvPr id="29" name="TextBox 28"/>
          <p:cNvSpPr txBox="1"/>
          <p:nvPr/>
        </p:nvSpPr>
        <p:spPr>
          <a:xfrm>
            <a:off x="4800600" y="1847088"/>
            <a:ext cx="3657600" cy="274320"/>
          </a:xfrm>
          <a:prstGeom prst="rect">
            <a:avLst/>
          </a:prstGeom>
          <a:noFill/>
        </p:spPr>
        <p:txBody>
          <a:bodyPr wrap="square" lIns="18288" rIns="18288" tIns="0" bIns="0">
            <a:spAutoFit/>
          </a:bodyPr>
          <a:lstStyle/>
          <a:p>
            <a:r>
              <a:rPr sz="1300" b="1">
                <a:solidFill>
                  <a:srgbClr val="14213D"/>
                </a:solidFill>
              </a:rPr>
              <a:t>Multi-agent · nDCG@5 0.52</a:t>
            </a:r>
          </a:p>
        </p:txBody>
      </p:sp>
      <p:sp>
        <p:nvSpPr>
          <p:cNvPr id="30" name="TextBox 29"/>
          <p:cNvSpPr txBox="1"/>
          <p:nvPr/>
        </p:nvSpPr>
        <p:spPr>
          <a:xfrm>
            <a:off x="4800600" y="2231136"/>
            <a:ext cx="3657600" cy="2286000"/>
          </a:xfrm>
          <a:prstGeom prst="rect">
            <a:avLst/>
          </a:prstGeom>
          <a:noFill/>
        </p:spPr>
        <p:txBody>
          <a:bodyPr wrap="square" lIns="18288" rIns="18288" tIns="0" bIns="0">
            <a:spAutoFit/>
          </a:bodyPr>
          <a:lstStyle/>
          <a:p>
            <a:r>
              <a:rPr sz="1200" b="1">
                <a:solidFill>
                  <a:srgbClr val="2F5D8C"/>
                </a:solidFill>
              </a:rPr>
              <a:t>Top 5 (4/5 relevant)</a:t>
            </a:r>
          </a:p>
          <a:p>
            <a:pPr>
              <a:spcBef>
                <a:spcPts val="500"/>
              </a:spcBef>
            </a:pPr>
            <a:r>
              <a:rPr sz="1100" b="1">
                <a:solidFill>
                  <a:srgbClr val="B85C1E"/>
                </a:solidFill>
              </a:rPr>
              <a:t>✗ ServiceNow Business Analyst</a:t>
            </a:r>
          </a:p>
          <a:p>
            <a:pPr>
              <a:spcBef>
                <a:spcPts val="500"/>
              </a:spcBef>
            </a:pPr>
            <a:r>
              <a:rPr sz="1100" b="1">
                <a:solidFill>
                  <a:srgbClr val="B85C1E"/>
                </a:solidFill>
              </a:rPr>
              <a:t>✓ Business Analyst (Pega / rules)</a:t>
            </a:r>
          </a:p>
          <a:p>
            <a:pPr>
              <a:spcBef>
                <a:spcPts val="500"/>
              </a:spcBef>
            </a:pPr>
            <a:r>
              <a:rPr sz="1100" b="1">
                <a:solidFill>
                  <a:srgbClr val="B85C1E"/>
                </a:solidFill>
              </a:rPr>
              <a:t>✓ Business Analyst (Santa Clara)</a:t>
            </a:r>
          </a:p>
          <a:p>
            <a:pPr>
              <a:spcBef>
                <a:spcPts val="500"/>
              </a:spcBef>
            </a:pPr>
            <a:r>
              <a:rPr sz="1100" b="1">
                <a:solidFill>
                  <a:srgbClr val="B85C1E"/>
                </a:solidFill>
              </a:rPr>
              <a:t>✓ QA Automation (Cucumber, Selenium)</a:t>
            </a:r>
          </a:p>
          <a:p>
            <a:pPr>
              <a:spcBef>
                <a:spcPts val="500"/>
              </a:spcBef>
            </a:pPr>
            <a:r>
              <a:rPr sz="1100" b="1">
                <a:solidFill>
                  <a:srgbClr val="B85C1E"/>
                </a:solidFill>
              </a:rPr>
              <a:t>✓ Grainger role</a:t>
            </a:r>
          </a:p>
          <a:p>
            <a:pPr>
              <a:spcBef>
                <a:spcPts val="500"/>
              </a:spcBef>
            </a:pPr>
            <a:r>
              <a:rPr sz="1100" b="1">
                <a:solidFill>
                  <a:srgbClr val="B85C1E"/>
                </a:solidFill>
              </a:rPr>
              <a:t>Ranks a no-fit job first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65760"/>
            <a:ext cx="5120640" cy="274320"/>
          </a:xfrm>
          <a:prstGeom prst="rect">
            <a:avLst/>
          </a:prstGeom>
          <a:noFill/>
          <a:ln/>
        </p:spPr>
        <p:txBody>
          <a:bodyPr wrap="square" lIns="0" tIns="0" rIns="0" bIns="0" rtlCol="0" anchor="ctr"/>
          <a:lstStyle/>
          <a:p>
            <a:pPr indent="0" marL="0">
              <a:buNone/>
            </a:pPr>
            <a:r>
              <a:rPr lang="en-US" sz="1200" spc="150" kern="0" dirty="0">
                <a:solidFill>
                  <a:srgbClr val="B85C1E"/>
                </a:solidFill>
                <a:latin typeface="Courier New" pitchFamily="34" charset="0"/>
                <a:ea typeface="Courier New" pitchFamily="34" charset="-122"/>
                <a:cs typeface="Courier New" pitchFamily="34" charset="-120"/>
              </a:rPr>
              <a:t>07 · PER-RESUME RESULTS</a:t>
            </a:r>
            <a:endParaRPr lang="en-US" sz="1200" dirty="0"/>
          </a:p>
        </p:txBody>
      </p:sp>
      <p:sp>
        <p:nvSpPr>
          <p:cNvPr id="3" name="status"/>
          <p:cNvSpPr/>
          <p:nvPr/>
        </p:nvSpPr>
        <p:spPr>
          <a:xfrm>
            <a:off x="5669280" y="329184"/>
            <a:ext cx="2926080" cy="329184"/>
          </a:xfrm>
          <a:prstGeom prst="roundRect">
            <a:avLst>
              <a:gd name="adj" fmla="val 138889"/>
            </a:avLst>
          </a:prstGeom>
          <a:solidFill>
            <a:srgbClr val="2F5D8C"/>
          </a:solidFill>
          <a:ln/>
        </p:spPr>
        <p:txBody>
          <a:bodyPr wrap="square" lIns="0" tIns="0" rIns="0" bIns="0" rtlCol="0" anchor="ctr"/>
          <a:lstStyle/>
          <a:p>
            <a:pPr algn="ctr" indent="0" marL="0">
              <a:buNone/>
            </a:pPr>
            <a:r>
              <a:rPr lang="en-US" sz="1100" b="1" dirty="0">
                <a:solidFill>
                  <a:srgbClr val="F7F5EF"/>
                </a:solidFill>
              </a:rPr>
              <a:t>Biggest gaps · nDCG@5</a:t>
            </a:r>
            <a:endParaRPr lang="en-US" sz="1100" dirty="0"/>
          </a:p>
        </p:txBody>
      </p:sp>
      <p:sp>
        <p:nvSpPr>
          <p:cNvPr id="4" name="Text 0"/>
          <p:cNvSpPr/>
          <p:nvPr>
            <p:ph idx="100" type="title" hasCustomPrompt="1"/>
          </p:nvPr>
        </p:nvSpPr>
        <p:spPr>
          <a:xfrm>
            <a:off x="548640" y="777240"/>
            <a:ext cx="8046720" cy="548640"/>
          </a:xfrm>
          <a:prstGeom prst="rect">
            <a:avLst/>
          </a:prstGeom>
          <a:noFill/>
          <a:ln/>
        </p:spPr>
        <p:txBody>
          <a:bodyPr wrap="square" lIns="0" tIns="0" rIns="0" bIns="0" rtlCol="0" anchor="t"/>
          <a:lstStyle/>
          <a:p>
            <a:pPr algn="l" indent="0" marL="0">
              <a:buNone/>
            </a:pPr>
            <a:r>
              <a:rPr lang="en-US" sz="2800" b="1" dirty="0">
                <a:solidFill>
                  <a:srgbClr val="14213D"/>
                </a:solidFill>
              </a:rPr>
              <a:t>P06 is the biggest gap by far</a:t>
            </a:r>
            <a:endParaRPr lang="en-US" sz="2800" dirty="0"/>
          </a:p>
        </p:txBody>
      </p:sp>
      <p:sp>
        <p:nvSpPr>
          <p:cNvPr id="5" name="Text 3"/>
          <p:cNvSpPr txBox="1"/>
          <p:nvPr/>
        </p:nvSpPr>
        <p:spPr>
          <a:xfrm>
            <a:off x="548640" y="1325880"/>
            <a:ext cx="8046720" cy="274320"/>
          </a:xfrm>
          <a:prstGeom prst="rect">
            <a:avLst/>
          </a:prstGeom>
          <a:noFill/>
          <a:ln/>
        </p:spPr>
        <p:txBody>
          <a:bodyPr wrap="square" lIns="0" tIns="0" rIns="0" bIns="0" rtlCol="0" anchor="ctr"/>
          <a:lstStyle/>
          <a:p>
            <a:pPr indent="0" marL="0">
              <a:buNone/>
            </a:pPr>
            <a:r>
              <a:rPr lang="en-US" sz="1300" dirty="0">
                <a:solidFill>
                  <a:srgbClr val="4A5568"/>
                </a:solidFill>
              </a:rPr>
              <a:t>nDCG@5 for the same resume, single vs. multi-agent · 28 eval resumes · 14B</a:t>
            </a:r>
            <a:endParaRPr lang="en-US" sz="1300" dirty="0"/>
          </a:p>
        </p:txBody>
      </p:sp>
      <p:sp>
        <p:nvSpPr>
          <p:cNvPr id="6" name="Shape 4"/>
          <p:cNvSpPr/>
          <p:nvPr/>
        </p:nvSpPr>
        <p:spPr>
          <a:xfrm>
            <a:off x="548640" y="1737360"/>
            <a:ext cx="3931920" cy="2880360"/>
          </a:xfrm>
          <a:prstGeom prst="roundRect">
            <a:avLst>
              <a:gd name="adj" fmla="val 2540"/>
            </a:avLst>
          </a:prstGeom>
          <a:solidFill>
            <a:srgbClr val="FFFFFF"/>
          </a:solidFill>
          <a:ln w="9525">
            <a:solidFill>
              <a:srgbClr val="E2DED3"/>
            </a:solidFill>
            <a:prstDash val="solid"/>
          </a:ln>
        </p:spPr>
      </p:sp>
      <p:sp>
        <p:nvSpPr>
          <p:cNvPr id="7" name="Shape 5"/>
          <p:cNvSpPr/>
          <p:nvPr/>
        </p:nvSpPr>
        <p:spPr>
          <a:xfrm>
            <a:off x="4663440" y="1737360"/>
            <a:ext cx="3931920" cy="2880360"/>
          </a:xfrm>
          <a:prstGeom prst="roundRect">
            <a:avLst>
              <a:gd name="adj" fmla="val 2540"/>
            </a:avLst>
          </a:prstGeom>
          <a:solidFill>
            <a:srgbClr val="FFFFFF"/>
          </a:solidFill>
          <a:ln w="9525">
            <a:solidFill>
              <a:srgbClr val="E2DED3"/>
            </a:solidFill>
            <a:prstDash val="solid"/>
          </a:ln>
        </p:spPr>
      </p:sp>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r>
              <a:t>7</a:t>
            </a:r>
          </a:p>
        </p:txBody>
      </p:sp>
      <p:sp>
        <p:nvSpPr>
          <p:cNvPr id="26" name="TextBox 25"/>
          <p:cNvSpPr txBox="1"/>
          <p:nvPr/>
        </p:nvSpPr>
        <p:spPr>
          <a:xfrm>
            <a:off x="685800" y="1847088"/>
            <a:ext cx="3657600" cy="274320"/>
          </a:xfrm>
          <a:prstGeom prst="rect">
            <a:avLst/>
          </a:prstGeom>
          <a:noFill/>
        </p:spPr>
        <p:txBody>
          <a:bodyPr wrap="square" lIns="18288" rIns="18288" tIns="0" bIns="0">
            <a:spAutoFit/>
          </a:bodyPr>
          <a:lstStyle/>
          <a:p>
            <a:r>
              <a:rPr sz="1300" b="1">
                <a:solidFill>
                  <a:srgbClr val="14213D"/>
                </a:solidFill>
              </a:rPr>
              <a:t>Single agent wins</a:t>
            </a:r>
          </a:p>
        </p:txBody>
      </p:sp>
      <p:sp>
        <p:nvSpPr>
          <p:cNvPr id="27" name="TextBox 26"/>
          <p:cNvSpPr txBox="1"/>
          <p:nvPr/>
        </p:nvSpPr>
        <p:spPr>
          <a:xfrm>
            <a:off x="685800" y="2231136"/>
            <a:ext cx="1783080" cy="2286000"/>
          </a:xfrm>
          <a:prstGeom prst="rect">
            <a:avLst/>
          </a:prstGeom>
          <a:noFill/>
        </p:spPr>
        <p:txBody>
          <a:bodyPr wrap="square" lIns="18288" rIns="18288" tIns="0" bIns="0">
            <a:spAutoFit/>
          </a:bodyPr>
          <a:lstStyle/>
          <a:p>
            <a:r>
              <a:rPr sz="1200" b="1">
                <a:solidFill>
                  <a:srgbClr val="2F5D8C"/>
                </a:solidFill>
              </a:rPr>
              <a:t>Single</a:t>
            </a:r>
          </a:p>
          <a:p>
            <a:pPr>
              <a:spcBef>
                <a:spcPts val="500"/>
              </a:spcBef>
            </a:pPr>
            <a:r>
              <a:rPr sz="1100" b="1">
                <a:solidFill>
                  <a:srgbClr val="2F5D8C"/>
                </a:solidFill>
              </a:rPr>
              <a:t>P06 · 0.97</a:t>
            </a:r>
          </a:p>
          <a:p>
            <a:pPr>
              <a:spcBef>
                <a:spcPts val="500"/>
              </a:spcBef>
            </a:pPr>
            <a:r>
              <a:rPr sz="1100" b="1">
                <a:solidFill>
                  <a:srgbClr val="2F5D8C"/>
                </a:solidFill>
              </a:rPr>
              <a:t>P11 · 0.56</a:t>
            </a:r>
          </a:p>
          <a:p>
            <a:pPr>
              <a:spcBef>
                <a:spcPts val="500"/>
              </a:spcBef>
            </a:pPr>
            <a:r>
              <a:rPr sz="1100" b="1">
                <a:solidFill>
                  <a:srgbClr val="2F5D8C"/>
                </a:solidFill>
              </a:rPr>
              <a:t>P09 · 0.79</a:t>
            </a:r>
          </a:p>
          <a:p>
            <a:pPr>
              <a:spcBef>
                <a:spcPts val="500"/>
              </a:spcBef>
            </a:pPr>
            <a:r>
              <a:rPr sz="1100" b="1">
                <a:solidFill>
                  <a:srgbClr val="2F5D8C"/>
                </a:solidFill>
              </a:rPr>
              <a:t>P15 · 0.65</a:t>
            </a:r>
          </a:p>
        </p:txBody>
      </p:sp>
      <p:sp>
        <p:nvSpPr>
          <p:cNvPr id="28" name="TextBox 27"/>
          <p:cNvSpPr txBox="1"/>
          <p:nvPr/>
        </p:nvSpPr>
        <p:spPr>
          <a:xfrm>
            <a:off x="2560320" y="2231136"/>
            <a:ext cx="1783080" cy="2286000"/>
          </a:xfrm>
          <a:prstGeom prst="rect">
            <a:avLst/>
          </a:prstGeom>
          <a:noFill/>
        </p:spPr>
        <p:txBody>
          <a:bodyPr wrap="square" lIns="18288" rIns="18288" tIns="0" bIns="0">
            <a:spAutoFit/>
          </a:bodyPr>
          <a:lstStyle/>
          <a:p>
            <a:r>
              <a:rPr sz="1200" b="1">
                <a:solidFill>
                  <a:srgbClr val="B85C1E"/>
                </a:solidFill>
              </a:rPr>
              <a:t>Multi-agent</a:t>
            </a:r>
          </a:p>
          <a:p>
            <a:pPr>
              <a:spcBef>
                <a:spcPts val="500"/>
              </a:spcBef>
            </a:pPr>
            <a:r>
              <a:rPr sz="1100" b="1">
                <a:solidFill>
                  <a:srgbClr val="B85C1E"/>
                </a:solidFill>
              </a:rPr>
              <a:t>P06 · 0.00</a:t>
            </a:r>
          </a:p>
          <a:p>
            <a:pPr>
              <a:spcBef>
                <a:spcPts val="500"/>
              </a:spcBef>
            </a:pPr>
            <a:r>
              <a:rPr sz="1100" b="1">
                <a:solidFill>
                  <a:srgbClr val="B85C1E"/>
                </a:solidFill>
              </a:rPr>
              <a:t>P11 · 0.37</a:t>
            </a:r>
          </a:p>
          <a:p>
            <a:pPr>
              <a:spcBef>
                <a:spcPts val="500"/>
              </a:spcBef>
            </a:pPr>
            <a:r>
              <a:rPr sz="1100" b="1">
                <a:solidFill>
                  <a:srgbClr val="B85C1E"/>
                </a:solidFill>
              </a:rPr>
              <a:t>P09 · 0.61</a:t>
            </a:r>
          </a:p>
          <a:p>
            <a:pPr>
              <a:spcBef>
                <a:spcPts val="500"/>
              </a:spcBef>
            </a:pPr>
            <a:r>
              <a:rPr sz="1100" b="1">
                <a:solidFill>
                  <a:srgbClr val="B85C1E"/>
                </a:solidFill>
              </a:rPr>
              <a:t>P15 · 0.47</a:t>
            </a:r>
          </a:p>
        </p:txBody>
      </p:sp>
      <p:sp>
        <p:nvSpPr>
          <p:cNvPr id="29" name="TextBox 28"/>
          <p:cNvSpPr txBox="1"/>
          <p:nvPr/>
        </p:nvSpPr>
        <p:spPr>
          <a:xfrm>
            <a:off x="4800600" y="1847088"/>
            <a:ext cx="3657600" cy="274320"/>
          </a:xfrm>
          <a:prstGeom prst="rect">
            <a:avLst/>
          </a:prstGeom>
          <a:noFill/>
        </p:spPr>
        <p:txBody>
          <a:bodyPr wrap="square" lIns="18288" rIns="18288" tIns="0" bIns="0">
            <a:spAutoFit/>
          </a:bodyPr>
          <a:lstStyle/>
          <a:p>
            <a:r>
              <a:rPr sz="1300" b="1">
                <a:solidFill>
                  <a:srgbClr val="14213D"/>
                </a:solidFill>
              </a:rPr>
              <a:t>Multi-agent wins</a:t>
            </a:r>
          </a:p>
        </p:txBody>
      </p:sp>
      <p:sp>
        <p:nvSpPr>
          <p:cNvPr id="30" name="TextBox 29"/>
          <p:cNvSpPr txBox="1"/>
          <p:nvPr/>
        </p:nvSpPr>
        <p:spPr>
          <a:xfrm>
            <a:off x="4800600" y="2231136"/>
            <a:ext cx="1783080" cy="2286000"/>
          </a:xfrm>
          <a:prstGeom prst="rect">
            <a:avLst/>
          </a:prstGeom>
          <a:noFill/>
        </p:spPr>
        <p:txBody>
          <a:bodyPr wrap="square" lIns="18288" rIns="18288" tIns="0" bIns="0">
            <a:spAutoFit/>
          </a:bodyPr>
          <a:lstStyle/>
          <a:p>
            <a:r>
              <a:rPr sz="1200" b="1">
                <a:solidFill>
                  <a:srgbClr val="2F5D8C"/>
                </a:solidFill>
              </a:rPr>
              <a:t>Single</a:t>
            </a:r>
          </a:p>
          <a:p>
            <a:pPr>
              <a:spcBef>
                <a:spcPts val="500"/>
              </a:spcBef>
            </a:pPr>
            <a:r>
              <a:rPr sz="1100" b="1">
                <a:solidFill>
                  <a:srgbClr val="B85C1E"/>
                </a:solidFill>
              </a:rPr>
              <a:t>P20 · 0.37</a:t>
            </a:r>
          </a:p>
          <a:p>
            <a:pPr>
              <a:spcBef>
                <a:spcPts val="500"/>
              </a:spcBef>
            </a:pPr>
            <a:r>
              <a:rPr sz="1100" b="1">
                <a:solidFill>
                  <a:srgbClr val="B85C1E"/>
                </a:solidFill>
              </a:rPr>
              <a:t>P23 · 0.25</a:t>
            </a:r>
          </a:p>
          <a:p>
            <a:pPr>
              <a:spcBef>
                <a:spcPts val="500"/>
              </a:spcBef>
            </a:pPr>
            <a:r>
              <a:rPr sz="1100" b="1">
                <a:solidFill>
                  <a:srgbClr val="B85C1E"/>
                </a:solidFill>
              </a:rPr>
              <a:t>P13 · 0.73</a:t>
            </a:r>
          </a:p>
          <a:p>
            <a:pPr>
              <a:spcBef>
                <a:spcPts val="500"/>
              </a:spcBef>
            </a:pPr>
            <a:r>
              <a:rPr sz="1100" b="1">
                <a:solidFill>
                  <a:srgbClr val="B85C1E"/>
                </a:solidFill>
              </a:rPr>
              <a:t>P22 · 0.85</a:t>
            </a:r>
          </a:p>
        </p:txBody>
      </p:sp>
      <p:sp>
        <p:nvSpPr>
          <p:cNvPr id="31" name="TextBox 30"/>
          <p:cNvSpPr txBox="1"/>
          <p:nvPr/>
        </p:nvSpPr>
        <p:spPr>
          <a:xfrm>
            <a:off x="6675120" y="2231136"/>
            <a:ext cx="1783080" cy="2286000"/>
          </a:xfrm>
          <a:prstGeom prst="rect">
            <a:avLst/>
          </a:prstGeom>
          <a:noFill/>
        </p:spPr>
        <p:txBody>
          <a:bodyPr wrap="square" lIns="18288" rIns="18288" tIns="0" bIns="0">
            <a:spAutoFit/>
          </a:bodyPr>
          <a:lstStyle/>
          <a:p>
            <a:r>
              <a:rPr sz="1200" b="1">
                <a:solidFill>
                  <a:srgbClr val="B85C1E"/>
                </a:solidFill>
              </a:rPr>
              <a:t>Multi-agent</a:t>
            </a:r>
          </a:p>
          <a:p>
            <a:pPr>
              <a:spcBef>
                <a:spcPts val="500"/>
              </a:spcBef>
            </a:pPr>
            <a:r>
              <a:rPr sz="1100" b="1">
                <a:solidFill>
                  <a:srgbClr val="B85C1E"/>
                </a:solidFill>
              </a:rPr>
              <a:t>P20 · 0.65</a:t>
            </a:r>
          </a:p>
          <a:p>
            <a:pPr>
              <a:spcBef>
                <a:spcPts val="500"/>
              </a:spcBef>
            </a:pPr>
            <a:r>
              <a:rPr sz="1100" b="1">
                <a:solidFill>
                  <a:srgbClr val="B85C1E"/>
                </a:solidFill>
              </a:rPr>
              <a:t>P23 · 0.45</a:t>
            </a:r>
          </a:p>
          <a:p>
            <a:pPr>
              <a:spcBef>
                <a:spcPts val="500"/>
              </a:spcBef>
            </a:pPr>
            <a:r>
              <a:rPr sz="1100" b="1">
                <a:solidFill>
                  <a:srgbClr val="B85C1E"/>
                </a:solidFill>
              </a:rPr>
              <a:t>P13 · 0.89</a:t>
            </a:r>
          </a:p>
          <a:p>
            <a:pPr>
              <a:spcBef>
                <a:spcPts val="500"/>
              </a:spcBef>
            </a:pPr>
            <a:r>
              <a:rPr sz="1100" b="1">
                <a:solidFill>
                  <a:srgbClr val="B85C1E"/>
                </a:solidFill>
              </a:rPr>
              <a:t>P22 · 1.00</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502920"/>
            <a:ext cx="8046720" cy="274320"/>
          </a:xfrm>
          <a:prstGeom prst="rect">
            <a:avLst/>
          </a:prstGeom>
          <a:noFill/>
          <a:ln/>
        </p:spPr>
        <p:txBody>
          <a:bodyPr wrap="square" lIns="0" tIns="0" rIns="0" bIns="0" rtlCol="0" anchor="ctr"/>
          <a:lstStyle/>
          <a:p>
            <a:pPr indent="0" marL="0">
              <a:buNone/>
            </a:pPr>
            <a:r>
              <a:rPr lang="en-US" sz="1200" spc="200" kern="0" dirty="0">
                <a:solidFill>
                  <a:srgbClr val="F2A65A"/>
                </a:solidFill>
                <a:latin typeface="Courier New" pitchFamily="34" charset="0"/>
                <a:ea typeface="Courier New" pitchFamily="34" charset="-122"/>
                <a:cs typeface="Courier New" pitchFamily="34" charset="-120"/>
              </a:rPr>
              <a:t>CSCE 585 · PROGRESS UPDATE · OCT 2026</a:t>
            </a:r>
            <a:endParaRPr lang="en-US" sz="1200" dirty="0"/>
          </a:p>
        </p:txBody>
      </p:sp>
      <p:sp>
        <p:nvSpPr>
          <p:cNvPr id="3" name="Text 0"/>
          <p:cNvSpPr/>
          <p:nvPr>
            <p:ph idx="100" type="title" hasCustomPrompt="1"/>
          </p:nvPr>
        </p:nvSpPr>
        <p:spPr>
          <a:xfrm>
            <a:off x="548640" y="1920240"/>
            <a:ext cx="8046720" cy="914400"/>
          </a:xfrm>
          <a:prstGeom prst="rect">
            <a:avLst/>
          </a:prstGeom>
          <a:noFill/>
          <a:ln/>
        </p:spPr>
        <p:txBody>
          <a:bodyPr wrap="square" lIns="0" tIns="0" rIns="0" bIns="0" rtlCol="0" anchor="t"/>
          <a:lstStyle/>
          <a:p>
            <a:pPr algn="l" indent="0" marL="0">
              <a:buNone/>
            </a:pPr>
            <a:r>
              <a:rPr lang="en-US" sz="4800" b="1" dirty="0">
                <a:solidFill>
                  <a:srgbClr val="F4F1EA"/>
                </a:solidFill>
              </a:rPr>
              <a:t>Questions?</a:t>
            </a:r>
            <a:endParaRPr lang="en-US" sz="4800" dirty="0"/>
          </a:p>
        </p:txBody>
      </p:sp>
    </p:spTree>
  </p:cSld>
  <p:clrMapOvr>
    <a:masterClrMapping/>
  </p:clrMapOvr>
</p:sld>
</file>

<file path=ppt/theme/theme1.xml><?xml version="1.0" encoding="utf-8"?>
<a:theme xmlns:a="http://schemas.openxmlformats.org/drawingml/2006/main" name="Resume Matcher">
  <a:themeElements>
    <a:clrScheme name="Resume Matcher">
      <a:dk1>
        <a:srgbClr val="14213D"/>
      </a:dk1>
      <a:lt1>
        <a:srgbClr val="FFFFFF"/>
      </a:lt1>
      <a:dk2>
        <a:srgbClr val="2D3748"/>
      </a:dk2>
      <a:lt2>
        <a:srgbClr val="F7F5EF"/>
      </a:lt2>
      <a:accent1>
        <a:srgbClr val="B85C1E"/>
      </a:accent1>
      <a:accent2>
        <a:srgbClr val="2F5D8C"/>
      </a:accent2>
      <a:accent3>
        <a:srgbClr val="E8EEF5"/>
      </a:accent3>
      <a:accent4>
        <a:srgbClr val="F2C79A"/>
      </a:accent4>
      <a:accent5>
        <a:srgbClr val="718096"/>
      </a:accent5>
      <a:accent6>
        <a:srgbClr val="E2DED3"/>
      </a:accent6>
      <a:hlink>
        <a:srgbClr val="2F5D8C"/>
      </a:hlink>
      <a:folHlink>
        <a:srgbClr val="6D4C9C"/>
      </a:folHlink>
    </a:clrScheme>
    <a:fontScheme name="Resume Matcher">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One Agent or Many? Progress Update</dc:title>
  <dc:subject>PptxGenJS Presentation</dc:subject>
  <dc:creator>PptxGenJS</dc:creator>
  <cp:lastModifiedBy>PptxGenJS</cp:lastModifiedBy>
  <cp:revision>1</cp:revision>
  <dcterms:created xsi:type="dcterms:W3CDTF">2026-10-06T19:37:30Z</dcterms:created>
  <dcterms:modified xsi:type="dcterms:W3CDTF">2026-10-06T19:37:30Z</dcterms:modified>
</cp:coreProperties>
</file>