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12"/>
    <p:sldId id="264" r:id="rId15"/>
    <p:sldId id="262" r:id="rId13"/>
    <p:sldId id="263" r:id="rId14"/>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fc9c66c6-658e-dcf3-2991-d085cadbce8a}">
          <p14:sldIdLst>
            <p14:sldId id="256"/>
          </p14:sldIdLst>
        </p14:section>
        <p14:section name="Progress" id="{9d883d13-2848-e685-c1ae-1f6a632c0069}">
          <p14:sldIdLst>
            <p14:sldId id="257"/>
            <p14:sldId id="258"/>
            <p14:sldId id="259"/>
          </p14:sldIdLst>
        </p14:section>
        <p14:section name="Results" id="{a4225a8b-24fc-cca3-683c-d76ebfa2725b}">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Median seconds per resume</a:t>
            </a:r>
          </a:p>
        </c:rich>
      </c:tx>
      <c:layout/>
      <c:overlay val="0"/>
    </c:title>
    <c:autoTitleDeleted val="0"/>
    <c:plotArea>
      <c:layout/>
      <c:barChart>
        <c:barDir val="col"/>
        <c:grouping val="clustered"/>
        <c:varyColors val="0"/>
        <c:ser>
          <c:idx val="0"/>
          <c:order val="0"/>
          <c:tx>
            <c:strRef>
              <c:f>Sheet1!$B$1</c:f>
              <c:strCache>
                <c:ptCount val="1"/>
                <c:pt idx="0">
                  <c:v>Seconds</c:v>
                </c:pt>
              </c:strCache>
            </c:strRef>
          </c:tx>
          <c:spPr>
            <a:solidFill>
              <a:srgbClr val="2A64A8"/>
            </a:solidFill>
            <a:effectLst/>
          </c:spPr>
          <c:invertIfNegative val="0"/>
          <c:dLbls>
            <c:numFmt formatCode="0.0&quot;s&quot;" sourceLinked="0"/>
            <c:txPr>
              <a:bodyPr/>
              <a:lstStyle/>
              <a:p>
                <a:pPr>
                  <a:defRPr b="1" i="0" strike="noStrike" sz="9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2A64A8"/>
              </a:solidFill>
              <a:effectLst/>
            </c:spPr>
          </c:dPt>
          <c:dPt>
            <c:idx val="1"/>
            <c:invertIfNegative val="0"/>
            <c:bubble3D val="0"/>
            <c:spPr>
              <a:solidFill>
                <a:srgbClr val="B85C1E"/>
              </a:solidFill>
              <a:effectLst/>
            </c:spPr>
          </c:dPt>
          <c:dPt>
            <c:idx val="2"/>
            <c:invertIfNegative val="0"/>
            <c:bubble3D val="0"/>
            <c:spPr>
              <a:solidFill>
                <a:srgbClr val="2A64A8"/>
              </a:solidFill>
              <a:effectLst/>
            </c:spPr>
          </c:dPt>
          <c:dPt>
            <c:idx val="3"/>
            <c:invertIfNegative val="0"/>
            <c:bubble3D val="0"/>
            <c:spPr>
              <a:solidFill>
                <a:srgbClr val="B85C1E"/>
              </a:solidFill>
              <a:effectLst/>
            </c:spPr>
          </c:dPt>
          <c:cat>
            <c:strRef>
              <c:f>Sheet1!$A$2:$A$5</c:f>
              <c:strCache>
                <c:ptCount val="4"/>
                <c:pt idx="0">
                  <c:v>4B Single</c:v>
                </c:pt>
                <c:pt idx="1">
                  <c:v>4B Multi</c:v>
                </c:pt>
                <c:pt idx="2">
                  <c:v>14B Single</c:v>
                </c:pt>
                <c:pt idx="3">
                  <c:v>14B Multi</c:v>
                </c:pt>
              </c:strCache>
            </c:strRef>
          </c:cat>
          <c:val>
            <c:numRef>
              <c:f>Sheet1!$B$2:$B$5</c:f>
              <c:numCache>
                <c:formatCode>General</c:formatCode>
                <c:ptCount val="4"/>
                <c:pt idx="0">
                  <c:v>5.5</c:v>
                </c:pt>
                <c:pt idx="1">
                  <c:v>20.9</c:v>
                </c:pt>
                <c:pt idx="2">
                  <c:v>10.6</c:v>
                </c:pt>
                <c:pt idx="3">
                  <c:v>40.8</c:v>
                </c:pt>
              </c:numCache>
            </c:numRef>
          </c:val>
        </c:ser>
        <c:dLbls>
          <c:numFmt formatCode="0.0&quot;s&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Median tokens per resume (thousands)</a:t>
            </a:r>
          </a:p>
        </c:rich>
      </c:tx>
      <c:layout/>
      <c:overlay val="0"/>
    </c:title>
    <c:autoTitleDeleted val="0"/>
    <c:plotArea>
      <c:layout/>
      <c:barChart>
        <c:barDir val="col"/>
        <c:grouping val="clustered"/>
        <c:varyColors val="0"/>
        <c:ser>
          <c:idx val="0"/>
          <c:order val="0"/>
          <c:tx>
            <c:strRef>
              <c:f>Sheet1!$B$1</c:f>
              <c:strCache>
                <c:ptCount val="1"/>
                <c:pt idx="0">
                  <c:v>Tokens</c:v>
                </c:pt>
              </c:strCache>
            </c:strRef>
          </c:tx>
          <c:spPr>
            <a:solidFill>
              <a:srgbClr val="2A64A8"/>
            </a:solidFill>
            <a:effectLst/>
          </c:spPr>
          <c:invertIfNegative val="0"/>
          <c:dLbls>
            <c:numFmt formatCode="0.0&quot;k&quot;" sourceLinked="0"/>
            <c:txPr>
              <a:bodyPr/>
              <a:lstStyle/>
              <a:p>
                <a:pPr>
                  <a:defRPr b="1" i="0" strike="noStrike" sz="9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2A64A8"/>
              </a:solidFill>
              <a:effectLst/>
            </c:spPr>
          </c:dPt>
          <c:dPt>
            <c:idx val="1"/>
            <c:invertIfNegative val="0"/>
            <c:bubble3D val="0"/>
            <c:spPr>
              <a:solidFill>
                <a:srgbClr val="B85C1E"/>
              </a:solidFill>
              <a:effectLst/>
            </c:spPr>
          </c:dPt>
          <c:dPt>
            <c:idx val="2"/>
            <c:invertIfNegative val="0"/>
            <c:bubble3D val="0"/>
            <c:spPr>
              <a:solidFill>
                <a:srgbClr val="2A64A8"/>
              </a:solidFill>
              <a:effectLst/>
            </c:spPr>
          </c:dPt>
          <c:dPt>
            <c:idx val="3"/>
            <c:invertIfNegative val="0"/>
            <c:bubble3D val="0"/>
            <c:spPr>
              <a:solidFill>
                <a:srgbClr val="B85C1E"/>
              </a:solidFill>
              <a:effectLst/>
            </c:spPr>
          </c:dPt>
          <c:cat>
            <c:strRef>
              <c:f>Sheet1!$A$2:$A$5</c:f>
              <c:strCache>
                <c:ptCount val="4"/>
                <c:pt idx="0">
                  <c:v>4B Single</c:v>
                </c:pt>
                <c:pt idx="1">
                  <c:v>4B Multi</c:v>
                </c:pt>
                <c:pt idx="2">
                  <c:v>14B Single</c:v>
                </c:pt>
                <c:pt idx="3">
                  <c:v>14B Multi</c:v>
                </c:pt>
              </c:strCache>
            </c:strRef>
          </c:cat>
          <c:val>
            <c:numRef>
              <c:f>Sheet1!$B$2:$B$5</c:f>
              <c:numCache>
                <c:formatCode>General</c:formatCode>
                <c:ptCount val="4"/>
                <c:pt idx="0">
                  <c:v>9.9</c:v>
                </c:pt>
                <c:pt idx="1">
                  <c:v>32.2</c:v>
                </c:pt>
                <c:pt idx="2">
                  <c:v>9.9</c:v>
                </c:pt>
                <c:pt idx="3">
                  <c:v>32.0</c:v>
                </c:pt>
              </c:numCache>
            </c:numRef>
          </c:val>
        </c:ser>
        <c:dLbls>
          <c:numFmt formatCode="0.0&quot;k&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13D"/>
                </a:solidFill>
              </a:rPr>
              <a:t>Accuracy, 14B (higher is better)</a:t>
            </a:r>
          </a:p>
        </c:rich>
      </c:tx>
      <c:layout/>
      <c:overlay val="0"/>
    </c:title>
    <c:autoTitleDeleted val="0"/>
    <c:plotArea>
      <c:barChart>
        <c:barDir val="col"/>
        <c:grouping val="clustered"/>
        <c:ser>
          <c:idx val="0"/>
          <c:order val="0"/>
          <c:tx>
            <c:strRef>
              <c:f>Sheet1!$B$1</c:f>
              <c:strCache>
                <c:ptCount val="1"/>
                <c:pt idx="0">
                  <c:v>Single agent</c:v>
                </c:pt>
              </c:strCache>
            </c:strRef>
          </c:tx>
          <c:spPr>
            <a:solidFill>
              <a:srgbClr val="2F5D8C"/>
            </a:solidFill>
          </c:spPr>
          <c:dLbls>
            <c:numFmt formatCode="0.00" sourceLinked="0"/>
            <c:txPr>
              <a:bodyPr/>
              <a:lstStyle/>
              <a:p>
                <a:pPr>
                  <a:defRPr sz="900" b="1"/>
                </a:pPr>
              </a:p>
            </c:txPr>
            <c:showLegendKey val="0"/>
            <c:showVal val="1"/>
            <c:showCatName val="0"/>
            <c:showSerName val="0"/>
            <c:showPercent val="0"/>
            <c:showBubbleSize val="0"/>
            <c:showLeaderLines val="1"/>
          </c:dLbls>
          <c:cat>
            <c:strRef>
              <c:f>Sheet1!$A$2:$A$4</c:f>
              <c:strCache>
                <c:ptCount val="3"/>
                <c:pt idx="0">
                  <c:v>nDCG@5</c:v>
                </c:pt>
                <c:pt idx="1">
                  <c:v>Precision@5</c:v>
                </c:pt>
                <c:pt idx="2">
                  <c:v>Top-1 hit</c:v>
                </c:pt>
              </c:strCache>
            </c:strRef>
          </c:cat>
          <c:val>
            <c:numRef>
              <c:f>Sheet1!$B$2:$B$4</c:f>
              <c:numCache>
                <c:formatCode>General</c:formatCode>
                <c:ptCount val="3"/>
                <c:pt idx="0">
                  <c:v>0.533</c:v>
                </c:pt>
                <c:pt idx="1">
                  <c:v>0.7</c:v>
                </c:pt>
                <c:pt idx="2">
                  <c:v>0.714</c:v>
                </c:pt>
              </c:numCache>
            </c:numRef>
          </c:val>
        </c:ser>
        <c:ser>
          <c:idx val="1"/>
          <c:order val="1"/>
          <c:tx>
            <c:strRef>
              <c:f>Sheet1!$C$1</c:f>
              <c:strCache>
                <c:ptCount val="1"/>
                <c:pt idx="0">
                  <c:v>Multi-agent</c:v>
                </c:pt>
              </c:strCache>
            </c:strRef>
          </c:tx>
          <c:spPr>
            <a:solidFill>
              <a:srgbClr val="B85C1E"/>
            </a:solidFill>
          </c:spPr>
          <c:dLbls>
            <c:numFmt formatCode="0.00" sourceLinked="0"/>
            <c:txPr>
              <a:bodyPr/>
              <a:lstStyle/>
              <a:p>
                <a:pPr>
                  <a:defRPr sz="900" b="1"/>
                </a:pPr>
              </a:p>
            </c:txPr>
            <c:showLegendKey val="0"/>
            <c:showVal val="1"/>
            <c:showCatName val="0"/>
            <c:showSerName val="0"/>
            <c:showPercent val="0"/>
            <c:showBubbleSize val="0"/>
            <c:showLeaderLines val="1"/>
          </c:dLbls>
          <c:cat>
            <c:strRef>
              <c:f>Sheet1!$A$2:$A$4</c:f>
              <c:strCache>
                <c:ptCount val="3"/>
                <c:pt idx="0">
                  <c:v>nDCG@5</c:v>
                </c:pt>
                <c:pt idx="1">
                  <c:v>Precision@5</c:v>
                </c:pt>
                <c:pt idx="2">
                  <c:v>Top-1 hit</c:v>
                </c:pt>
              </c:strCache>
            </c:strRef>
          </c:cat>
          <c:val>
            <c:numRef>
              <c:f>Sheet1!$C$2:$C$4</c:f>
              <c:numCache>
                <c:formatCode>General</c:formatCode>
                <c:ptCount val="3"/>
                <c:pt idx="0">
                  <c:v>0.486</c:v>
                </c:pt>
                <c:pt idx="1">
                  <c:v>0.664</c:v>
                </c:pt>
                <c:pt idx="2">
                  <c:v>0.429</c:v>
                </c:pt>
              </c:numCache>
            </c:numRef>
          </c:val>
        </c:ser>
        <c:dLbls>
          <c:numFmt formatCode="0.00" sourceLinked="0"/>
          <c:txPr>
            <a:bodyPr/>
            <a:lstStyle/>
            <a:p>
              <a:pPr>
                <a:defRPr sz="1000" b="1">
                  <a:solidFill>
                    <a:srgbClr val="14213D"/>
                  </a:solidFill>
                </a:defRPr>
              </a:pPr>
            </a:p>
          </c:txPr>
          <c:dLblPos val="outEnd"/>
          <c:showLegendKey val="0"/>
          <c:showVal val="1"/>
          <c:showCatName val="0"/>
          <c:showSerName val="0"/>
          <c:showPercent val="0"/>
          <c:showBubbleSize val="0"/>
          <c:showLeaderLines val="1"/>
        </c:dLbls>
        <c:gapWidth val="80"/>
        <c:overlap val="-10"/>
        <c:axId val="-2068027336"/>
        <c:axId val="-2113994440"/>
      </c:barChart>
      <c:catAx>
        <c:axId val="-2068027336"/>
        <c:scaling>
          <c:orientation val="minMax"/>
        </c:scaling>
        <c:delete val="0"/>
        <c:axPos val="b"/>
        <c:majorTickMark val="out"/>
        <c:minorTickMark val="none"/>
        <c:tickLblPos val="nextTo"/>
        <c:spPr>
          <a:ln>
            <a:solidFill>
              <a:srgbClr val="CBD5E0"/>
            </a:solidFill>
          </a:ln>
        </c:spPr>
        <c:txPr>
          <a:bodyPr/>
          <a:lstStyle/>
          <a:p>
            <a:pPr>
              <a:defRPr sz="1000">
                <a:solidFill>
                  <a:srgbClr val="4A5568"/>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000">
              <a:solidFill>
                <a:srgbClr val="4A5568"/>
              </a:solidFill>
            </a:defRPr>
          </a:pPr>
        </a:p>
      </c:txPr>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13D"/>
                </a:solidFill>
              </a:rPr>
              <a:t>nDCG@5 by pool size (9 / 7 / 12 resumes)</a:t>
            </a:r>
          </a:p>
        </c:rich>
      </c:tx>
      <c:layout/>
      <c:overlay val="0"/>
    </c:title>
    <c:autoTitleDeleted val="0"/>
    <c:plotArea>
      <c:barChart>
        <c:barDir val="col"/>
        <c:grouping val="clustered"/>
        <c:ser>
          <c:idx val="0"/>
          <c:order val="0"/>
          <c:tx>
            <c:strRef>
              <c:f>Sheet1!$B$1</c:f>
              <c:strCache>
                <c:ptCount val="1"/>
                <c:pt idx="0">
                  <c:v>Single agent</c:v>
                </c:pt>
              </c:strCache>
            </c:strRef>
          </c:tx>
          <c:spPr>
            <a:solidFill>
              <a:srgbClr val="2F5D8C"/>
            </a:solidFill>
          </c:spPr>
          <c:dLbls>
            <c:numFmt formatCode="0.00" sourceLinked="0"/>
            <c:txPr>
              <a:bodyPr/>
              <a:lstStyle/>
              <a:p>
                <a:pPr>
                  <a:defRPr sz="900" b="1"/>
                </a:pPr>
              </a:p>
            </c:txPr>
            <c:showLegendKey val="0"/>
            <c:showVal val="1"/>
            <c:showCatName val="0"/>
            <c:showSerName val="0"/>
            <c:showPercent val="0"/>
            <c:showBubbleSize val="0"/>
            <c:showLeaderLines val="1"/>
          </c:dLbls>
          <c:cat>
            <c:strRef>
              <c:f>Sheet1!$A$2:$A$4</c:f>
              <c:strCache>
                <c:ptCount val="3"/>
                <c:pt idx="0">
                  <c:v>&lt;=12 jobs</c:v>
                </c:pt>
                <c:pt idx="1">
                  <c:v>13-16 jobs</c:v>
                </c:pt>
                <c:pt idx="2">
                  <c:v>&gt;16 jobs</c:v>
                </c:pt>
              </c:strCache>
            </c:strRef>
          </c:cat>
          <c:val>
            <c:numRef>
              <c:f>Sheet1!$B$2:$B$4</c:f>
              <c:numCache>
                <c:formatCode>General</c:formatCode>
                <c:ptCount val="3"/>
                <c:pt idx="0">
                  <c:v>0.558</c:v>
                </c:pt>
                <c:pt idx="1">
                  <c:v>0.518</c:v>
                </c:pt>
                <c:pt idx="2">
                  <c:v>0.524</c:v>
                </c:pt>
              </c:numCache>
            </c:numRef>
          </c:val>
        </c:ser>
        <c:ser>
          <c:idx val="1"/>
          <c:order val="1"/>
          <c:tx>
            <c:strRef>
              <c:f>Sheet1!$C$1</c:f>
              <c:strCache>
                <c:ptCount val="1"/>
                <c:pt idx="0">
                  <c:v>Multi-agent</c:v>
                </c:pt>
              </c:strCache>
            </c:strRef>
          </c:tx>
          <c:spPr>
            <a:solidFill>
              <a:srgbClr val="B85C1E"/>
            </a:solidFill>
          </c:spPr>
          <c:dLbls>
            <c:numFmt formatCode="0.00" sourceLinked="0"/>
            <c:txPr>
              <a:bodyPr/>
              <a:lstStyle/>
              <a:p>
                <a:pPr>
                  <a:defRPr sz="900" b="1"/>
                </a:pPr>
              </a:p>
            </c:txPr>
            <c:showLegendKey val="0"/>
            <c:showVal val="1"/>
            <c:showCatName val="0"/>
            <c:showSerName val="0"/>
            <c:showPercent val="0"/>
            <c:showBubbleSize val="0"/>
            <c:showLeaderLines val="1"/>
          </c:dLbls>
          <c:cat>
            <c:strRef>
              <c:f>Sheet1!$A$2:$A$4</c:f>
              <c:strCache>
                <c:ptCount val="3"/>
                <c:pt idx="0">
                  <c:v>&lt;=12 jobs</c:v>
                </c:pt>
                <c:pt idx="1">
                  <c:v>13-16 jobs</c:v>
                </c:pt>
                <c:pt idx="2">
                  <c:v>&gt;16 jobs</c:v>
                </c:pt>
              </c:strCache>
            </c:strRef>
          </c:cat>
          <c:val>
            <c:numRef>
              <c:f>Sheet1!$C$2:$C$4</c:f>
              <c:numCache>
                <c:formatCode>General</c:formatCode>
                <c:ptCount val="3"/>
                <c:pt idx="0">
                  <c:v>0.414</c:v>
                </c:pt>
                <c:pt idx="1">
                  <c:v>0.537</c:v>
                </c:pt>
                <c:pt idx="2">
                  <c:v>0.511</c:v>
                </c:pt>
              </c:numCache>
            </c:numRef>
          </c:val>
        </c:ser>
        <c:dLbls>
          <c:numFmt formatCode="0.00" sourceLinked="0"/>
          <c:txPr>
            <a:bodyPr/>
            <a:lstStyle/>
            <a:p>
              <a:pPr>
                <a:defRPr sz="1000" b="1">
                  <a:solidFill>
                    <a:srgbClr val="14213D"/>
                  </a:solidFill>
                </a:defRPr>
              </a:pPr>
            </a:p>
          </c:txPr>
          <c:dLblPos val="outEnd"/>
          <c:showLegendKey val="0"/>
          <c:showVal val="1"/>
          <c:showCatName val="0"/>
          <c:showSerName val="0"/>
          <c:showPercent val="0"/>
          <c:showBubbleSize val="0"/>
          <c:showLeaderLines val="1"/>
        </c:dLbls>
        <c:gapWidth val="80"/>
        <c:overlap val="-10"/>
        <c:axId val="-2068027336"/>
        <c:axId val="-2113994440"/>
      </c:barChart>
      <c:catAx>
        <c:axId val="-2068027336"/>
        <c:scaling>
          <c:orientation val="minMax"/>
        </c:scaling>
        <c:delete val="0"/>
        <c:axPos val="b"/>
        <c:majorTickMark val="out"/>
        <c:minorTickMark val="none"/>
        <c:tickLblPos val="nextTo"/>
        <c:spPr>
          <a:ln>
            <a:solidFill>
              <a:srgbClr val="CBD5E0"/>
            </a:solidFill>
          </a:ln>
        </c:spPr>
        <c:txPr>
          <a:bodyPr/>
          <a:lstStyle/>
          <a:p>
            <a:pPr>
              <a:defRPr sz="1000">
                <a:solidFill>
                  <a:srgbClr val="4A5568"/>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000">
              <a:solidFill>
                <a:srgbClr val="4A5568"/>
              </a:solidFil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Quick status check. Both approaches now have measured results on a public labeled dataset, with two model sizes (Qwen3 4B and 14B).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deviated from the proposal. Our 50-job Greenhouse/Lever workload with 400 team labels was small (8 eval resumes), so we switched to rjdfit (cnamuangtoun/resume-job-description-fit on Hugging Face): 8,000 resume/job pairs labeled no fit, potential fit or good fit. It has about 642 unique resumes and 280 unique jobs, so each resume has roughly a dozen labeled jobs. We built 30 pools (a resume plus its own labeled jobs, 8 to 20 jobs each): 2 for development, 28 for evaluation. About 58% of jobs are relevant, so a random top 5 scores about 0.58 precision. The dataset has no card, so the license and labeling method are unknown; we should not call these human labels in the report.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baseline sends the resume and every job in the pool in one call and gets back five ranked job IDs with explanations. It shares input cleanup, model, output limit, ranking prompt and validation with the orchestrator, so the only difference is the architecture. Final run is Qwen3 14B (4-bit) on an A100, 28 eval resumes, one run each: nDCG@5 0.533, Precision@5 0.700, top-1 hit rate 0.714, no failures. Median 10.6 seconds and about 9.9k tokens per resume. The earlier 4B run scored nDCG@5 0.568, so the bigger model did not help the single agent on nDCG.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orchestrator runs three workers: resume parser, requirement extractor and ranker, chained by Python. Workers pick numbered lines and the controller restores the exact source text. The two failures on the 4B run (P03 and P17) were the resume parser hitting its 2,000-token output cap on long resumes by listing about 60 skills; the cap is now 4,000 tokens and the prompt asks for at most 15 skills. On the final 14B run all 28 resumes completed: nDCG@5 0.486, Precision@5 0.664, top-1 0.429. Median 40.8 seconds and 32.0k tokens. Local runs have no API cost; hardware cost is not measured.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Median wall-clock per resume: 4B single 5.5s, 4B multi 20.9s (3.8x); 14B single 10.6s, 14B multi 40.8s (3.9x). Median tokens: 9.9k vs 32.2k on 4B, 9.9k vs 32.0k on 14B (3.2x). The 14B model roughly doubles the time for both. The whole 28-resume eval took about 24 minutes of model time on 14B (4.7 for single, 19.1 for multi) versus about 14 on 4B. This matches the old workload (4 to 6x slower, about 2.8x tokens) and is expected: three sequential calls, and later calls re-read the resume and job text.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Qwen3 14B, 28 eval resumes, one run each, no failures. Single agent: nDCG@5 0.533, Precision@5 0.700, top-1 0.714. Multi-agent: 0.486, 0.664, 0.429. Per resume, single was better on 15, multi on 12, tied on 1. Mean gap 0.047, bootstrap 95% interval about -0.14 to +0.02, so we can't call it a real difference. One resume, P06, accounts for most of it: multi scored 0 (single 0.97). Without P06 the mean gap is about -0.01. By pool size, multi is clearly behind only on small pools (&lt;=12 jobs: 0.41 vs 0.56) and is level or slightly ahead on 13-16 and above (0.54 vs 0.52, 0.51 vs 0.52), but groups are 9, 7 and 12 resumes, so that is a hint, not a finding. The earlier 4B run: single 0.568, multi 0.512 with 2 failed runs that scored 0; the bigger model did not raise nDCG for either architecture, though Precision@5 went up slightly. Both are only modestly above the 0.58 random Precision@5.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Largest per-resume gaps on the 14B run. Single wins: P06 (0.97 vs 0.00), P11 (0.56 vs 0.37), P09 (0.79 vs 0.61), P15 (0.65 vs 0.47). Multi-agent wins: P20 (0.37 vs 0.65), P23 (0.25 vs 0.45), P13 (0.73 vs 0.89), P22 (0.85 vs 1.00). P14 tied exactly. Full table is in paired_resumes.csv.</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model output for eval resume P05, a software test analyst background with a pool of 20 jobs where 16 are relevant (random Precision@5 is 0.80). This is a typical case: nDCG@5 is 0.515 for the single agent and 0.518 for the orchestrator, and both get 4 of 5 relevant. They pick different jobs: the single agent leans toward engineering roles, the orchestrator toward business analyst and QA automation roles, and it puts a no-fit ServiceNow BA job first. For contrast, the biggest gap of the 28 resumes is P06 (software engineer resume, 8 jobs): the orchestrator's ranker picked five accounting jobs, 0 of 5 relevant, nDCG@5 0.00, while single got 0.97. That one is on the per-resume slide; it is an outlier, not the typical case. Explanations are sometimes cut off at the 300-character limit.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914400"/>
          </a:xfrm>
          <a:prstGeom prst="rect">
            <a:avLst/>
          </a:prstGeom>
          <a:noFill/>
          <a:ln/>
        </p:spPr>
        <p:txBody>
          <a:bodyPr wrap="square" rtlCol="0"/>
          <a:lstStyle>
            <a:lvl1pPr algn="l" indent="0" marL="0">
              <a:buNone/>
              <a:defRPr lang="en-US" sz="4800" b="1" dirty="0">
                <a:solidFill>
                  <a:srgbClr val="F4F1EA"/>
                </a:solidFill>
              </a:defRPr>
            </a:lvl1pPr>
          </a:lstStyle>
          <a:p>
            <a:pPr algn="l" indent="0" marL="0">
              <a:buNone/>
            </a:pPr>
            <a:endParaRPr lang="en-US" sz="4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7F5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77240"/>
            <a:ext cx="8046720" cy="548640"/>
          </a:xfrm>
          <a:prstGeom prst="rect">
            <a:avLst/>
          </a:prstGeom>
          <a:noFill/>
          <a:ln/>
        </p:spPr>
        <p:txBody>
          <a:bodyPr wrap="square" rtlCol="0"/>
          <a:lstStyle>
            <a:lvl1pPr algn="l" indent="0" marL="0">
              <a:buNone/>
              <a:defRPr lang="en-US" sz="2800" b="1" dirty="0">
                <a:solidFill>
                  <a:srgbClr val="14213D"/>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chart" Target="../charts/chart2.xml"/><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8046720" cy="274320"/>
          </a:xfrm>
          <a:prstGeom prst="rect">
            <a:avLst/>
          </a:prstGeom>
          <a:noFill/>
          <a:ln/>
        </p:spPr>
        <p:txBody>
          <a:bodyPr wrap="square" lIns="0" tIns="0" rIns="0" bIns="0" rtlCol="0" anchor="ctr"/>
          <a:lstStyle/>
          <a:p>
            <a:pPr indent="0" marL="0">
              <a:buNone/>
            </a:pPr>
            <a:r>
              <a:rPr lang="en-US" sz="1200" spc="200" kern="0" dirty="0">
                <a:solidFill>
                  <a:srgbClr val="F2A65A"/>
                </a:solidFill>
                <a:latin typeface="Courier New" pitchFamily="34" charset="0"/>
                <a:ea typeface="Courier New" pitchFamily="34" charset="-122"/>
                <a:cs typeface="Courier New" pitchFamily="34" charset="-120"/>
              </a:rPr>
              <a:t>CSCE 585 · PROGRESS UPDATE · OCT 2026</a:t>
            </a:r>
            <a:endParaRPr lang="en-US" sz="1200" dirty="0"/>
          </a:p>
        </p:txBody>
      </p:sp>
      <p:sp>
        <p:nvSpPr>
          <p:cNvPr id="3" name="Text 0"/>
          <p:cNvSpPr/>
          <p:nvPr>
            <p:ph idx="100" type="title" hasCustomPrompt="1"/>
          </p:nvPr>
        </p:nvSpPr>
        <p:spPr>
          <a:xfrm>
            <a:off x="548640" y="1554480"/>
            <a:ext cx="8046720" cy="914400"/>
          </a:xfrm>
          <a:prstGeom prst="rect">
            <a:avLst/>
          </a:prstGeom>
          <a:noFill/>
          <a:ln/>
        </p:spPr>
        <p:txBody>
          <a:bodyPr wrap="square" lIns="0" tIns="0" rIns="0" bIns="0" rtlCol="0" anchor="t"/>
          <a:lstStyle/>
          <a:p>
            <a:pPr algn="l" indent="0" marL="0">
              <a:buNone/>
            </a:pPr>
            <a:r>
              <a:rPr lang="en-US" sz="4800" b="1" dirty="0">
                <a:solidFill>
                  <a:srgbClr val="F4F1EA"/>
                </a:solidFill>
              </a:rPr>
              <a:t>One Agent or Many?</a:t>
            </a:r>
            <a:endParaRPr lang="en-US" sz="4800" dirty="0"/>
          </a:p>
        </p:txBody>
      </p:sp>
      <p:sp>
        <p:nvSpPr>
          <p:cNvPr id="4" name="Text 2"/>
          <p:cNvSpPr txBox="1"/>
          <p:nvPr/>
        </p:nvSpPr>
        <p:spPr>
          <a:xfrm>
            <a:off x="548640" y="2514600"/>
            <a:ext cx="6858000" cy="457200"/>
          </a:xfrm>
          <a:prstGeom prst="rect">
            <a:avLst/>
          </a:prstGeom>
          <a:noFill/>
          <a:ln/>
        </p:spPr>
        <p:txBody>
          <a:bodyPr wrap="square" lIns="0" tIns="0" rIns="0" bIns="0" rtlCol="0" anchor="ctr"/>
          <a:lstStyle/>
          <a:p>
            <a:pPr indent="0" marL="0">
              <a:buNone/>
            </a:pPr>
            <a:r>
              <a:rPr lang="en-US" sz="2000" dirty="0">
                <a:solidFill>
                  <a:srgbClr val="BFC8D9"/>
                </a:solidFill>
              </a:rPr>
              <a:t>Orchestrated vs. single-agent resume-to-job matching</a:t>
            </a:r>
            <a:endParaRPr lang="en-US" sz="2000" dirty="0"/>
          </a:p>
        </p:txBody>
      </p:sp>
      <p:sp>
        <p:nvSpPr>
          <p:cNvPr id="5" name="Text 3"/>
          <p:cNvSpPr txBox="1"/>
          <p:nvPr/>
        </p:nvSpPr>
        <p:spPr>
          <a:xfrm>
            <a:off x="54864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Aidan · single-agent baseline</a:t>
            </a:r>
            <a:endParaRPr lang="en-US" sz="1400" dirty="0"/>
          </a:p>
        </p:txBody>
      </p:sp>
      <p:sp>
        <p:nvSpPr>
          <p:cNvPr id="6" name="Text 4"/>
          <p:cNvSpPr txBox="1"/>
          <p:nvPr/>
        </p:nvSpPr>
        <p:spPr>
          <a:xfrm>
            <a:off x="324612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Kevin Do · orchestration</a:t>
            </a:r>
            <a:endParaRPr lang="en-US" sz="1400" dirty="0"/>
          </a:p>
        </p:txBody>
      </p:sp>
      <p:sp>
        <p:nvSpPr>
          <p:cNvPr id="7" name="Text 5"/>
          <p:cNvSpPr txBox="1"/>
          <p:nvPr/>
        </p:nvSpPr>
        <p:spPr>
          <a:xfrm>
            <a:off x="594360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Ritvik · data &amp; eval</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01 · DATA &amp; EVALUATION · RITVIK</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Dataset + pools ready</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Switched to a public labeled dataset</a:t>
            </a:r>
            <a:endParaRPr lang="en-US" sz="2800" dirty="0"/>
          </a:p>
        </p:txBody>
      </p:sp>
      <p:sp>
        <p:nvSpPr>
          <p:cNvPr id="5" name="Shape 3"/>
          <p:cNvSpPr/>
          <p:nvPr/>
        </p:nvSpPr>
        <p:spPr>
          <a:xfrm>
            <a:off x="548640" y="1508760"/>
            <a:ext cx="1874520" cy="1280160"/>
          </a:xfrm>
          <a:prstGeom prst="roundRect">
            <a:avLst>
              <a:gd name="adj" fmla="val 5714"/>
            </a:avLst>
          </a:prstGeom>
          <a:solidFill>
            <a:srgbClr val="FFFFFF"/>
          </a:solidFill>
          <a:ln w="9525">
            <a:solidFill>
              <a:srgbClr val="E2DED3"/>
            </a:solidFill>
            <a:prstDash val="solid"/>
          </a:ln>
        </p:spPr>
      </p:sp>
      <p:sp>
        <p:nvSpPr>
          <p:cNvPr id="6" name="Text 4"/>
          <p:cNvSpPr txBox="1"/>
          <p:nvPr/>
        </p:nvSpPr>
        <p:spPr>
          <a:xfrm>
            <a:off x="6858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8,000</a:t>
            </a:r>
            <a:endParaRPr lang="en-US" sz="3200" dirty="0"/>
          </a:p>
        </p:txBody>
      </p:sp>
      <p:sp>
        <p:nvSpPr>
          <p:cNvPr id="7" name="Text 5"/>
          <p:cNvSpPr txBox="1"/>
          <p:nvPr/>
        </p:nvSpPr>
        <p:spPr>
          <a:xfrm>
            <a:off x="6858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labeled resume-job pairs (rjdfit)</a:t>
            </a:r>
            <a:endParaRPr lang="en-US" sz="1200" dirty="0"/>
          </a:p>
        </p:txBody>
      </p:sp>
      <p:sp>
        <p:nvSpPr>
          <p:cNvPr id="8" name="Shape 6"/>
          <p:cNvSpPr/>
          <p:nvPr/>
        </p:nvSpPr>
        <p:spPr>
          <a:xfrm>
            <a:off x="2606040" y="1508760"/>
            <a:ext cx="1874520" cy="1280160"/>
          </a:xfrm>
          <a:prstGeom prst="roundRect">
            <a:avLst>
              <a:gd name="adj" fmla="val 5714"/>
            </a:avLst>
          </a:prstGeom>
          <a:solidFill>
            <a:srgbClr val="FFFFFF"/>
          </a:solidFill>
          <a:ln w="9525">
            <a:solidFill>
              <a:srgbClr val="E2DED3"/>
            </a:solidFill>
            <a:prstDash val="solid"/>
          </a:ln>
        </p:spPr>
      </p:sp>
      <p:sp>
        <p:nvSpPr>
          <p:cNvPr id="9" name="Text 7"/>
          <p:cNvSpPr txBox="1"/>
          <p:nvPr/>
        </p:nvSpPr>
        <p:spPr>
          <a:xfrm>
            <a:off x="27432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30</a:t>
            </a:r>
            <a:endParaRPr lang="en-US" sz="3200" dirty="0"/>
          </a:p>
        </p:txBody>
      </p:sp>
      <p:sp>
        <p:nvSpPr>
          <p:cNvPr id="10" name="Text 8"/>
          <p:cNvSpPr txBox="1"/>
          <p:nvPr/>
        </p:nvSpPr>
        <p:spPr>
          <a:xfrm>
            <a:off x="27432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resume pools (2 dev, 28 eval)</a:t>
            </a:r>
            <a:endParaRPr lang="en-US" sz="1200" dirty="0"/>
          </a:p>
        </p:txBody>
      </p:sp>
      <p:sp>
        <p:nvSpPr>
          <p:cNvPr id="11" name="Shape 9"/>
          <p:cNvSpPr/>
          <p:nvPr/>
        </p:nvSpPr>
        <p:spPr>
          <a:xfrm>
            <a:off x="4663440" y="1508760"/>
            <a:ext cx="1874520" cy="1280160"/>
          </a:xfrm>
          <a:prstGeom prst="roundRect">
            <a:avLst>
              <a:gd name="adj" fmla="val 5714"/>
            </a:avLst>
          </a:prstGeom>
          <a:solidFill>
            <a:srgbClr val="FFFFFF"/>
          </a:solidFill>
          <a:ln w="9525">
            <a:solidFill>
              <a:srgbClr val="E2DED3"/>
            </a:solidFill>
            <a:prstDash val="solid"/>
          </a:ln>
        </p:spPr>
      </p:sp>
      <p:sp>
        <p:nvSpPr>
          <p:cNvPr id="12" name="Text 10"/>
          <p:cNvSpPr txBox="1"/>
          <p:nvPr/>
        </p:nvSpPr>
        <p:spPr>
          <a:xfrm>
            <a:off x="48006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8–20</a:t>
            </a:r>
            <a:endParaRPr lang="en-US" sz="3200" dirty="0"/>
          </a:p>
        </p:txBody>
      </p:sp>
      <p:sp>
        <p:nvSpPr>
          <p:cNvPr id="13" name="Text 11"/>
          <p:cNvSpPr txBox="1"/>
          <p:nvPr/>
        </p:nvSpPr>
        <p:spPr>
          <a:xfrm>
            <a:off x="48006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jobs per pool, all labeled for that resume</a:t>
            </a:r>
            <a:endParaRPr lang="en-US" sz="1200" dirty="0"/>
          </a:p>
        </p:txBody>
      </p:sp>
      <p:sp>
        <p:nvSpPr>
          <p:cNvPr id="14" name="Shape 12"/>
          <p:cNvSpPr/>
          <p:nvPr/>
        </p:nvSpPr>
        <p:spPr>
          <a:xfrm>
            <a:off x="6720840" y="1508760"/>
            <a:ext cx="1874520" cy="1280160"/>
          </a:xfrm>
          <a:prstGeom prst="roundRect">
            <a:avLst>
              <a:gd name="adj" fmla="val 5714"/>
            </a:avLst>
          </a:prstGeom>
          <a:solidFill>
            <a:srgbClr val="FFFFFF"/>
          </a:solidFill>
          <a:ln w="9525">
            <a:solidFill>
              <a:srgbClr val="E2DED3"/>
            </a:solidFill>
            <a:prstDash val="solid"/>
          </a:ln>
        </p:spPr>
      </p:sp>
      <p:sp>
        <p:nvSpPr>
          <p:cNvPr id="15" name="Text 13"/>
          <p:cNvSpPr txBox="1"/>
          <p:nvPr/>
        </p:nvSpPr>
        <p:spPr>
          <a:xfrm>
            <a:off x="68580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58%</a:t>
            </a:r>
            <a:endParaRPr lang="en-US" sz="3200" dirty="0"/>
          </a:p>
        </p:txBody>
      </p:sp>
      <p:sp>
        <p:nvSpPr>
          <p:cNvPr id="16" name="Text 14"/>
          <p:cNvSpPr txBox="1"/>
          <p:nvPr/>
        </p:nvSpPr>
        <p:spPr>
          <a:xfrm>
            <a:off x="68580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of jobs are relevant, so random Precision@5 ≈ 0.58</a:t>
            </a:r>
            <a:endParaRPr lang="en-US" sz="1200" dirty="0"/>
          </a:p>
        </p:txBody>
      </p:sp>
      <p:sp>
        <p:nvSpPr>
          <p:cNvPr id="17" name="Text 15"/>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8" name="Text 16"/>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Our own 50-job set was too small and noisy, so we moved to rjdfit: labels are no fit / potential fit / good fit</a:t>
            </a:r>
            <a:endParaRPr lang="en-US" sz="1300" dirty="0"/>
          </a:p>
          <a:p>
            <a:pPr marL="152400" indent="-152400">
              <a:spcAft>
                <a:spcPts val="400"/>
              </a:spcAft>
              <a:buSzPct val="100000"/>
              <a:buChar char="•"/>
            </a:pPr>
            <a:r>
              <a:rPr lang="en-US" sz="1300" dirty="0">
                <a:solidFill>
                  <a:srgbClr val="2D3748"/>
                </a:solidFill>
              </a:rPr>
              <a:t>Each pool is one resume plus its own labeled jobs; the matcher returns a top 5</a:t>
            </a:r>
            <a:endParaRPr lang="en-US" sz="1300" dirty="0"/>
          </a:p>
          <a:p>
            <a:pPr marL="152400" indent="-152400">
              <a:spcAft>
                <a:spcPts val="400"/>
              </a:spcAft>
              <a:buSzPct val="100000"/>
              <a:buChar char="•"/>
            </a:pPr>
            <a:r>
              <a:rPr lang="en-US" sz="1300" dirty="0">
                <a:solidFill>
                  <a:srgbClr val="2D3748"/>
                </a:solidFill>
              </a:rPr>
              <a:t>Pools are fixed (seed 585) and hashed, so both matchers see identical inputs</a:t>
            </a:r>
            <a:endParaRPr lang="en-US" sz="1300" dirty="0"/>
          </a:p>
        </p:txBody>
      </p:sp>
      <p:sp>
        <p:nvSpPr>
          <p:cNvPr id="19" name="Text 17"/>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20" name="Text 18"/>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Labels come from the dataset; we could not verify who labeled them</a:t>
            </a:r>
            <a:endParaRPr lang="en-US" sz="1300" dirty="0"/>
          </a:p>
          <a:p>
            <a:pPr marL="152400" indent="-152400">
              <a:spcAft>
                <a:spcPts val="400"/>
              </a:spcAft>
              <a:buSzPct val="100000"/>
              <a:buChar char="•"/>
            </a:pPr>
            <a:r>
              <a:rPr lang="en-US" sz="1300" dirty="0">
                <a:solidFill>
                  <a:srgbClr val="2D3748"/>
                </a:solidFill>
              </a:rPr>
              <a:t>Repeat with 3 runs per resume to check run-to-run noise</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02 · SINGLE-AGENT BASELINE</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Built · evaluated</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One prompt reads everything, returns top 5</a:t>
            </a:r>
            <a:endParaRPr lang="en-US" sz="2800" dirty="0"/>
          </a:p>
        </p:txBody>
      </p:sp>
      <p:sp>
        <p:nvSpPr>
          <p:cNvPr id="5" name="Shape 3"/>
          <p:cNvSpPr/>
          <p:nvPr/>
        </p:nvSpPr>
        <p:spPr>
          <a:xfrm>
            <a:off x="548640" y="1508760"/>
            <a:ext cx="8046720" cy="1234440"/>
          </a:xfrm>
          <a:prstGeom prst="roundRect">
            <a:avLst>
              <a:gd name="adj" fmla="val 5926"/>
            </a:avLst>
          </a:prstGeom>
          <a:solidFill>
            <a:srgbClr val="FFFFFF"/>
          </a:solidFill>
          <a:ln w="9525">
            <a:solidFill>
              <a:srgbClr val="E2DED3"/>
            </a:solidFill>
            <a:prstDash val="solid"/>
          </a:ln>
        </p:spPr>
      </p:sp>
      <p:sp>
        <p:nvSpPr>
          <p:cNvPr id="6" name="Text 4"/>
          <p:cNvSpPr/>
          <p:nvPr/>
        </p:nvSpPr>
        <p:spPr>
          <a:xfrm>
            <a:off x="73152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Resume text</a:t>
            </a:r>
            <a:endParaRPr lang="en-US" sz="1400" dirty="0"/>
          </a:p>
        </p:txBody>
      </p:sp>
      <p:sp>
        <p:nvSpPr>
          <p:cNvPr id="7" name="Shape 5"/>
          <p:cNvSpPr/>
          <p:nvPr/>
        </p:nvSpPr>
        <p:spPr>
          <a:xfrm>
            <a:off x="2366010" y="2011680"/>
            <a:ext cx="320040" cy="228600"/>
          </a:xfrm>
          <a:prstGeom prst="rightArrow">
            <a:avLst/>
          </a:prstGeom>
          <a:solidFill>
            <a:srgbClr val="B85C1E"/>
          </a:solidFill>
          <a:ln w="12700">
            <a:solidFill>
              <a:srgbClr val="B85C1E"/>
            </a:solidFill>
            <a:prstDash val="solid"/>
          </a:ln>
        </p:spPr>
      </p:sp>
      <p:sp>
        <p:nvSpPr>
          <p:cNvPr id="8" name="Text 6"/>
          <p:cNvSpPr/>
          <p:nvPr/>
        </p:nvSpPr>
        <p:spPr>
          <a:xfrm>
            <a:off x="277749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All pool jobs</a:t>
            </a:r>
            <a:endParaRPr lang="en-US" sz="1400" dirty="0"/>
          </a:p>
        </p:txBody>
      </p:sp>
      <p:sp>
        <p:nvSpPr>
          <p:cNvPr id="9" name="Shape 7"/>
          <p:cNvSpPr/>
          <p:nvPr/>
        </p:nvSpPr>
        <p:spPr>
          <a:xfrm>
            <a:off x="4411980" y="2011680"/>
            <a:ext cx="320040" cy="228600"/>
          </a:xfrm>
          <a:prstGeom prst="rightArrow">
            <a:avLst/>
          </a:prstGeom>
          <a:solidFill>
            <a:srgbClr val="B85C1E"/>
          </a:solidFill>
          <a:ln w="12700">
            <a:solidFill>
              <a:srgbClr val="B85C1E"/>
            </a:solidFill>
            <a:prstDash val="solid"/>
          </a:ln>
        </p:spPr>
      </p:sp>
      <p:sp>
        <p:nvSpPr>
          <p:cNvPr id="10" name="Text 8"/>
          <p:cNvSpPr/>
          <p:nvPr/>
        </p:nvSpPr>
        <p:spPr>
          <a:xfrm>
            <a:off x="482346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Single prompt</a:t>
            </a:r>
            <a:endParaRPr lang="en-US" sz="1400" dirty="0"/>
          </a:p>
        </p:txBody>
      </p:sp>
      <p:sp>
        <p:nvSpPr>
          <p:cNvPr id="11" name="Shape 9"/>
          <p:cNvSpPr/>
          <p:nvPr/>
        </p:nvSpPr>
        <p:spPr>
          <a:xfrm>
            <a:off x="6457950" y="2011680"/>
            <a:ext cx="320040" cy="228600"/>
          </a:xfrm>
          <a:prstGeom prst="rightArrow">
            <a:avLst/>
          </a:prstGeom>
          <a:solidFill>
            <a:srgbClr val="B85C1E"/>
          </a:solidFill>
          <a:ln w="12700">
            <a:solidFill>
              <a:srgbClr val="B85C1E"/>
            </a:solidFill>
            <a:prstDash val="solid"/>
          </a:ln>
        </p:spPr>
      </p:sp>
      <p:sp>
        <p:nvSpPr>
          <p:cNvPr id="12" name="Text 10"/>
          <p:cNvSpPr/>
          <p:nvPr/>
        </p:nvSpPr>
        <p:spPr>
          <a:xfrm>
            <a:off x="686943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Top 5 + reasons</a:t>
            </a:r>
            <a:endParaRPr lang="en-US" sz="1400" dirty="0"/>
          </a:p>
        </p:txBody>
      </p:sp>
      <p:sp>
        <p:nvSpPr>
          <p:cNvPr id="13" name="Text 11"/>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4" name="Text 12"/>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One-call matcher with the same prompt, model and output check as the orchestrator</a:t>
            </a:r>
            <a:endParaRPr lang="en-US" sz="1300" dirty="0"/>
          </a:p>
          <a:p>
            <a:pPr marL="152400" indent="-152400">
              <a:spcAft>
                <a:spcPts val="400"/>
              </a:spcAft>
              <a:buSzPct val="100000"/>
              <a:buChar char="•"/>
            </a:pPr>
            <a:r>
              <a:rPr lang="en-US" sz="1300" dirty="0">
                <a:solidFill>
                  <a:srgbClr val="2D3748"/>
                </a:solidFill>
              </a:rPr>
              <a:t>Qwen3 14B, 28 eval resumes: nDCG@5 0.533, Precision@5 0.70, 0 of 28 runs failed</a:t>
            </a:r>
            <a:endParaRPr lang="en-US" sz="1300" dirty="0"/>
          </a:p>
          <a:p>
            <a:pPr marL="152400" indent="-152400">
              <a:spcAft>
                <a:spcPts val="400"/>
              </a:spcAft>
              <a:buSzPct val="100000"/>
              <a:buChar char="•"/>
            </a:pPr>
            <a:r>
              <a:rPr lang="en-US" sz="1300" dirty="0">
                <a:solidFill>
                  <a:srgbClr val="2D3748"/>
                </a:solidFill>
              </a:rPr>
              <a:t>Median 10.6s and 9.9k tokens per resume (4B run: nDCG@5 0.568)</a:t>
            </a:r>
            <a:endParaRPr lang="en-US" sz="1300" dirty="0"/>
          </a:p>
        </p:txBody>
      </p:sp>
      <p:sp>
        <p:nvSpPr>
          <p:cNvPr id="15" name="Text 13"/>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16" name="Text 14"/>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Look at low scorers (P23: 0.25, P10: 0.26)</a:t>
            </a:r>
            <a:endParaRPr lang="en-US" sz="1300" dirty="0"/>
          </a:p>
          <a:p>
            <a:pPr marL="152400" indent="-152400">
              <a:spcAft>
                <a:spcPts val="400"/>
              </a:spcAft>
              <a:buSzPct val="100000"/>
              <a:buChar char="•"/>
            </a:pPr>
            <a:r>
              <a:rPr lang="en-US" sz="1300" dirty="0">
                <a:solidFill>
                  <a:srgbClr val="2D3748"/>
                </a:solidFill>
              </a:rPr>
              <a:t>More repetitions per resume</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03 · ORCHESTRATED WORKFLOW · KEVIN DO</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Built · evaluated</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Three workers chained by a Python script</a:t>
            </a:r>
            <a:endParaRPr lang="en-US" sz="2800" dirty="0"/>
          </a:p>
        </p:txBody>
      </p:sp>
      <p:sp>
        <p:nvSpPr>
          <p:cNvPr id="5" name="Shape 3"/>
          <p:cNvSpPr/>
          <p:nvPr/>
        </p:nvSpPr>
        <p:spPr>
          <a:xfrm>
            <a:off x="548640" y="1508760"/>
            <a:ext cx="8046720" cy="1234440"/>
          </a:xfrm>
          <a:prstGeom prst="roundRect">
            <a:avLst>
              <a:gd name="adj" fmla="val 5926"/>
            </a:avLst>
          </a:prstGeom>
          <a:solidFill>
            <a:srgbClr val="FFFFFF"/>
          </a:solidFill>
          <a:ln w="9525">
            <a:solidFill>
              <a:srgbClr val="E2DED3"/>
            </a:solidFill>
            <a:prstDash val="solid"/>
          </a:ln>
        </p:spPr>
      </p:sp>
      <p:sp>
        <p:nvSpPr>
          <p:cNvPr id="6" name="Text 4"/>
          <p:cNvSpPr/>
          <p:nvPr/>
        </p:nvSpPr>
        <p:spPr>
          <a:xfrm>
            <a:off x="73152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Resume parser</a:t>
            </a:r>
            <a:endParaRPr lang="en-US" sz="1400" dirty="0"/>
          </a:p>
        </p:txBody>
      </p:sp>
      <p:sp>
        <p:nvSpPr>
          <p:cNvPr id="7" name="Shape 5"/>
          <p:cNvSpPr/>
          <p:nvPr/>
        </p:nvSpPr>
        <p:spPr>
          <a:xfrm>
            <a:off x="2366010" y="2011680"/>
            <a:ext cx="320040" cy="228600"/>
          </a:xfrm>
          <a:prstGeom prst="rightArrow">
            <a:avLst/>
          </a:prstGeom>
          <a:solidFill>
            <a:srgbClr val="B85C1E"/>
          </a:solidFill>
          <a:ln w="12700">
            <a:solidFill>
              <a:srgbClr val="B85C1E"/>
            </a:solidFill>
            <a:prstDash val="solid"/>
          </a:ln>
        </p:spPr>
      </p:sp>
      <p:sp>
        <p:nvSpPr>
          <p:cNvPr id="8" name="Text 6"/>
          <p:cNvSpPr/>
          <p:nvPr/>
        </p:nvSpPr>
        <p:spPr>
          <a:xfrm>
            <a:off x="277749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Requirement extractor</a:t>
            </a:r>
            <a:endParaRPr lang="en-US" sz="1400" dirty="0"/>
          </a:p>
        </p:txBody>
      </p:sp>
      <p:sp>
        <p:nvSpPr>
          <p:cNvPr id="9" name="Shape 7"/>
          <p:cNvSpPr/>
          <p:nvPr/>
        </p:nvSpPr>
        <p:spPr>
          <a:xfrm>
            <a:off x="4411980" y="2011680"/>
            <a:ext cx="320040" cy="228600"/>
          </a:xfrm>
          <a:prstGeom prst="rightArrow">
            <a:avLst/>
          </a:prstGeom>
          <a:solidFill>
            <a:srgbClr val="B85C1E"/>
          </a:solidFill>
          <a:ln w="12700">
            <a:solidFill>
              <a:srgbClr val="B85C1E"/>
            </a:solidFill>
            <a:prstDash val="solid"/>
          </a:ln>
        </p:spPr>
      </p:sp>
      <p:sp>
        <p:nvSpPr>
          <p:cNvPr id="10" name="Text 8"/>
          <p:cNvSpPr/>
          <p:nvPr/>
        </p:nvSpPr>
        <p:spPr>
          <a:xfrm>
            <a:off x="482346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Scorer &amp; ranker</a:t>
            </a:r>
            <a:endParaRPr lang="en-US" sz="1400" dirty="0"/>
          </a:p>
        </p:txBody>
      </p:sp>
      <p:sp>
        <p:nvSpPr>
          <p:cNvPr id="11" name="Shape 9"/>
          <p:cNvSpPr/>
          <p:nvPr/>
        </p:nvSpPr>
        <p:spPr>
          <a:xfrm>
            <a:off x="6457950" y="2011680"/>
            <a:ext cx="320040" cy="228600"/>
          </a:xfrm>
          <a:prstGeom prst="rightArrow">
            <a:avLst/>
          </a:prstGeom>
          <a:solidFill>
            <a:srgbClr val="B85C1E"/>
          </a:solidFill>
          <a:ln w="12700">
            <a:solidFill>
              <a:srgbClr val="B85C1E"/>
            </a:solidFill>
            <a:prstDash val="solid"/>
          </a:ln>
        </p:spPr>
      </p:sp>
      <p:sp>
        <p:nvSpPr>
          <p:cNvPr id="12" name="Text 10"/>
          <p:cNvSpPr/>
          <p:nvPr/>
        </p:nvSpPr>
        <p:spPr>
          <a:xfrm>
            <a:off x="686943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Top 5</a:t>
            </a:r>
            <a:endParaRPr lang="en-US" sz="1400" dirty="0"/>
          </a:p>
        </p:txBody>
      </p:sp>
      <p:sp>
        <p:nvSpPr>
          <p:cNvPr id="13" name="Text 11"/>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4" name="Text 12"/>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Resume parser output cap raised to 4,000 tokens and limited to 15 skills: fixed the 2 failed runs from the 4B run</a:t>
            </a:r>
            <a:endParaRPr lang="en-US" sz="1300" dirty="0"/>
          </a:p>
          <a:p>
            <a:pPr marL="152400" indent="-152400">
              <a:spcAft>
                <a:spcPts val="400"/>
              </a:spcAft>
              <a:buSzPct val="100000"/>
              <a:buChar char="•"/>
            </a:pPr>
            <a:r>
              <a:rPr lang="en-US" sz="1300" dirty="0">
                <a:solidFill>
                  <a:srgbClr val="2D3748"/>
                </a:solidFill>
              </a:rPr>
              <a:t>Qwen3 14B, 28 eval resumes: nDCG@5 0.486, Precision@5 0.66, 0 of 28 runs failed</a:t>
            </a:r>
            <a:endParaRPr lang="en-US" sz="1300" dirty="0"/>
          </a:p>
          <a:p>
            <a:pPr marL="152400" indent="-152400">
              <a:spcAft>
                <a:spcPts val="400"/>
              </a:spcAft>
              <a:buSzPct val="100000"/>
              <a:buChar char="•"/>
            </a:pPr>
            <a:r>
              <a:rPr lang="en-US" sz="1300" dirty="0">
                <a:solidFill>
                  <a:srgbClr val="2D3748"/>
                </a:solidFill>
              </a:rPr>
              <a:t>Median 40.8s and 32.0k tokens per resume</a:t>
            </a:r>
            <a:endParaRPr lang="en-US" sz="1300" dirty="0"/>
          </a:p>
        </p:txBody>
      </p:sp>
      <p:sp>
        <p:nvSpPr>
          <p:cNvPr id="15" name="Text 13"/>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16" name="Text 14"/>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Why P06 scored 0 (accounting jobs picked for a software resume)</a:t>
            </a:r>
            <a:endParaRPr lang="en-US" sz="1300" dirty="0"/>
          </a:p>
          <a:p>
            <a:pPr marL="152400" indent="-152400">
              <a:spcAft>
                <a:spcPts val="400"/>
              </a:spcAft>
              <a:buSzPct val="100000"/>
              <a:buChar char="•"/>
            </a:pPr>
            <a:r>
              <a:rPr lang="en-US" sz="1300" dirty="0">
                <a:solidFill>
                  <a:srgbClr val="2D3748"/>
                </a:solidFill>
              </a:rPr>
              <a:t>Test giving the ranker the full resume</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04 · FIRST MEASUREMENTS</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A100 · 4B and 14B</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Multi-agent took ~4x the time and ~3x the tokens</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Median per resume: multi is ~3.9x the time and ~3.2x the tokens, at both model sizes</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graphicFrame>
        <p:nvGraphicFramePr>
          <p:cNvPr id="8" name="time chart" descr=""/>
          <p:cNvGraphicFramePr/>
          <p:nvPr/>
        </p:nvGraphicFramePr>
        <p:xfrm>
          <a:off x="640080" y="1810512"/>
          <a:ext cx="3749040" cy="27432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oken chart" descr=""/>
          <p:cNvGraphicFramePr/>
          <p:nvPr/>
        </p:nvGraphicFramePr>
        <p:xfrm>
          <a:off x="4754880" y="1810512"/>
          <a:ext cx="3749040" cy="274320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1097280" y="4754880"/>
            <a:ext cx="7498080" cy="228600"/>
          </a:xfrm>
          <a:prstGeom prst="rect">
            <a:avLst/>
          </a:prstGeom>
          <a:noFill/>
          <a:ln/>
        </p:spPr>
        <p:txBody>
          <a:bodyPr wrap="square" lIns="0" tIns="0" rIns="0" bIns="0" rtlCol="0" anchor="ctr"/>
          <a:lstStyle/>
          <a:p>
            <a:pPr indent="0" marL="0">
              <a:buNone/>
            </a:pPr>
            <a:r>
              <a:rPr lang="en-US" sz="1000" dirty="0">
                <a:solidFill>
                  <a:srgbClr val="718096"/>
                </a:solidFill>
              </a:rPr>
              <a:t>Qwen3 4B and 14B (4-bit) on a Colab A100 · 28 eval resumes, 1 repetition · median per run · tokens in thousands · $0 API cost</a:t>
            </a:r>
            <a:endParaRPr lang="en-US" sz="10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05 · ACCURACY (nDCG@5)</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Held-out eval · Qwen3 14B</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Single still ahead; a bigger model didn't help</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Single better on 15 resumes, multi on 12, tied on 1 · mean gap 0.05 nDCG@5, not significant</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sp>
        <p:nvSpPr>
          <p:cNvPr id="10" name="Text 6"/>
          <p:cNvSpPr txBox="1"/>
          <p:nvPr/>
        </p:nvSpPr>
        <p:spPr>
          <a:xfrm>
            <a:off x="1097280" y="4754880"/>
            <a:ext cx="7498080" cy="228600"/>
          </a:xfrm>
          <a:prstGeom prst="rect">
            <a:avLst/>
          </a:prstGeom>
          <a:noFill/>
          <a:ln/>
        </p:spPr>
        <p:txBody>
          <a:bodyPr wrap="square" lIns="0" tIns="0" rIns="0" bIns="0" rtlCol="0" anchor="ctr"/>
          <a:lstStyle/>
          <a:p>
            <a:pPr indent="0" marL="0">
              <a:buNone/>
            </a:pPr>
            <a:r>
              <a:rPr lang="en-US" sz="1000" dirty="0">
                <a:solidFill>
                  <a:srgbClr val="718096"/>
                </a:solidFill>
              </a:rPr>
              <a:t>Qwen3 14B on a Colab A100 · 28 eval resumes × 1 rep · random Precision@5 = 0.58 · earlier 4B run: single 0.568, multi 0.512</a:t>
            </a:r>
            <a:endParaRPr lang="en-US" sz="10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r>
              <a:t>6</a:t>
            </a:r>
          </a:p>
        </p:txBody>
      </p:sp>
      <p:graphicFrame>
        <p:nvGraphicFramePr>
          <p:cNvPr id="26" name="Chart 25"/>
          <p:cNvGraphicFramePr>
            <a:graphicFrameLocks noGrp="1"/>
          </p:cNvGraphicFramePr>
          <p:nvPr/>
        </p:nvGraphicFramePr>
        <p:xfrm>
          <a:off x="640080" y="1810512"/>
          <a:ext cx="3749040" cy="2734056"/>
        </p:xfrm>
        <a:graphic>
          <a:graphicData uri="http://schemas.openxmlformats.org/drawingml/2006/chart">
            <c:chart xmlns:c="http://schemas.openxmlformats.org/drawingml/2006/chart" r:id="rId2"/>
          </a:graphicData>
        </a:graphic>
      </p:graphicFrame>
      <p:graphicFrame>
        <p:nvGraphicFramePr>
          <p:cNvPr id="27" name="Chart 26"/>
          <p:cNvGraphicFramePr>
            <a:graphicFrameLocks noGrp="1"/>
          </p:cNvGraphicFramePr>
          <p:nvPr/>
        </p:nvGraphicFramePr>
        <p:xfrm>
          <a:off x="4754880" y="1810512"/>
          <a:ext cx="3749040" cy="2734056"/>
        </p:xfrm>
        <a:graphic>
          <a:graphicData uri="http://schemas.openxmlformats.org/drawingml/2006/chart">
            <c:chart xmlns:c="http://schemas.openxmlformats.org/drawingml/2006/chart" r:id="rId3"/>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06 · WHAT THE MODEL SAID</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Eval resume P05 · 20 jobs</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A typical resume: close scores, different picks</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16 of 20 jobs are relevant, so both land 4 of 5 · ✓ relevant, ✗ no fit in the dataset labels</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sp>
        <p:nvSpPr>
          <p:cNvPr id="10" name="Text 6"/>
          <p:cNvSpPr txBox="1"/>
          <p:nvPr/>
        </p:nvSpPr>
        <p:spPr>
          <a:xfrm>
            <a:off x="1097280" y="4754880"/>
            <a:ext cx="7498080" cy="228600"/>
          </a:xfrm>
          <a:prstGeom prst="rect">
            <a:avLst/>
          </a:prstGeom>
          <a:noFill/>
          <a:ln/>
        </p:spPr>
        <p:txBody>
          <a:bodyPr wrap="square" lIns="0" tIns="0" rIns="0" bIns="0" rtlCol="0" anchor="ctr"/>
          <a:lstStyle/>
          <a:p>
            <a:pPr indent="0" marL="0">
              <a:buNone/>
            </a:pPr>
            <a:r>
              <a:rPr lang="en-US" sz="1000" dirty="0">
                <a:solidFill>
                  <a:srgbClr val="718096"/>
                </a:solidFill>
              </a:rPr>
              <a:t>Qwen3 14B · eval resume P05 (software test analyst background) · near-tie, close to the average case · job names shortened</a:t>
            </a:r>
            <a:endParaRPr lang="en-US" sz="10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r>
              <a:t>7</a:t>
            </a:r>
          </a:p>
        </p:txBody>
      </p:sp>
      <p:sp>
        <p:nvSpPr>
          <p:cNvPr id="26" name="TextBox 25"/>
          <p:cNvSpPr txBox="1"/>
          <p:nvPr/>
        </p:nvSpPr>
        <p:spPr>
          <a:xfrm>
            <a:off x="685800" y="1847088"/>
            <a:ext cx="3657600" cy="274320"/>
          </a:xfrm>
          <a:prstGeom prst="rect">
            <a:avLst/>
          </a:prstGeom>
          <a:noFill/>
        </p:spPr>
        <p:txBody>
          <a:bodyPr wrap="square" lIns="18288" rIns="18288" tIns="0" bIns="0">
            <a:spAutoFit/>
          </a:bodyPr>
          <a:lstStyle/>
          <a:p>
            <a:r>
              <a:rPr sz="1300" b="1">
                <a:solidFill>
                  <a:srgbClr val="14213D"/>
                </a:solidFill>
              </a:rPr>
              <a:t>Single agent · nDCG@5 0.51</a:t>
            </a:r>
          </a:p>
        </p:txBody>
      </p:sp>
      <p:sp>
        <p:nvSpPr>
          <p:cNvPr id="27" name="TextBox 26"/>
          <p:cNvSpPr txBox="1"/>
          <p:nvPr/>
        </p:nvSpPr>
        <p:spPr>
          <a:xfrm>
            <a:off x="685800" y="2231136"/>
            <a:ext cx="3657600" cy="2286000"/>
          </a:xfrm>
          <a:prstGeom prst="rect">
            <a:avLst/>
          </a:prstGeom>
          <a:noFill/>
        </p:spPr>
        <p:txBody>
          <a:bodyPr wrap="square" lIns="18288" rIns="18288" tIns="0" bIns="0">
            <a:spAutoFit/>
          </a:bodyPr>
          <a:lstStyle/>
          <a:p>
            <a:r>
              <a:rPr sz="1200" b="1">
                <a:solidFill>
                  <a:srgbClr val="2F5D8C"/>
                </a:solidFill>
              </a:rPr>
              <a:t>Top 5 (4/5 relevant)</a:t>
            </a:r>
          </a:p>
          <a:p>
            <a:pPr>
              <a:spcBef>
                <a:spcPts val="500"/>
              </a:spcBef>
            </a:pPr>
            <a:r>
              <a:rPr sz="1100" b="1">
                <a:solidFill>
                  <a:srgbClr val="2F5D8C"/>
                </a:solidFill>
              </a:rPr>
              <a:t>✓ Diagnostics company role</a:t>
            </a:r>
          </a:p>
          <a:p>
            <a:pPr>
              <a:spcBef>
                <a:spcPts val="500"/>
              </a:spcBef>
            </a:pPr>
            <a:r>
              <a:rPr sz="1100" b="1">
                <a:solidFill>
                  <a:srgbClr val="2F5D8C"/>
                </a:solidFill>
              </a:rPr>
              <a:t>✓ Senior Software Engineer (Java)</a:t>
            </a:r>
          </a:p>
          <a:p>
            <a:pPr>
              <a:spcBef>
                <a:spcPts val="500"/>
              </a:spcBef>
            </a:pPr>
            <a:r>
              <a:rPr sz="1100" b="1">
                <a:solidFill>
                  <a:srgbClr val="2F5D8C"/>
                </a:solidFill>
              </a:rPr>
              <a:t>✓ 3-month contract-to-hire role</a:t>
            </a:r>
          </a:p>
          <a:p>
            <a:pPr>
              <a:spcBef>
                <a:spcPts val="500"/>
              </a:spcBef>
            </a:pPr>
            <a:r>
              <a:rPr sz="1100" b="1">
                <a:solidFill>
                  <a:srgbClr val="2F5D8C"/>
                </a:solidFill>
              </a:rPr>
              <a:t>✗ ServiceNow Business Analyst</a:t>
            </a:r>
          </a:p>
          <a:p>
            <a:pPr>
              <a:spcBef>
                <a:spcPts val="500"/>
              </a:spcBef>
            </a:pPr>
            <a:r>
              <a:rPr sz="1100" b="1">
                <a:solidFill>
                  <a:srgbClr val="2F5D8C"/>
                </a:solidFill>
              </a:rPr>
              <a:t>✓ MTK Technologies role</a:t>
            </a:r>
          </a:p>
          <a:p>
            <a:pPr>
              <a:spcBef>
                <a:spcPts val="500"/>
              </a:spcBef>
            </a:pPr>
            <a:r>
              <a:rPr sz="1100" b="1">
                <a:solidFill>
                  <a:srgbClr val="2F5D8C"/>
                </a:solidFill>
              </a:rPr>
              <a:t>Does not pick the QA automation job</a:t>
            </a:r>
          </a:p>
        </p:txBody>
      </p:sp>
      <p:sp>
        <p:nvSpPr>
          <p:cNvPr id="29" name="TextBox 28"/>
          <p:cNvSpPr txBox="1"/>
          <p:nvPr/>
        </p:nvSpPr>
        <p:spPr>
          <a:xfrm>
            <a:off x="4800600" y="1847088"/>
            <a:ext cx="3657600" cy="274320"/>
          </a:xfrm>
          <a:prstGeom prst="rect">
            <a:avLst/>
          </a:prstGeom>
          <a:noFill/>
        </p:spPr>
        <p:txBody>
          <a:bodyPr wrap="square" lIns="18288" rIns="18288" tIns="0" bIns="0">
            <a:spAutoFit/>
          </a:bodyPr>
          <a:lstStyle/>
          <a:p>
            <a:r>
              <a:rPr sz="1300" b="1">
                <a:solidFill>
                  <a:srgbClr val="14213D"/>
                </a:solidFill>
              </a:rPr>
              <a:t>Multi-agent · nDCG@5 0.52</a:t>
            </a:r>
          </a:p>
        </p:txBody>
      </p:sp>
      <p:sp>
        <p:nvSpPr>
          <p:cNvPr id="30" name="TextBox 29"/>
          <p:cNvSpPr txBox="1"/>
          <p:nvPr/>
        </p:nvSpPr>
        <p:spPr>
          <a:xfrm>
            <a:off x="4800600" y="2231136"/>
            <a:ext cx="3657600" cy="2286000"/>
          </a:xfrm>
          <a:prstGeom prst="rect">
            <a:avLst/>
          </a:prstGeom>
          <a:noFill/>
        </p:spPr>
        <p:txBody>
          <a:bodyPr wrap="square" lIns="18288" rIns="18288" tIns="0" bIns="0">
            <a:spAutoFit/>
          </a:bodyPr>
          <a:lstStyle/>
          <a:p>
            <a:r>
              <a:rPr sz="1200" b="1">
                <a:solidFill>
                  <a:srgbClr val="2F5D8C"/>
                </a:solidFill>
              </a:rPr>
              <a:t>Top 5 (4/5 relevant)</a:t>
            </a:r>
          </a:p>
          <a:p>
            <a:pPr>
              <a:spcBef>
                <a:spcPts val="500"/>
              </a:spcBef>
            </a:pPr>
            <a:r>
              <a:rPr sz="1100" b="1">
                <a:solidFill>
                  <a:srgbClr val="B85C1E"/>
                </a:solidFill>
              </a:rPr>
              <a:t>✗ ServiceNow Business Analyst</a:t>
            </a:r>
          </a:p>
          <a:p>
            <a:pPr>
              <a:spcBef>
                <a:spcPts val="500"/>
              </a:spcBef>
            </a:pPr>
            <a:r>
              <a:rPr sz="1100" b="1">
                <a:solidFill>
                  <a:srgbClr val="B85C1E"/>
                </a:solidFill>
              </a:rPr>
              <a:t>✓ Business Analyst (Pega / rules)</a:t>
            </a:r>
          </a:p>
          <a:p>
            <a:pPr>
              <a:spcBef>
                <a:spcPts val="500"/>
              </a:spcBef>
            </a:pPr>
            <a:r>
              <a:rPr sz="1100" b="1">
                <a:solidFill>
                  <a:srgbClr val="B85C1E"/>
                </a:solidFill>
              </a:rPr>
              <a:t>✓ Business Analyst (Santa Clara)</a:t>
            </a:r>
          </a:p>
          <a:p>
            <a:pPr>
              <a:spcBef>
                <a:spcPts val="500"/>
              </a:spcBef>
            </a:pPr>
            <a:r>
              <a:rPr sz="1100" b="1">
                <a:solidFill>
                  <a:srgbClr val="B85C1E"/>
                </a:solidFill>
              </a:rPr>
              <a:t>✓ QA Automation (Cucumber, Selenium)</a:t>
            </a:r>
          </a:p>
          <a:p>
            <a:pPr>
              <a:spcBef>
                <a:spcPts val="500"/>
              </a:spcBef>
            </a:pPr>
            <a:r>
              <a:rPr sz="1100" b="1">
                <a:solidFill>
                  <a:srgbClr val="B85C1E"/>
                </a:solidFill>
              </a:rPr>
              <a:t>✓ Grainger role</a:t>
            </a:r>
          </a:p>
          <a:p>
            <a:pPr>
              <a:spcBef>
                <a:spcPts val="500"/>
              </a:spcBef>
            </a:pPr>
            <a:r>
              <a:rPr sz="1100" b="1">
                <a:solidFill>
                  <a:srgbClr val="B85C1E"/>
                </a:solidFill>
              </a:rPr>
              <a:t>Ranks a no-fit job first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07 · PER-RESUME RESULTS</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Biggest gaps · nDCG@5</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P06 is the biggest gap by far</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nDCG@5 for the same resume, single vs. multi-agent · 28 eval resumes · 14B</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sp>
        <p:nvSpPr>
          <p:cNvPr id="10" name="Text 6"/>
          <p:cNvSpPr txBox="1"/>
          <p:nvPr/>
        </p:nvSpPr>
        <p:spPr>
          <a:xfrm>
            <a:off x="1097280" y="4754880"/>
            <a:ext cx="7498080" cy="228600"/>
          </a:xfrm>
          <a:prstGeom prst="rect">
            <a:avLst/>
          </a:prstGeom>
          <a:noFill/>
          <a:ln/>
        </p:spPr>
        <p:txBody>
          <a:bodyPr wrap="square" lIns="0" tIns="0" rIns="0" bIns="0" rtlCol="0" anchor="ctr"/>
          <a:lstStyle/>
          <a:p>
            <a:pPr indent="0" marL="0">
              <a:buNone/>
            </a:pPr>
            <a:r>
              <a:rPr lang="en-US" sz="1000" dirty="0">
                <a:solidFill>
                  <a:srgbClr val="718096"/>
                </a:solidFill>
              </a:rPr>
              <a:t>Repetition 1 of 1 · one tie (P14) · full table in paired_resumes.csv</a:t>
            </a:r>
            <a:endParaRPr lang="en-US" sz="10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r>
              <a:t>7</a:t>
            </a:r>
          </a:p>
        </p:txBody>
      </p:sp>
      <p:sp>
        <p:nvSpPr>
          <p:cNvPr id="26" name="TextBox 25"/>
          <p:cNvSpPr txBox="1"/>
          <p:nvPr/>
        </p:nvSpPr>
        <p:spPr>
          <a:xfrm>
            <a:off x="685800" y="1847088"/>
            <a:ext cx="3657600" cy="274320"/>
          </a:xfrm>
          <a:prstGeom prst="rect">
            <a:avLst/>
          </a:prstGeom>
          <a:noFill/>
        </p:spPr>
        <p:txBody>
          <a:bodyPr wrap="square" lIns="18288" rIns="18288" tIns="0" bIns="0">
            <a:spAutoFit/>
          </a:bodyPr>
          <a:lstStyle/>
          <a:p>
            <a:r>
              <a:rPr sz="1300" b="1">
                <a:solidFill>
                  <a:srgbClr val="14213D"/>
                </a:solidFill>
              </a:rPr>
              <a:t>Single agent wins</a:t>
            </a:r>
          </a:p>
        </p:txBody>
      </p:sp>
      <p:sp>
        <p:nvSpPr>
          <p:cNvPr id="27" name="TextBox 26"/>
          <p:cNvSpPr txBox="1"/>
          <p:nvPr/>
        </p:nvSpPr>
        <p:spPr>
          <a:xfrm>
            <a:off x="685800" y="2231136"/>
            <a:ext cx="1783080" cy="2286000"/>
          </a:xfrm>
          <a:prstGeom prst="rect">
            <a:avLst/>
          </a:prstGeom>
          <a:noFill/>
        </p:spPr>
        <p:txBody>
          <a:bodyPr wrap="square" lIns="18288" rIns="18288" tIns="0" bIns="0">
            <a:spAutoFit/>
          </a:bodyPr>
          <a:lstStyle/>
          <a:p>
            <a:r>
              <a:rPr sz="1200" b="1">
                <a:solidFill>
                  <a:srgbClr val="2F5D8C"/>
                </a:solidFill>
              </a:rPr>
              <a:t>Single</a:t>
            </a:r>
          </a:p>
          <a:p>
            <a:pPr>
              <a:spcBef>
                <a:spcPts val="500"/>
              </a:spcBef>
            </a:pPr>
            <a:r>
              <a:rPr sz="1100" b="1">
                <a:solidFill>
                  <a:srgbClr val="2F5D8C"/>
                </a:solidFill>
              </a:rPr>
              <a:t>P06 · 0.97</a:t>
            </a:r>
          </a:p>
          <a:p>
            <a:pPr>
              <a:spcBef>
                <a:spcPts val="500"/>
              </a:spcBef>
            </a:pPr>
            <a:r>
              <a:rPr sz="1100" b="1">
                <a:solidFill>
                  <a:srgbClr val="2F5D8C"/>
                </a:solidFill>
              </a:rPr>
              <a:t>P11 · 0.56</a:t>
            </a:r>
          </a:p>
          <a:p>
            <a:pPr>
              <a:spcBef>
                <a:spcPts val="500"/>
              </a:spcBef>
            </a:pPr>
            <a:r>
              <a:rPr sz="1100" b="1">
                <a:solidFill>
                  <a:srgbClr val="2F5D8C"/>
                </a:solidFill>
              </a:rPr>
              <a:t>P09 · 0.79</a:t>
            </a:r>
          </a:p>
          <a:p>
            <a:pPr>
              <a:spcBef>
                <a:spcPts val="500"/>
              </a:spcBef>
            </a:pPr>
            <a:r>
              <a:rPr sz="1100" b="1">
                <a:solidFill>
                  <a:srgbClr val="2F5D8C"/>
                </a:solidFill>
              </a:rPr>
              <a:t>P15 · 0.65</a:t>
            </a:r>
          </a:p>
        </p:txBody>
      </p:sp>
      <p:sp>
        <p:nvSpPr>
          <p:cNvPr id="28" name="TextBox 27"/>
          <p:cNvSpPr txBox="1"/>
          <p:nvPr/>
        </p:nvSpPr>
        <p:spPr>
          <a:xfrm>
            <a:off x="2560320" y="2231136"/>
            <a:ext cx="1783080" cy="2286000"/>
          </a:xfrm>
          <a:prstGeom prst="rect">
            <a:avLst/>
          </a:prstGeom>
          <a:noFill/>
        </p:spPr>
        <p:txBody>
          <a:bodyPr wrap="square" lIns="18288" rIns="18288" tIns="0" bIns="0">
            <a:spAutoFit/>
          </a:bodyPr>
          <a:lstStyle/>
          <a:p>
            <a:r>
              <a:rPr sz="1200" b="1">
                <a:solidFill>
                  <a:srgbClr val="B85C1E"/>
                </a:solidFill>
              </a:rPr>
              <a:t>Multi-agent</a:t>
            </a:r>
          </a:p>
          <a:p>
            <a:pPr>
              <a:spcBef>
                <a:spcPts val="500"/>
              </a:spcBef>
            </a:pPr>
            <a:r>
              <a:rPr sz="1100" b="1">
                <a:solidFill>
                  <a:srgbClr val="B85C1E"/>
                </a:solidFill>
              </a:rPr>
              <a:t>P06 · 0.00</a:t>
            </a:r>
          </a:p>
          <a:p>
            <a:pPr>
              <a:spcBef>
                <a:spcPts val="500"/>
              </a:spcBef>
            </a:pPr>
            <a:r>
              <a:rPr sz="1100" b="1">
                <a:solidFill>
                  <a:srgbClr val="B85C1E"/>
                </a:solidFill>
              </a:rPr>
              <a:t>P11 · 0.37</a:t>
            </a:r>
          </a:p>
          <a:p>
            <a:pPr>
              <a:spcBef>
                <a:spcPts val="500"/>
              </a:spcBef>
            </a:pPr>
            <a:r>
              <a:rPr sz="1100" b="1">
                <a:solidFill>
                  <a:srgbClr val="B85C1E"/>
                </a:solidFill>
              </a:rPr>
              <a:t>P09 · 0.61</a:t>
            </a:r>
          </a:p>
          <a:p>
            <a:pPr>
              <a:spcBef>
                <a:spcPts val="500"/>
              </a:spcBef>
            </a:pPr>
            <a:r>
              <a:rPr sz="1100" b="1">
                <a:solidFill>
                  <a:srgbClr val="B85C1E"/>
                </a:solidFill>
              </a:rPr>
              <a:t>P15 · 0.47</a:t>
            </a:r>
          </a:p>
        </p:txBody>
      </p:sp>
      <p:sp>
        <p:nvSpPr>
          <p:cNvPr id="29" name="TextBox 28"/>
          <p:cNvSpPr txBox="1"/>
          <p:nvPr/>
        </p:nvSpPr>
        <p:spPr>
          <a:xfrm>
            <a:off x="4800600" y="1847088"/>
            <a:ext cx="3657600" cy="274320"/>
          </a:xfrm>
          <a:prstGeom prst="rect">
            <a:avLst/>
          </a:prstGeom>
          <a:noFill/>
        </p:spPr>
        <p:txBody>
          <a:bodyPr wrap="square" lIns="18288" rIns="18288" tIns="0" bIns="0">
            <a:spAutoFit/>
          </a:bodyPr>
          <a:lstStyle/>
          <a:p>
            <a:r>
              <a:rPr sz="1300" b="1">
                <a:solidFill>
                  <a:srgbClr val="14213D"/>
                </a:solidFill>
              </a:rPr>
              <a:t>Multi-agent wins</a:t>
            </a:r>
          </a:p>
        </p:txBody>
      </p:sp>
      <p:sp>
        <p:nvSpPr>
          <p:cNvPr id="30" name="TextBox 29"/>
          <p:cNvSpPr txBox="1"/>
          <p:nvPr/>
        </p:nvSpPr>
        <p:spPr>
          <a:xfrm>
            <a:off x="4800600" y="2231136"/>
            <a:ext cx="1783080" cy="2286000"/>
          </a:xfrm>
          <a:prstGeom prst="rect">
            <a:avLst/>
          </a:prstGeom>
          <a:noFill/>
        </p:spPr>
        <p:txBody>
          <a:bodyPr wrap="square" lIns="18288" rIns="18288" tIns="0" bIns="0">
            <a:spAutoFit/>
          </a:bodyPr>
          <a:lstStyle/>
          <a:p>
            <a:r>
              <a:rPr sz="1200" b="1">
                <a:solidFill>
                  <a:srgbClr val="2F5D8C"/>
                </a:solidFill>
              </a:rPr>
              <a:t>Single</a:t>
            </a:r>
          </a:p>
          <a:p>
            <a:pPr>
              <a:spcBef>
                <a:spcPts val="500"/>
              </a:spcBef>
            </a:pPr>
            <a:r>
              <a:rPr sz="1100" b="1">
                <a:solidFill>
                  <a:srgbClr val="B85C1E"/>
                </a:solidFill>
              </a:rPr>
              <a:t>P20 · 0.37</a:t>
            </a:r>
          </a:p>
          <a:p>
            <a:pPr>
              <a:spcBef>
                <a:spcPts val="500"/>
              </a:spcBef>
            </a:pPr>
            <a:r>
              <a:rPr sz="1100" b="1">
                <a:solidFill>
                  <a:srgbClr val="B85C1E"/>
                </a:solidFill>
              </a:rPr>
              <a:t>P23 · 0.25</a:t>
            </a:r>
          </a:p>
          <a:p>
            <a:pPr>
              <a:spcBef>
                <a:spcPts val="500"/>
              </a:spcBef>
            </a:pPr>
            <a:r>
              <a:rPr sz="1100" b="1">
                <a:solidFill>
                  <a:srgbClr val="B85C1E"/>
                </a:solidFill>
              </a:rPr>
              <a:t>P13 · 0.73</a:t>
            </a:r>
          </a:p>
          <a:p>
            <a:pPr>
              <a:spcBef>
                <a:spcPts val="500"/>
              </a:spcBef>
            </a:pPr>
            <a:r>
              <a:rPr sz="1100" b="1">
                <a:solidFill>
                  <a:srgbClr val="B85C1E"/>
                </a:solidFill>
              </a:rPr>
              <a:t>P22 · 0.85</a:t>
            </a:r>
          </a:p>
        </p:txBody>
      </p:sp>
      <p:sp>
        <p:nvSpPr>
          <p:cNvPr id="31" name="TextBox 30"/>
          <p:cNvSpPr txBox="1"/>
          <p:nvPr/>
        </p:nvSpPr>
        <p:spPr>
          <a:xfrm>
            <a:off x="6675120" y="2231136"/>
            <a:ext cx="1783080" cy="2286000"/>
          </a:xfrm>
          <a:prstGeom prst="rect">
            <a:avLst/>
          </a:prstGeom>
          <a:noFill/>
        </p:spPr>
        <p:txBody>
          <a:bodyPr wrap="square" lIns="18288" rIns="18288" tIns="0" bIns="0">
            <a:spAutoFit/>
          </a:bodyPr>
          <a:lstStyle/>
          <a:p>
            <a:r>
              <a:rPr sz="1200" b="1">
                <a:solidFill>
                  <a:srgbClr val="B85C1E"/>
                </a:solidFill>
              </a:rPr>
              <a:t>Multi-agent</a:t>
            </a:r>
          </a:p>
          <a:p>
            <a:pPr>
              <a:spcBef>
                <a:spcPts val="500"/>
              </a:spcBef>
            </a:pPr>
            <a:r>
              <a:rPr sz="1100" b="1">
                <a:solidFill>
                  <a:srgbClr val="B85C1E"/>
                </a:solidFill>
              </a:rPr>
              <a:t>P20 · 0.65</a:t>
            </a:r>
          </a:p>
          <a:p>
            <a:pPr>
              <a:spcBef>
                <a:spcPts val="500"/>
              </a:spcBef>
            </a:pPr>
            <a:r>
              <a:rPr sz="1100" b="1">
                <a:solidFill>
                  <a:srgbClr val="B85C1E"/>
                </a:solidFill>
              </a:rPr>
              <a:t>P23 · 0.45</a:t>
            </a:r>
          </a:p>
          <a:p>
            <a:pPr>
              <a:spcBef>
                <a:spcPts val="500"/>
              </a:spcBef>
            </a:pPr>
            <a:r>
              <a:rPr sz="1100" b="1">
                <a:solidFill>
                  <a:srgbClr val="B85C1E"/>
                </a:solidFill>
              </a:rPr>
              <a:t>P13 · 0.89</a:t>
            </a:r>
          </a:p>
          <a:p>
            <a:pPr>
              <a:spcBef>
                <a:spcPts val="500"/>
              </a:spcBef>
            </a:pPr>
            <a:r>
              <a:rPr sz="1100" b="1">
                <a:solidFill>
                  <a:srgbClr val="B85C1E"/>
                </a:solidFill>
              </a:rPr>
              <a:t>P22 · 1.00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8046720" cy="274320"/>
          </a:xfrm>
          <a:prstGeom prst="rect">
            <a:avLst/>
          </a:prstGeom>
          <a:noFill/>
          <a:ln/>
        </p:spPr>
        <p:txBody>
          <a:bodyPr wrap="square" lIns="0" tIns="0" rIns="0" bIns="0" rtlCol="0" anchor="ctr"/>
          <a:lstStyle/>
          <a:p>
            <a:pPr indent="0" marL="0">
              <a:buNone/>
            </a:pPr>
            <a:r>
              <a:rPr lang="en-US" sz="1200" spc="200" kern="0" dirty="0">
                <a:solidFill>
                  <a:srgbClr val="F2A65A"/>
                </a:solidFill>
                <a:latin typeface="Courier New" pitchFamily="34" charset="0"/>
                <a:ea typeface="Courier New" pitchFamily="34" charset="-122"/>
                <a:cs typeface="Courier New" pitchFamily="34" charset="-120"/>
              </a:rPr>
              <a:t>CSCE 585 · PROGRESS UPDATE · OCT 2026</a:t>
            </a:r>
            <a:endParaRPr lang="en-US" sz="1200" dirty="0"/>
          </a:p>
        </p:txBody>
      </p:sp>
      <p:sp>
        <p:nvSpPr>
          <p:cNvPr id="3" name="Text 0"/>
          <p:cNvSpPr/>
          <p:nvPr>
            <p:ph idx="100" type="title" hasCustomPrompt="1"/>
          </p:nvPr>
        </p:nvSpPr>
        <p:spPr>
          <a:xfrm>
            <a:off x="548640" y="1920240"/>
            <a:ext cx="8046720" cy="914400"/>
          </a:xfrm>
          <a:prstGeom prst="rect">
            <a:avLst/>
          </a:prstGeom>
          <a:noFill/>
          <a:ln/>
        </p:spPr>
        <p:txBody>
          <a:bodyPr wrap="square" lIns="0" tIns="0" rIns="0" bIns="0" rtlCol="0" anchor="t"/>
          <a:lstStyle/>
          <a:p>
            <a:pPr algn="l" indent="0" marL="0">
              <a:buNone/>
            </a:pPr>
            <a:r>
              <a:rPr lang="en-US" sz="4800" b="1" dirty="0">
                <a:solidFill>
                  <a:srgbClr val="F4F1EA"/>
                </a:solidFill>
              </a:rPr>
              <a:t>Questions?</a:t>
            </a:r>
            <a:endParaRPr lang="en-US" sz="4800" dirty="0"/>
          </a:p>
        </p:txBody>
      </p:sp>
    </p:spTree>
  </p:cSld>
  <p:clrMapOvr>
    <a:masterClrMapping/>
  </p:clrMapOvr>
</p:sld>
</file>

<file path=ppt/theme/theme1.xml><?xml version="1.0" encoding="utf-8"?>
<a:theme xmlns:a="http://schemas.openxmlformats.org/drawingml/2006/main" name="Resume Matcher">
  <a:themeElements>
    <a:clrScheme name="Resume Matcher">
      <a:dk1>
        <a:srgbClr val="14213D"/>
      </a:dk1>
      <a:lt1>
        <a:srgbClr val="FFFFFF"/>
      </a:lt1>
      <a:dk2>
        <a:srgbClr val="2D3748"/>
      </a:dk2>
      <a:lt2>
        <a:srgbClr val="F7F5EF"/>
      </a:lt2>
      <a:accent1>
        <a:srgbClr val="B85C1E"/>
      </a:accent1>
      <a:accent2>
        <a:srgbClr val="2F5D8C"/>
      </a:accent2>
      <a:accent3>
        <a:srgbClr val="E8EEF5"/>
      </a:accent3>
      <a:accent4>
        <a:srgbClr val="F2C79A"/>
      </a:accent4>
      <a:accent5>
        <a:srgbClr val="718096"/>
      </a:accent5>
      <a:accent6>
        <a:srgbClr val="E2DED3"/>
      </a:accent6>
      <a:hlink>
        <a:srgbClr val="2F5D8C"/>
      </a:hlink>
      <a:folHlink>
        <a:srgbClr val="6D4C9C"/>
      </a:folHlink>
    </a:clrScheme>
    <a:fontScheme name="Resume Match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Agent or Many? Progress Update</dc:title>
  <dc:subject>PptxGenJS Presentation</dc:subject>
  <dc:creator>PptxGenJS</dc:creator>
  <cp:lastModifiedBy>PptxGenJS</cp:lastModifiedBy>
  <cp:revision>1</cp:revision>
  <dcterms:created xsi:type="dcterms:W3CDTF">2026-10-06T19:37:30Z</dcterms:created>
  <dcterms:modified xsi:type="dcterms:W3CDTF">2026-10-06T19:37:30Z</dcterms:modified>
</cp:coreProperties>
</file>