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12"/>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fc9c66c6-658e-dcf3-2991-d085cadbce8a}">
          <p14:sldIdLst>
            <p14:sldId id="256"/>
          </p14:sldIdLst>
        </p14:section>
        <p14:section name="Progress" id="{9d883d13-2848-e685-c1ae-1f6a632c0069}">
          <p14:sldIdLst>
            <p14:sldId id="257"/>
            <p14:sldId id="258"/>
            <p14:sldId id="259"/>
          </p14:sldIdLst>
        </p14:section>
        <p14:section name="Results" id="{a4225a8b-24fc-cca3-683c-d76ebfa2725b}">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Seconds per completed run</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2A64A8"/>
            </a:solidFill>
            <a:effectLst/>
          </c:spPr>
          <c:invertIfNegative val="0"/>
          <c:dLbls>
            <c:numFmt formatCode="#,##0&quot;s&quot;"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64A8"/>
              </a:solidFill>
              <a:effectLst/>
            </c:spPr>
          </c:dPt>
          <c:dPt>
            <c:idx val="1"/>
            <c:invertIfNegative val="0"/>
            <c:bubble3D val="0"/>
            <c:spPr>
              <a:solidFill>
                <a:srgbClr val="B85C1E"/>
              </a:solidFill>
              <a:effectLst/>
            </c:spPr>
          </c:dPt>
          <c:dPt>
            <c:idx val="2"/>
            <c:invertIfNegative val="0"/>
            <c:bubble3D val="0"/>
            <c:spPr>
              <a:solidFill>
                <a:srgbClr val="2A64A8"/>
              </a:solidFill>
              <a:effectLst/>
            </c:spPr>
          </c:dPt>
          <c:dPt>
            <c:idx val="3"/>
            <c:invertIfNegative val="0"/>
            <c:bubble3D val="0"/>
            <c:spPr>
              <a:solidFill>
                <a:srgbClr val="B85C1E"/>
              </a:solidFill>
              <a:effectLst/>
            </c:spPr>
          </c:dPt>
          <c:cat>
            <c:multiLvlStrRef>
              <c:f>Sheet1!$A$2:$A$5</c:f>
              <c:multiLvlStrCache>
                <c:ptCount val="4"/>
                <c:lvl>
                  <c:pt idx="0">
                    <c:v>20 jobs Single</c:v>
                  </c:pt>
                  <c:pt idx="1">
                    <c:v>20 jobs Multi</c:v>
                  </c:pt>
                  <c:pt idx="2">
                    <c:v>50 jobs Single</c:v>
                  </c:pt>
                  <c:pt idx="3">
                    <c:v>50 jobs Multi</c:v>
                  </c:pt>
                </c:lvl>
              </c:multiLvlStrCache>
            </c:multiLvlStrRef>
          </c:cat>
          <c:val>
            <c:numRef>
              <c:f>Sheet1!$B$2:$B$5</c:f>
              <c:numCache>
                <c:formatCode>General</c:formatCode>
                <c:ptCount val="4"/>
                <c:pt idx="0">
                  <c:v>65.5</c:v>
                </c:pt>
                <c:pt idx="1">
                  <c:v>274.4</c:v>
                </c:pt>
                <c:pt idx="2">
                  <c:v>354.8</c:v>
                </c:pt>
                <c:pt idx="3">
                  <c:v>1200.2</c:v>
                </c:pt>
              </c:numCache>
            </c:numRef>
          </c:val>
        </c:ser>
        <c:dLbls>
          <c:numFmt formatCode="#,##0&quot;s&quot;"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Tokens per completed run (thousands)</a:t>
            </a:r>
          </a:p>
        </c:rich>
      </c:tx>
      <c:layout/>
      <c:overlay val="0"/>
    </c:title>
    <c:autoTitleDeleted val="0"/>
    <c:plotArea>
      <c:layout/>
      <c:barChart>
        <c:barDir val="col"/>
        <c:grouping val="clustered"/>
        <c:varyColors val="0"/>
        <c:ser>
          <c:idx val="0"/>
          <c:order val="0"/>
          <c:tx>
            <c:strRef>
              <c:f>Sheet1!$B$1</c:f>
              <c:strCache>
                <c:ptCount val="1"/>
                <c:pt idx="0">
                  <c:v>Tokens</c:v>
                </c:pt>
              </c:strCache>
            </c:strRef>
          </c:tx>
          <c:spPr>
            <a:solidFill>
              <a:srgbClr val="2A64A8"/>
            </a:solidFill>
            <a:effectLst/>
          </c:spPr>
          <c:invertIfNegative val="0"/>
          <c:dLbls>
            <c:numFmt formatCode="#,##0&quot;k&quot;"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64A8"/>
              </a:solidFill>
              <a:effectLst/>
            </c:spPr>
          </c:dPt>
          <c:dPt>
            <c:idx val="1"/>
            <c:invertIfNegative val="0"/>
            <c:bubble3D val="0"/>
            <c:spPr>
              <a:solidFill>
                <a:srgbClr val="B85C1E"/>
              </a:solidFill>
              <a:effectLst/>
            </c:spPr>
          </c:dPt>
          <c:dPt>
            <c:idx val="2"/>
            <c:invertIfNegative val="0"/>
            <c:bubble3D val="0"/>
            <c:spPr>
              <a:solidFill>
                <a:srgbClr val="2A64A8"/>
              </a:solidFill>
              <a:effectLst/>
            </c:spPr>
          </c:dPt>
          <c:dPt>
            <c:idx val="3"/>
            <c:invertIfNegative val="0"/>
            <c:bubble3D val="0"/>
            <c:spPr>
              <a:solidFill>
                <a:srgbClr val="B85C1E"/>
              </a:solidFill>
              <a:effectLst/>
            </c:spPr>
          </c:dPt>
          <c:cat>
            <c:multiLvlStrRef>
              <c:f>Sheet1!$A$2:$A$5</c:f>
              <c:multiLvlStrCache>
                <c:ptCount val="4"/>
                <c:lvl>
                  <c:pt idx="0">
                    <c:v>20 jobs Single</c:v>
                  </c:pt>
                  <c:pt idx="1">
                    <c:v>20 jobs Multi</c:v>
                  </c:pt>
                  <c:pt idx="2">
                    <c:v>50 jobs Single</c:v>
                  </c:pt>
                  <c:pt idx="3">
                    <c:v>50 jobs Multi</c:v>
                  </c:pt>
                </c:lvl>
              </c:multiLvlStrCache>
            </c:multiLvlStrRef>
          </c:cat>
          <c:val>
            <c:numRef>
              <c:f>Sheet1!$B$2:$B$5</c:f>
              <c:numCache>
                <c:formatCode>General</c:formatCode>
                <c:ptCount val="4"/>
                <c:pt idx="0">
                  <c:v>31.3</c:v>
                </c:pt>
                <c:pt idx="1">
                  <c:v>92.8</c:v>
                </c:pt>
                <c:pt idx="2">
                  <c:v>73.5</c:v>
                </c:pt>
                <c:pt idx="3">
                  <c:v>214.6</c:v>
                </c:pt>
              </c:numCache>
            </c:numRef>
          </c:val>
        </c:ser>
        <c:dLbls>
          <c:numFmt formatCode="#,##0&quot;k&quot;"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13D"/>
                </a:solidFill>
              </a:rPr>
              <a:t>Precision@5 (higher is better)</a:t>
            </a:r>
          </a:p>
        </c:rich>
      </c:tx>
      <c:layout/>
      <c:overlay val="0"/>
    </c:title>
    <c:autoTitleDeleted val="0"/>
    <c:plotArea>
      <c:barChart>
        <c:barDir val="col"/>
        <c:grouping val="clustered"/>
        <c:ser>
          <c:idx val="0"/>
          <c:order val="0"/>
          <c:tx>
            <c:strRef>
              <c:f>Sheet1!$B$1</c:f>
              <c:strCache>
                <c:ptCount val="1"/>
                <c:pt idx="0">
                  <c:v>Single agent</c:v>
                </c:pt>
              </c:strCache>
            </c:strRef>
          </c:tx>
          <c:spPr>
            <a:solidFill>
              <a:srgbClr val="2F5D8C"/>
            </a:solidFill>
          </c:spPr>
          <c:cat>
            <c:strRef>
              <c:f>Sheet1!$A$2:$A$3</c:f>
              <c:strCache>
                <c:ptCount val="2"/>
                <c:pt idx="0">
                  <c:v>20 jobs</c:v>
                </c:pt>
                <c:pt idx="1">
                  <c:v>50 jobs</c:v>
                </c:pt>
              </c:strCache>
            </c:strRef>
          </c:cat>
          <c:val>
            <c:numRef>
              <c:f>Sheet1!$B$2:$B$3</c:f>
              <c:numCache>
                <c:formatCode>General</c:formatCode>
                <c:ptCount val="2"/>
                <c:pt idx="0">
                  <c:v>0.433</c:v>
                </c:pt>
                <c:pt idx="1">
                  <c:v>0.317</c:v>
                </c:pt>
              </c:numCache>
            </c:numRef>
          </c:val>
        </c:ser>
        <c:ser>
          <c:idx val="1"/>
          <c:order val="1"/>
          <c:tx>
            <c:strRef>
              <c:f>Sheet1!$C$1</c:f>
              <c:strCache>
                <c:ptCount val="1"/>
                <c:pt idx="0">
                  <c:v>Multi-agent</c:v>
                </c:pt>
              </c:strCache>
            </c:strRef>
          </c:tx>
          <c:spPr>
            <a:solidFill>
              <a:srgbClr val="B85C1E"/>
            </a:solidFill>
          </c:spPr>
          <c:cat>
            <c:strRef>
              <c:f>Sheet1!$A$2:$A$3</c:f>
              <c:strCache>
                <c:ptCount val="2"/>
                <c:pt idx="0">
                  <c:v>20 jobs</c:v>
                </c:pt>
                <c:pt idx="1">
                  <c:v>50 jobs</c:v>
                </c:pt>
              </c:strCache>
            </c:strRef>
          </c:cat>
          <c:val>
            <c:numRef>
              <c:f>Sheet1!$C$2:$C$3</c:f>
              <c:numCache>
                <c:formatCode>General</c:formatCode>
                <c:ptCount val="2"/>
                <c:pt idx="0">
                  <c:v>0.383</c:v>
                </c:pt>
                <c:pt idx="1">
                  <c:v>0.317</c:v>
                </c:pt>
              </c:numCache>
            </c:numRef>
          </c:val>
        </c:ser>
        <c:dLbls>
          <c:numFmt formatCode="0.00" sourceLinked="0"/>
          <c:txPr>
            <a:bodyPr/>
            <a:lstStyle/>
            <a:p>
              <a:pPr>
                <a:defRPr sz="1000" b="1">
                  <a:solidFill>
                    <a:srgbClr val="14213D"/>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CBD5E0"/>
            </a:solidFill>
          </a:ln>
        </c:spPr>
        <c:txPr>
          <a:bodyPr/>
          <a:lstStyle/>
          <a:p>
            <a:pPr>
              <a:defRPr sz="1000">
                <a:solidFill>
                  <a:srgbClr val="4A556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000">
              <a:solidFill>
                <a:srgbClr val="4A5568"/>
              </a:solidFil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213D"/>
                </a:solidFill>
              </a:rPr>
              <a:t>Median seconds per resume</a:t>
            </a:r>
          </a:p>
        </c:rich>
      </c:tx>
      <c:layout/>
      <c:overlay val="0"/>
    </c:title>
    <c:autoTitleDeleted val="0"/>
    <c:plotArea>
      <c:barChart>
        <c:barDir val="col"/>
        <c:grouping val="clustered"/>
        <c:ser>
          <c:idx val="0"/>
          <c:order val="0"/>
          <c:tx>
            <c:strRef>
              <c:f>Sheet1!$B$1</c:f>
              <c:strCache>
                <c:ptCount val="1"/>
                <c:pt idx="0">
                  <c:v>Single agent</c:v>
                </c:pt>
              </c:strCache>
            </c:strRef>
          </c:tx>
          <c:spPr>
            <a:solidFill>
              <a:srgbClr val="2F5D8C"/>
            </a:solidFill>
          </c:spPr>
          <c:cat>
            <c:strRef>
              <c:f>Sheet1!$A$2:$A$3</c:f>
              <c:strCache>
                <c:ptCount val="2"/>
                <c:pt idx="0">
                  <c:v>20 jobs</c:v>
                </c:pt>
                <c:pt idx="1">
                  <c:v>50 jobs</c:v>
                </c:pt>
              </c:strCache>
            </c:strRef>
          </c:cat>
          <c:val>
            <c:numRef>
              <c:f>Sheet1!$B$2:$B$3</c:f>
              <c:numCache>
                <c:formatCode>General</c:formatCode>
                <c:ptCount val="2"/>
                <c:pt idx="0">
                  <c:v>13.4</c:v>
                </c:pt>
                <c:pt idx="1">
                  <c:v>33.4</c:v>
                </c:pt>
              </c:numCache>
            </c:numRef>
          </c:val>
        </c:ser>
        <c:ser>
          <c:idx val="1"/>
          <c:order val="1"/>
          <c:tx>
            <c:strRef>
              <c:f>Sheet1!$C$1</c:f>
              <c:strCache>
                <c:ptCount val="1"/>
                <c:pt idx="0">
                  <c:v>Multi-agent</c:v>
                </c:pt>
              </c:strCache>
            </c:strRef>
          </c:tx>
          <c:spPr>
            <a:solidFill>
              <a:srgbClr val="B85C1E"/>
            </a:solidFill>
          </c:spPr>
          <c:cat>
            <c:strRef>
              <c:f>Sheet1!$A$2:$A$3</c:f>
              <c:strCache>
                <c:ptCount val="2"/>
                <c:pt idx="0">
                  <c:v>20 jobs</c:v>
                </c:pt>
                <c:pt idx="1">
                  <c:v>50 jobs</c:v>
                </c:pt>
              </c:strCache>
            </c:strRef>
          </c:cat>
          <c:val>
            <c:numRef>
              <c:f>Sheet1!$C$2:$C$3</c:f>
              <c:numCache>
                <c:formatCode>General</c:formatCode>
                <c:ptCount val="2"/>
                <c:pt idx="0">
                  <c:v>51.9</c:v>
                </c:pt>
                <c:pt idx="1">
                  <c:v>197.6</c:v>
                </c:pt>
              </c:numCache>
            </c:numRef>
          </c:val>
        </c:ser>
        <c:dLbls>
          <c:numFmt formatCode="0&quot;s&quot;" sourceLinked="0"/>
          <c:txPr>
            <a:bodyPr/>
            <a:lstStyle/>
            <a:p>
              <a:pPr>
                <a:defRPr sz="1000" b="1">
                  <a:solidFill>
                    <a:srgbClr val="14213D"/>
                  </a:solidFill>
                </a:defRPr>
              </a:pPr>
            </a:p>
          </c:txPr>
          <c:dLblPos val="outEnd"/>
          <c:showLegendKey val="0"/>
          <c:showVal val="1"/>
          <c:showCatName val="0"/>
          <c:showSerName val="0"/>
          <c:showPercent val="0"/>
          <c:showBubbleSize val="0"/>
          <c:showLeaderLines val="1"/>
        </c:dLbls>
        <c:gapWidth val="80"/>
        <c:overlap val="-10"/>
        <c:axId val="-2068027336"/>
        <c:axId val="-2113994440"/>
      </c:barChart>
      <c:catAx>
        <c:axId val="-2068027336"/>
        <c:scaling>
          <c:orientation val="minMax"/>
        </c:scaling>
        <c:delete val="0"/>
        <c:axPos val="b"/>
        <c:majorTickMark val="out"/>
        <c:minorTickMark val="none"/>
        <c:tickLblPos val="nextTo"/>
        <c:spPr>
          <a:ln>
            <a:solidFill>
              <a:srgbClr val="CBD5E0"/>
            </a:solidFill>
          </a:ln>
        </c:spPr>
        <c:txPr>
          <a:bodyPr/>
          <a:lstStyle/>
          <a:p>
            <a:pPr>
              <a:defRPr sz="1000">
                <a:solidFill>
                  <a:srgbClr val="4A5568"/>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000">
              <a:solidFill>
                <a:srgbClr val="4A5568"/>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status check: where each of the three pieces stands. Nothing is graded here; no real experiment results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data was pulled Sept 24: 219 postings fetched, filtered to early-career US software/data roles, 20 flagged as the small workload (10 per source). Resumes: 10 chosen from 33 student resumes from a previous course, mostly new-grad CS / CompE / data, with a mix of SWE, data, AI/ML and embedded backgrounds. Location preferences were assigned by us. Labels: Kevin, Ritvik and Aidan labeled all 400 eval pairs (8 resumes x 50 jobs) by applying the rubric before any matcher output existed; 109 are relevant, and every no has a reason code. The 80-pair second review by the team is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sends the cleaned resume, preferences and every job description in one call and gets back five ranked job IDs with explanations. It shares input cleanup, model, output limit, ranking prompt and validation with the orchestrator, so the only difference is the architecture. The local benchmark runs both pipelines on the 2 dev resumes against 20 and 50 jobs (8 runs) and measures tokens and wall-clock time; it doesn't measure accuracy; that's the Precision@5 step using the 400 reference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 extractor now selects numbered lines from each posting (at most four per required / preferred / constraints) and the controller restores the exact original text, so nothing gets paraphrased or invented. The ranker gets those references plus the full numbered postings. Local runs have $0 API cost; hardware and electricity aren't measured. Cloud runs would use GPT-4.1 mini at prices recorded Oct 6. In the benchmark both R02 multi-agent runs failed the resume-evidence check, so that validator needs a look. No quality numbers yet; Precision@5 against the reference labels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ran both pipelines locally: 2 dev resumes x 20 and 50 jobs x 2 architectures = 8 runs, 6 completed. Single agent: 65.5s and 31k tokens at 20 jobs, 355s and 74k tokens at 50 jobs. Multi agent: 274s and 93k tokens at 20 jobs, 1,200s and 215k tokens at 50 jobs. On the same resume (R01) multi agent was 4.2x slower at 20 jobs and 4.5x slower at 50. Both R02 multi-agent runs failed: the resume parser returned evidence that wasn't an exact quote, so the validator rejected it. Local runs have $0 API charges; hardware and electricity weren't measured. On R01 with 20 jobs the two pipelines agreed on 2 of their top 5 picks; that's agreement, not accuracy. Small sample, one repetition, model already warm, so treat these as early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914400"/>
          </a:xfrm>
          <a:prstGeom prst="rect">
            <a:avLst/>
          </a:prstGeom>
          <a:noFill/>
          <a:ln/>
        </p:spPr>
        <p:txBody>
          <a:bodyPr wrap="square" rtlCol="0"/>
          <a:lstStyle>
            <a:lvl1pPr algn="l" indent="0" marL="0">
              <a:buNone/>
              <a:defRPr lang="en-US" sz="4800" b="1" dirty="0">
                <a:solidFill>
                  <a:srgbClr val="F4F1EA"/>
                </a:solidFill>
              </a:defRPr>
            </a:lvl1pPr>
          </a:lstStyle>
          <a:p>
            <a:pPr algn="l" indent="0" marL="0">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5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8046720" cy="548640"/>
          </a:xfrm>
          <a:prstGeom prst="rect">
            <a:avLst/>
          </a:prstGeom>
          <a:noFill/>
          <a:ln/>
        </p:spPr>
        <p:txBody>
          <a:bodyPr wrap="square" rtlCol="0"/>
          <a:lstStyle>
            <a:lvl1pPr algn="l" indent="0" marL="0">
              <a:buNone/>
              <a:defRPr lang="en-US" sz="2800" b="1" dirty="0">
                <a:solidFill>
                  <a:srgbClr val="14213D"/>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3.xml"/><Relationship Id="rId3" Type="http://schemas.openxmlformats.org/officeDocument/2006/relationships/chart" Target="../charts/char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046720" cy="274320"/>
          </a:xfrm>
          <a:prstGeom prst="rect">
            <a:avLst/>
          </a:prstGeom>
          <a:noFill/>
          <a:ln/>
        </p:spPr>
        <p:txBody>
          <a:bodyPr wrap="square" lIns="0" tIns="0" rIns="0" bIns="0" rtlCol="0" anchor="ctr"/>
          <a:lstStyle/>
          <a:p>
            <a:pPr indent="0" marL="0">
              <a:buNone/>
            </a:pPr>
            <a:r>
              <a:rPr lang="en-US" sz="1200" spc="200" kern="0" dirty="0">
                <a:solidFill>
                  <a:srgbClr val="F2A65A"/>
                </a:solidFill>
                <a:latin typeface="Courier New" pitchFamily="34" charset="0"/>
                <a:ea typeface="Courier New" pitchFamily="34" charset="-122"/>
                <a:cs typeface="Courier New" pitchFamily="34" charset="-120"/>
              </a:rPr>
              <a:t>CSCE 585 · PROGRESS UPDATE · OCT 2026</a:t>
            </a:r>
            <a:endParaRPr lang="en-US" sz="1200" dirty="0"/>
          </a:p>
        </p:txBody>
      </p:sp>
      <p:sp>
        <p:nvSpPr>
          <p:cNvPr id="3" name="Text 0"/>
          <p:cNvSpPr/>
          <p:nvPr>
            <p:ph idx="100" type="title" hasCustomPrompt="1"/>
          </p:nvPr>
        </p:nvSpPr>
        <p:spPr>
          <a:xfrm>
            <a:off x="548640" y="1554480"/>
            <a:ext cx="8046720" cy="914400"/>
          </a:xfrm>
          <a:prstGeom prst="rect">
            <a:avLst/>
          </a:prstGeom>
          <a:noFill/>
          <a:ln/>
        </p:spPr>
        <p:txBody>
          <a:bodyPr wrap="square" lIns="0" tIns="0" rIns="0" bIns="0" rtlCol="0" anchor="t"/>
          <a:lstStyle/>
          <a:p>
            <a:pPr algn="l" indent="0" marL="0">
              <a:buNone/>
            </a:pPr>
            <a:r>
              <a:rPr lang="en-US" sz="4800" b="1" dirty="0">
                <a:solidFill>
                  <a:srgbClr val="F4F1EA"/>
                </a:solidFill>
              </a:rPr>
              <a:t>One Agent or Many?</a:t>
            </a:r>
            <a:endParaRPr lang="en-US" sz="4800" dirty="0"/>
          </a:p>
        </p:txBody>
      </p:sp>
      <p:sp>
        <p:nvSpPr>
          <p:cNvPr id="4" name="Text 2"/>
          <p:cNvSpPr txBox="1"/>
          <p:nvPr/>
        </p:nvSpPr>
        <p:spPr>
          <a:xfrm>
            <a:off x="548640" y="2514600"/>
            <a:ext cx="6858000" cy="457200"/>
          </a:xfrm>
          <a:prstGeom prst="rect">
            <a:avLst/>
          </a:prstGeom>
          <a:noFill/>
          <a:ln/>
        </p:spPr>
        <p:txBody>
          <a:bodyPr wrap="square" lIns="0" tIns="0" rIns="0" bIns="0" rtlCol="0" anchor="ctr"/>
          <a:lstStyle/>
          <a:p>
            <a:pPr indent="0" marL="0">
              <a:buNone/>
            </a:pPr>
            <a:r>
              <a:rPr lang="en-US" sz="2000" dirty="0">
                <a:solidFill>
                  <a:srgbClr val="BFC8D9"/>
                </a:solidFill>
              </a:rPr>
              <a:t>Orchestrated vs. single-agent resume-to-job matching</a:t>
            </a:r>
            <a:endParaRPr lang="en-US" sz="2000" dirty="0"/>
          </a:p>
        </p:txBody>
      </p:sp>
      <p:sp>
        <p:nvSpPr>
          <p:cNvPr id="5" name="Text 3"/>
          <p:cNvSpPr txBox="1"/>
          <p:nvPr/>
        </p:nvSpPr>
        <p:spPr>
          <a:xfrm>
            <a:off x="548640" y="4343400"/>
            <a:ext cx="2606040" cy="320040"/>
          </a:xfrm>
          <a:prstGeom prst="rect">
            <a:avLst/>
          </a:prstGeom>
          <a:noFill/>
          <a:ln/>
        </p:spPr>
        <p:txBody>
          <a:bodyPr wrap="square" lIns="0" tIns="0" rIns="0" bIns="0" rtlCol="0" anchor="ctr"/>
          <a:lstStyle/>
          <a:p>
            <a:pPr indent="0" marL="0">
              <a:buNone/>
            </a:pPr>
            <a:r>
              <a:rPr lang="en-US" sz="1400" dirty="0">
                <a:solidFill>
                  <a:srgbClr val="BFC8D9"/>
                </a:solidFill>
              </a:rPr>
              <a:t>Aidan · single-agent baseline</a:t>
            </a:r>
            <a:endParaRPr lang="en-US" sz="1400" dirty="0"/>
          </a:p>
        </p:txBody>
      </p:sp>
      <p:sp>
        <p:nvSpPr>
          <p:cNvPr id="6" name="Text 4"/>
          <p:cNvSpPr txBox="1"/>
          <p:nvPr/>
        </p:nvSpPr>
        <p:spPr>
          <a:xfrm>
            <a:off x="3246120" y="4343400"/>
            <a:ext cx="2606040" cy="320040"/>
          </a:xfrm>
          <a:prstGeom prst="rect">
            <a:avLst/>
          </a:prstGeom>
          <a:noFill/>
          <a:ln/>
        </p:spPr>
        <p:txBody>
          <a:bodyPr wrap="square" lIns="0" tIns="0" rIns="0" bIns="0" rtlCol="0" anchor="ctr"/>
          <a:lstStyle/>
          <a:p>
            <a:pPr indent="0" marL="0">
              <a:buNone/>
            </a:pPr>
            <a:r>
              <a:rPr lang="en-US" sz="1400" dirty="0">
                <a:solidFill>
                  <a:srgbClr val="BFC8D9"/>
                </a:solidFill>
              </a:rPr>
              <a:t>Kevin Do · orchestration</a:t>
            </a:r>
            <a:endParaRPr lang="en-US" sz="1400" dirty="0"/>
          </a:p>
        </p:txBody>
      </p:sp>
      <p:sp>
        <p:nvSpPr>
          <p:cNvPr id="7" name="Text 5"/>
          <p:cNvSpPr txBox="1"/>
          <p:nvPr/>
        </p:nvSpPr>
        <p:spPr>
          <a:xfrm>
            <a:off x="5943600" y="4343400"/>
            <a:ext cx="2606040" cy="320040"/>
          </a:xfrm>
          <a:prstGeom prst="rect">
            <a:avLst/>
          </a:prstGeom>
          <a:noFill/>
          <a:ln/>
        </p:spPr>
        <p:txBody>
          <a:bodyPr wrap="square" lIns="0" tIns="0" rIns="0" bIns="0" rtlCol="0" anchor="ctr"/>
          <a:lstStyle/>
          <a:p>
            <a:pPr indent="0" marL="0">
              <a:buNone/>
            </a:pPr>
            <a:r>
              <a:rPr lang="en-US" sz="1400" dirty="0">
                <a:solidFill>
                  <a:srgbClr val="BFC8D9"/>
                </a:solidFill>
              </a:rPr>
              <a:t>Ritvik · data &amp; eval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65760"/>
            <a:ext cx="5120640" cy="274320"/>
          </a:xfrm>
          <a:prstGeom prst="rect">
            <a:avLst/>
          </a:prstGeom>
          <a:noFill/>
          <a:ln/>
        </p:spPr>
        <p:txBody>
          <a:bodyPr wrap="square" lIns="0" tIns="0" rIns="0" bIns="0" rtlCol="0" anchor="ctr"/>
          <a:lstStyle/>
          <a:p>
            <a:pPr indent="0" marL="0">
              <a:buNone/>
            </a:pPr>
            <a:r>
              <a:rPr lang="en-US" sz="1200" spc="150" kern="0" dirty="0">
                <a:solidFill>
                  <a:srgbClr val="B85C1E"/>
                </a:solidFill>
                <a:latin typeface="Courier New" pitchFamily="34" charset="0"/>
                <a:ea typeface="Courier New" pitchFamily="34" charset="-122"/>
                <a:cs typeface="Courier New" pitchFamily="34" charset="-120"/>
              </a:rPr>
              <a:t>01 · DATA &amp; EVALUATION · RITVIK</a:t>
            </a:r>
            <a:endParaRPr lang="en-US" sz="1200" dirty="0"/>
          </a:p>
        </p:txBody>
      </p:sp>
      <p:sp>
        <p:nvSpPr>
          <p:cNvPr id="3" name="status"/>
          <p:cNvSpPr/>
          <p:nvPr/>
        </p:nvSpPr>
        <p:spPr>
          <a:xfrm>
            <a:off x="5669280" y="329184"/>
            <a:ext cx="2926080" cy="329184"/>
          </a:xfrm>
          <a:prstGeom prst="roundRect">
            <a:avLst>
              <a:gd name="adj" fmla="val 138889"/>
            </a:avLst>
          </a:prstGeom>
          <a:solidFill>
            <a:srgbClr val="2F5D8C"/>
          </a:solidFill>
          <a:ln/>
        </p:spPr>
        <p:txBody>
          <a:bodyPr wrap="square" lIns="0" tIns="0" rIns="0" bIns="0" rtlCol="0" anchor="ctr"/>
          <a:lstStyle/>
          <a:p>
            <a:pPr algn="ctr" indent="0" marL="0">
              <a:buNone/>
            </a:pPr>
            <a:r>
              <a:rPr lang="en-US" sz="1100" b="1" dirty="0">
                <a:solidFill>
                  <a:srgbClr val="F7F5EF"/>
                </a:solidFill>
              </a:rPr>
              <a:t>Jobs, resumes, labels done</a:t>
            </a:r>
            <a:endParaRPr lang="en-US" sz="1100" dirty="0"/>
          </a:p>
        </p:txBody>
      </p:sp>
      <p:sp>
        <p:nvSpPr>
          <p:cNvPr id="4" name="Text 0"/>
          <p:cNvSpPr/>
          <p:nvPr>
            <p:ph idx="100" type="title" hasCustomPrompt="1"/>
          </p:nvPr>
        </p:nvSpPr>
        <p:spPr>
          <a:xfrm>
            <a:off x="548640" y="77724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Jobs, resumes and labels are ready</a:t>
            </a:r>
            <a:endParaRPr lang="en-US" sz="2800" dirty="0"/>
          </a:p>
        </p:txBody>
      </p:sp>
      <p:sp>
        <p:nvSpPr>
          <p:cNvPr id="5" name="Shape 3"/>
          <p:cNvSpPr/>
          <p:nvPr/>
        </p:nvSpPr>
        <p:spPr>
          <a:xfrm>
            <a:off x="548640" y="1508760"/>
            <a:ext cx="1874520" cy="1280160"/>
          </a:xfrm>
          <a:prstGeom prst="roundRect">
            <a:avLst>
              <a:gd name="adj" fmla="val 5714"/>
            </a:avLst>
          </a:prstGeom>
          <a:solidFill>
            <a:srgbClr val="FFFFFF"/>
          </a:solidFill>
          <a:ln w="9525">
            <a:solidFill>
              <a:srgbClr val="E2DED3"/>
            </a:solidFill>
            <a:prstDash val="solid"/>
          </a:ln>
        </p:spPr>
      </p:sp>
      <p:sp>
        <p:nvSpPr>
          <p:cNvPr id="6" name="Text 4"/>
          <p:cNvSpPr txBox="1"/>
          <p:nvPr/>
        </p:nvSpPr>
        <p:spPr>
          <a:xfrm>
            <a:off x="685800" y="1618488"/>
            <a:ext cx="1600200" cy="548640"/>
          </a:xfrm>
          <a:prstGeom prst="rect">
            <a:avLst/>
          </a:prstGeom>
          <a:noFill/>
          <a:ln/>
        </p:spPr>
        <p:txBody>
          <a:bodyPr wrap="square" lIns="0" tIns="0" rIns="0" bIns="0" rtlCol="0" anchor="ctr"/>
          <a:lstStyle/>
          <a:p>
            <a:pPr indent="0" marL="0">
              <a:buNone/>
            </a:pPr>
            <a:r>
              <a:rPr lang="en-US" sz="3200" b="1" dirty="0">
                <a:solidFill>
                  <a:srgbClr val="14213D"/>
                </a:solidFill>
              </a:rPr>
              <a:t>50</a:t>
            </a:r>
            <a:endParaRPr lang="en-US" sz="3200" dirty="0"/>
          </a:p>
        </p:txBody>
      </p:sp>
      <p:sp>
        <p:nvSpPr>
          <p:cNvPr id="7" name="Text 5"/>
          <p:cNvSpPr txBox="1"/>
          <p:nvPr/>
        </p:nvSpPr>
        <p:spPr>
          <a:xfrm>
            <a:off x="685800" y="2194560"/>
            <a:ext cx="1600200" cy="502920"/>
          </a:xfrm>
          <a:prstGeom prst="rect">
            <a:avLst/>
          </a:prstGeom>
          <a:noFill/>
          <a:ln/>
        </p:spPr>
        <p:txBody>
          <a:bodyPr wrap="square" lIns="0" tIns="0" rIns="0" bIns="0" rtlCol="0" anchor="t"/>
          <a:lstStyle/>
          <a:p>
            <a:pPr indent="0" marL="0">
              <a:buNone/>
            </a:pPr>
            <a:r>
              <a:rPr lang="en-US" sz="1200" dirty="0">
                <a:solidFill>
                  <a:srgbClr val="4A5568"/>
                </a:solidFill>
              </a:rPr>
              <a:t>new-grad SWE / data postings, 46 employers</a:t>
            </a:r>
            <a:endParaRPr lang="en-US" sz="1200" dirty="0"/>
          </a:p>
        </p:txBody>
      </p:sp>
      <p:sp>
        <p:nvSpPr>
          <p:cNvPr id="8" name="Shape 6"/>
          <p:cNvSpPr/>
          <p:nvPr/>
        </p:nvSpPr>
        <p:spPr>
          <a:xfrm>
            <a:off x="2606040" y="1508760"/>
            <a:ext cx="1874520" cy="1280160"/>
          </a:xfrm>
          <a:prstGeom prst="roundRect">
            <a:avLst>
              <a:gd name="adj" fmla="val 5714"/>
            </a:avLst>
          </a:prstGeom>
          <a:solidFill>
            <a:srgbClr val="FFFFFF"/>
          </a:solidFill>
          <a:ln w="9525">
            <a:solidFill>
              <a:srgbClr val="E2DED3"/>
            </a:solidFill>
            <a:prstDash val="solid"/>
          </a:ln>
        </p:spPr>
      </p:sp>
      <p:sp>
        <p:nvSpPr>
          <p:cNvPr id="9" name="Text 7"/>
          <p:cNvSpPr txBox="1"/>
          <p:nvPr/>
        </p:nvSpPr>
        <p:spPr>
          <a:xfrm>
            <a:off x="2743200" y="1618488"/>
            <a:ext cx="1600200" cy="548640"/>
          </a:xfrm>
          <a:prstGeom prst="rect">
            <a:avLst/>
          </a:prstGeom>
          <a:noFill/>
          <a:ln/>
        </p:spPr>
        <p:txBody>
          <a:bodyPr wrap="square" lIns="0" tIns="0" rIns="0" bIns="0" rtlCol="0" anchor="ctr"/>
          <a:lstStyle/>
          <a:p>
            <a:pPr indent="0" marL="0">
              <a:buNone/>
            </a:pPr>
            <a:r>
              <a:rPr lang="en-US" sz="3200" b="1" dirty="0">
                <a:solidFill>
                  <a:srgbClr val="14213D"/>
                </a:solidFill>
              </a:rPr>
              <a:t>25 + 25</a:t>
            </a:r>
            <a:endParaRPr lang="en-US" sz="3200" dirty="0"/>
          </a:p>
        </p:txBody>
      </p:sp>
      <p:sp>
        <p:nvSpPr>
          <p:cNvPr id="10" name="Text 8"/>
          <p:cNvSpPr txBox="1"/>
          <p:nvPr/>
        </p:nvSpPr>
        <p:spPr>
          <a:xfrm>
            <a:off x="2743200" y="2194560"/>
            <a:ext cx="1600200" cy="502920"/>
          </a:xfrm>
          <a:prstGeom prst="rect">
            <a:avLst/>
          </a:prstGeom>
          <a:noFill/>
          <a:ln/>
        </p:spPr>
        <p:txBody>
          <a:bodyPr wrap="square" lIns="0" tIns="0" rIns="0" bIns="0" rtlCol="0" anchor="t"/>
          <a:lstStyle/>
          <a:p>
            <a:pPr indent="0" marL="0">
              <a:buNone/>
            </a:pPr>
            <a:r>
              <a:rPr lang="en-US" sz="1200" dirty="0">
                <a:solidFill>
                  <a:srgbClr val="4A5568"/>
                </a:solidFill>
              </a:rPr>
              <a:t>Greenhouse + Lever</a:t>
            </a:r>
            <a:endParaRPr lang="en-US" sz="1200" dirty="0"/>
          </a:p>
        </p:txBody>
      </p:sp>
      <p:sp>
        <p:nvSpPr>
          <p:cNvPr id="11" name="Shape 9"/>
          <p:cNvSpPr/>
          <p:nvPr/>
        </p:nvSpPr>
        <p:spPr>
          <a:xfrm>
            <a:off x="4663440" y="1508760"/>
            <a:ext cx="1874520" cy="1280160"/>
          </a:xfrm>
          <a:prstGeom prst="roundRect">
            <a:avLst>
              <a:gd name="adj" fmla="val 5714"/>
            </a:avLst>
          </a:prstGeom>
          <a:solidFill>
            <a:srgbClr val="FFFFFF"/>
          </a:solidFill>
          <a:ln w="9525">
            <a:solidFill>
              <a:srgbClr val="E2DED3"/>
            </a:solidFill>
            <a:prstDash val="solid"/>
          </a:ln>
        </p:spPr>
      </p:sp>
      <p:sp>
        <p:nvSpPr>
          <p:cNvPr id="12" name="Text 10"/>
          <p:cNvSpPr txBox="1"/>
          <p:nvPr/>
        </p:nvSpPr>
        <p:spPr>
          <a:xfrm>
            <a:off x="4800600" y="1618488"/>
            <a:ext cx="1600200" cy="548640"/>
          </a:xfrm>
          <a:prstGeom prst="rect">
            <a:avLst/>
          </a:prstGeom>
          <a:noFill/>
          <a:ln/>
        </p:spPr>
        <p:txBody>
          <a:bodyPr wrap="square" lIns="0" tIns="0" rIns="0" bIns="0" rtlCol="0" anchor="ctr"/>
          <a:lstStyle/>
          <a:p>
            <a:pPr indent="0" marL="0">
              <a:buNone/>
            </a:pPr>
            <a:r>
              <a:rPr lang="en-US" sz="3200" b="1" dirty="0">
                <a:solidFill>
                  <a:srgbClr val="14213D"/>
                </a:solidFill>
              </a:rPr>
              <a:t>10</a:t>
            </a:r>
            <a:endParaRPr lang="en-US" sz="3200" dirty="0"/>
          </a:p>
        </p:txBody>
      </p:sp>
      <p:sp>
        <p:nvSpPr>
          <p:cNvPr id="13" name="Text 11"/>
          <p:cNvSpPr txBox="1"/>
          <p:nvPr/>
        </p:nvSpPr>
        <p:spPr>
          <a:xfrm>
            <a:off x="4800600" y="2194560"/>
            <a:ext cx="1600200" cy="502920"/>
          </a:xfrm>
          <a:prstGeom prst="rect">
            <a:avLst/>
          </a:prstGeom>
          <a:noFill/>
          <a:ln/>
        </p:spPr>
        <p:txBody>
          <a:bodyPr wrap="square" lIns="0" tIns="0" rIns="0" bIns="0" rtlCol="0" anchor="t"/>
          <a:lstStyle/>
          <a:p>
            <a:pPr indent="0" marL="0">
              <a:buNone/>
            </a:pPr>
            <a:r>
              <a:rPr lang="en-US" sz="1200" dirty="0">
                <a:solidFill>
                  <a:srgbClr val="4A5568"/>
                </a:solidFill>
              </a:rPr>
              <a:t>anonymized resumes (2 dev, 8 eval)</a:t>
            </a:r>
            <a:endParaRPr lang="en-US" sz="1200" dirty="0"/>
          </a:p>
        </p:txBody>
      </p:sp>
      <p:sp>
        <p:nvSpPr>
          <p:cNvPr id="14" name="Shape 12"/>
          <p:cNvSpPr/>
          <p:nvPr/>
        </p:nvSpPr>
        <p:spPr>
          <a:xfrm>
            <a:off x="6720840" y="1508760"/>
            <a:ext cx="1874520" cy="1280160"/>
          </a:xfrm>
          <a:prstGeom prst="roundRect">
            <a:avLst>
              <a:gd name="adj" fmla="val 5714"/>
            </a:avLst>
          </a:prstGeom>
          <a:solidFill>
            <a:srgbClr val="FFFFFF"/>
          </a:solidFill>
          <a:ln w="9525">
            <a:solidFill>
              <a:srgbClr val="E2DED3"/>
            </a:solidFill>
            <a:prstDash val="solid"/>
          </a:ln>
        </p:spPr>
      </p:sp>
      <p:sp>
        <p:nvSpPr>
          <p:cNvPr id="15" name="Text 13"/>
          <p:cNvSpPr txBox="1"/>
          <p:nvPr/>
        </p:nvSpPr>
        <p:spPr>
          <a:xfrm>
            <a:off x="6858000" y="1618488"/>
            <a:ext cx="1600200" cy="548640"/>
          </a:xfrm>
          <a:prstGeom prst="rect">
            <a:avLst/>
          </a:prstGeom>
          <a:noFill/>
          <a:ln/>
        </p:spPr>
        <p:txBody>
          <a:bodyPr wrap="square" lIns="0" tIns="0" rIns="0" bIns="0" rtlCol="0" anchor="ctr"/>
          <a:lstStyle/>
          <a:p>
            <a:pPr indent="0" marL="0">
              <a:buNone/>
            </a:pPr>
            <a:r>
              <a:rPr lang="en-US" sz="3200" b="1" dirty="0">
                <a:solidFill>
                  <a:srgbClr val="14213D"/>
                </a:solidFill>
              </a:rPr>
              <a:t>400</a:t>
            </a:r>
            <a:endParaRPr lang="en-US" sz="3200" dirty="0"/>
          </a:p>
        </p:txBody>
      </p:sp>
      <p:sp>
        <p:nvSpPr>
          <p:cNvPr id="16" name="Text 14"/>
          <p:cNvSpPr txBox="1"/>
          <p:nvPr/>
        </p:nvSpPr>
        <p:spPr>
          <a:xfrm>
            <a:off x="6858000" y="2194560"/>
            <a:ext cx="1600200" cy="502920"/>
          </a:xfrm>
          <a:prstGeom prst="rect">
            <a:avLst/>
          </a:prstGeom>
          <a:noFill/>
          <a:ln/>
        </p:spPr>
        <p:txBody>
          <a:bodyPr wrap="square" lIns="0" tIns="0" rIns="0" bIns="0" rtlCol="0" anchor="t"/>
          <a:lstStyle/>
          <a:p>
            <a:pPr indent="0" marL="0">
              <a:buNone/>
            </a:pPr>
            <a:r>
              <a:rPr lang="en-US" sz="1200" dirty="0">
                <a:solidFill>
                  <a:srgbClr val="4A5568"/>
                </a:solidFill>
              </a:rPr>
              <a:t>pairs labeled, 109 relevant (labeled by the team)</a:t>
            </a:r>
            <a:endParaRPr lang="en-US" sz="1200" dirty="0"/>
          </a:p>
        </p:txBody>
      </p:sp>
      <p:sp>
        <p:nvSpPr>
          <p:cNvPr id="17" name="Text 15"/>
          <p:cNvSpPr txBox="1"/>
          <p:nvPr/>
        </p:nvSpPr>
        <p:spPr>
          <a:xfrm>
            <a:off x="548640" y="2971800"/>
            <a:ext cx="4572000" cy="274320"/>
          </a:xfrm>
          <a:prstGeom prst="rect">
            <a:avLst/>
          </a:prstGeom>
          <a:noFill/>
          <a:ln/>
        </p:spPr>
        <p:txBody>
          <a:bodyPr wrap="square" lIns="0" tIns="0" rIns="0" bIns="0" rtlCol="0" anchor="ctr"/>
          <a:lstStyle/>
          <a:p>
            <a:pPr indent="0" marL="0">
              <a:buNone/>
            </a:pPr>
            <a:r>
              <a:rPr lang="en-US" sz="1500" b="1" dirty="0">
                <a:solidFill>
                  <a:srgbClr val="2F5D8C"/>
                </a:solidFill>
              </a:rPr>
              <a:t>Done</a:t>
            </a:r>
            <a:endParaRPr lang="en-US" sz="1500" dirty="0"/>
          </a:p>
        </p:txBody>
      </p:sp>
      <p:sp>
        <p:nvSpPr>
          <p:cNvPr id="18" name="Text 16"/>
          <p:cNvSpPr txBox="1"/>
          <p:nvPr/>
        </p:nvSpPr>
        <p:spPr>
          <a:xfrm>
            <a:off x="548640" y="3291840"/>
            <a:ext cx="4572000"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2D3748"/>
                </a:solidFill>
              </a:rPr>
              <a:t>Job set pulled from live Greenhouse / Lever APIs, reproducible selection</a:t>
            </a:r>
            <a:endParaRPr lang="en-US" sz="1300" dirty="0"/>
          </a:p>
          <a:p>
            <a:pPr marL="152400" indent="-152400">
              <a:spcAft>
                <a:spcPts val="400"/>
              </a:spcAft>
              <a:buSzPct val="100000"/>
              <a:buChar char="•"/>
            </a:pPr>
            <a:r>
              <a:rPr lang="en-US" sz="1300" dirty="0">
                <a:solidFill>
                  <a:srgbClr val="2D3748"/>
                </a:solidFill>
              </a:rPr>
              <a:t>10 resumes picked from 33 past-course resumes, names and contact info stripped</a:t>
            </a:r>
            <a:endParaRPr lang="en-US" sz="1300" dirty="0"/>
          </a:p>
          <a:p>
            <a:pPr marL="152400" indent="-152400">
              <a:spcAft>
                <a:spcPts val="400"/>
              </a:spcAft>
              <a:buSzPct val="100000"/>
              <a:buChar char="•"/>
            </a:pPr>
            <a:r>
              <a:rPr lang="en-US" sz="1300" dirty="0">
                <a:solidFill>
                  <a:srgbClr val="2D3748"/>
                </a:solidFill>
              </a:rPr>
              <a:t>All 400 resume × job pairs labeled with the rubric, by Kevin, Ritvik and Aidan</a:t>
            </a:r>
            <a:endParaRPr lang="en-US" sz="1300" dirty="0"/>
          </a:p>
        </p:txBody>
      </p:sp>
      <p:sp>
        <p:nvSpPr>
          <p:cNvPr id="19" name="Text 17"/>
          <p:cNvSpPr txBox="1"/>
          <p:nvPr/>
        </p:nvSpPr>
        <p:spPr>
          <a:xfrm>
            <a:off x="5486400" y="2971800"/>
            <a:ext cx="3108960" cy="274320"/>
          </a:xfrm>
          <a:prstGeom prst="rect">
            <a:avLst/>
          </a:prstGeom>
          <a:noFill/>
          <a:ln/>
        </p:spPr>
        <p:txBody>
          <a:bodyPr wrap="square" lIns="0" tIns="0" rIns="0" bIns="0" rtlCol="0" anchor="ctr"/>
          <a:lstStyle/>
          <a:p>
            <a:pPr indent="0" marL="0">
              <a:buNone/>
            </a:pPr>
            <a:r>
              <a:rPr lang="en-US" sz="1500" b="1" dirty="0">
                <a:solidFill>
                  <a:srgbClr val="B85C1E"/>
                </a:solidFill>
              </a:rPr>
              <a:t>Next</a:t>
            </a:r>
            <a:endParaRPr lang="en-US" sz="1500" dirty="0"/>
          </a:p>
        </p:txBody>
      </p:sp>
      <p:sp>
        <p:nvSpPr>
          <p:cNvPr id="20" name="Text 18"/>
          <p:cNvSpPr txBox="1"/>
          <p:nvPr/>
        </p:nvSpPr>
        <p:spPr>
          <a:xfrm>
            <a:off x="5486400" y="3291840"/>
            <a:ext cx="3108960"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2D3748"/>
                </a:solidFill>
              </a:rPr>
              <a:t>Team second review of 80 pairs</a:t>
            </a:r>
            <a:endParaRPr lang="en-US" sz="1300" dirty="0"/>
          </a:p>
          <a:p>
            <a:pPr marL="152400" indent="-152400">
              <a:spcAft>
                <a:spcPts val="400"/>
              </a:spcAft>
              <a:buSzPct val="100000"/>
              <a:buChar char="•"/>
            </a:pPr>
            <a:r>
              <a:rPr lang="en-US" sz="1300" dirty="0">
                <a:solidFill>
                  <a:srgbClr val="2D3748"/>
                </a:solidFill>
              </a:rPr>
              <a:t>Score both matchers with Precision@5</a:t>
            </a:r>
            <a:endParaRPr lang="en-US" sz="1300" dirty="0"/>
          </a:p>
        </p:txBody>
      </p:sp>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65760"/>
            <a:ext cx="5120640" cy="274320"/>
          </a:xfrm>
          <a:prstGeom prst="rect">
            <a:avLst/>
          </a:prstGeom>
          <a:noFill/>
          <a:ln/>
        </p:spPr>
        <p:txBody>
          <a:bodyPr wrap="square" lIns="0" tIns="0" rIns="0" bIns="0" rtlCol="0" anchor="ctr"/>
          <a:lstStyle/>
          <a:p>
            <a:pPr indent="0" marL="0">
              <a:buNone/>
            </a:pPr>
            <a:r>
              <a:rPr lang="en-US" sz="1200" spc="150" kern="0" dirty="0">
                <a:solidFill>
                  <a:srgbClr val="B85C1E"/>
                </a:solidFill>
                <a:latin typeface="Courier New" pitchFamily="34" charset="0"/>
                <a:ea typeface="Courier New" pitchFamily="34" charset="-122"/>
                <a:cs typeface="Courier New" pitchFamily="34" charset="-120"/>
              </a:rPr>
              <a:t>02 · SINGLE-AGENT BASELINE</a:t>
            </a:r>
            <a:endParaRPr lang="en-US" sz="1200" dirty="0"/>
          </a:p>
        </p:txBody>
      </p:sp>
      <p:sp>
        <p:nvSpPr>
          <p:cNvPr id="3" name="status"/>
          <p:cNvSpPr/>
          <p:nvPr/>
        </p:nvSpPr>
        <p:spPr>
          <a:xfrm>
            <a:off x="5669280" y="329184"/>
            <a:ext cx="2926080" cy="329184"/>
          </a:xfrm>
          <a:prstGeom prst="roundRect">
            <a:avLst>
              <a:gd name="adj" fmla="val 138889"/>
            </a:avLst>
          </a:prstGeom>
          <a:solidFill>
            <a:srgbClr val="2F5D8C"/>
          </a:solidFill>
          <a:ln/>
        </p:spPr>
        <p:txBody>
          <a:bodyPr wrap="square" lIns="0" tIns="0" rIns="0" bIns="0" rtlCol="0" anchor="ctr"/>
          <a:lstStyle/>
          <a:p>
            <a:pPr algn="ctr" indent="0" marL="0">
              <a:buNone/>
            </a:pPr>
            <a:r>
              <a:rPr lang="en-US" sz="1100" b="1" dirty="0">
                <a:solidFill>
                  <a:srgbClr val="F7F5EF"/>
                </a:solidFill>
              </a:rPr>
              <a:t>Built · evaluated</a:t>
            </a:r>
            <a:endParaRPr lang="en-US" sz="1100" dirty="0"/>
          </a:p>
        </p:txBody>
      </p:sp>
      <p:sp>
        <p:nvSpPr>
          <p:cNvPr id="4" name="Text 0"/>
          <p:cNvSpPr/>
          <p:nvPr>
            <p:ph idx="100" type="title" hasCustomPrompt="1"/>
          </p:nvPr>
        </p:nvSpPr>
        <p:spPr>
          <a:xfrm>
            <a:off x="548640" y="77724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One prompt reads everything, returns top 5</a:t>
            </a:r>
            <a:endParaRPr lang="en-US" sz="2800" dirty="0"/>
          </a:p>
        </p:txBody>
      </p:sp>
      <p:sp>
        <p:nvSpPr>
          <p:cNvPr id="5" name="Shape 3"/>
          <p:cNvSpPr/>
          <p:nvPr/>
        </p:nvSpPr>
        <p:spPr>
          <a:xfrm>
            <a:off x="548640" y="1508760"/>
            <a:ext cx="8046720" cy="1234440"/>
          </a:xfrm>
          <a:prstGeom prst="roundRect">
            <a:avLst>
              <a:gd name="adj" fmla="val 5926"/>
            </a:avLst>
          </a:prstGeom>
          <a:solidFill>
            <a:srgbClr val="FFFFFF"/>
          </a:solidFill>
          <a:ln w="9525">
            <a:solidFill>
              <a:srgbClr val="E2DED3"/>
            </a:solidFill>
            <a:prstDash val="solid"/>
          </a:ln>
        </p:spPr>
      </p:sp>
      <p:sp>
        <p:nvSpPr>
          <p:cNvPr id="6" name="Text 4"/>
          <p:cNvSpPr/>
          <p:nvPr/>
        </p:nvSpPr>
        <p:spPr>
          <a:xfrm>
            <a:off x="731520" y="1783080"/>
            <a:ext cx="1543050" cy="685800"/>
          </a:xfrm>
          <a:prstGeom prst="roundRect">
            <a:avLst>
              <a:gd name="adj" fmla="val 8000"/>
            </a:avLst>
          </a:prstGeom>
          <a:solidFill>
            <a:srgbClr val="E8EEF5"/>
          </a:solidFill>
          <a:ln/>
        </p:spPr>
        <p:txBody>
          <a:bodyPr wrap="square" lIns="50800" tIns="50800" rIns="50800" bIns="50800" rtlCol="0" anchor="ctr"/>
          <a:lstStyle/>
          <a:p>
            <a:pPr algn="ctr" indent="0" marL="0">
              <a:buNone/>
            </a:pPr>
            <a:r>
              <a:rPr lang="en-US" sz="1400" b="1" dirty="0">
                <a:solidFill>
                  <a:srgbClr val="14213D"/>
                </a:solidFill>
              </a:rPr>
              <a:t>Resume + preferences</a:t>
            </a:r>
            <a:endParaRPr lang="en-US" sz="1400" dirty="0"/>
          </a:p>
        </p:txBody>
      </p:sp>
      <p:sp>
        <p:nvSpPr>
          <p:cNvPr id="7" name="Shape 5"/>
          <p:cNvSpPr/>
          <p:nvPr/>
        </p:nvSpPr>
        <p:spPr>
          <a:xfrm>
            <a:off x="2366010" y="2011680"/>
            <a:ext cx="320040" cy="228600"/>
          </a:xfrm>
          <a:prstGeom prst="rightArrow">
            <a:avLst/>
          </a:prstGeom>
          <a:solidFill>
            <a:srgbClr val="B85C1E"/>
          </a:solidFill>
          <a:ln w="12700">
            <a:solidFill>
              <a:srgbClr val="B85C1E"/>
            </a:solidFill>
            <a:prstDash val="solid"/>
          </a:ln>
        </p:spPr>
      </p:sp>
      <p:sp>
        <p:nvSpPr>
          <p:cNvPr id="8" name="Text 6"/>
          <p:cNvSpPr/>
          <p:nvPr/>
        </p:nvSpPr>
        <p:spPr>
          <a:xfrm>
            <a:off x="2777490" y="1783080"/>
            <a:ext cx="1543050" cy="685800"/>
          </a:xfrm>
          <a:prstGeom prst="roundRect">
            <a:avLst>
              <a:gd name="adj" fmla="val 8000"/>
            </a:avLst>
          </a:prstGeom>
          <a:solidFill>
            <a:srgbClr val="E8EEF5"/>
          </a:solidFill>
          <a:ln/>
        </p:spPr>
        <p:txBody>
          <a:bodyPr wrap="square" lIns="50800" tIns="50800" rIns="50800" bIns="50800" rtlCol="0" anchor="ctr"/>
          <a:lstStyle/>
          <a:p>
            <a:pPr algn="ctr" indent="0" marL="0">
              <a:buNone/>
            </a:pPr>
            <a:r>
              <a:rPr lang="en-US" sz="1400" b="1" dirty="0">
                <a:solidFill>
                  <a:srgbClr val="14213D"/>
                </a:solidFill>
              </a:rPr>
              <a:t>All postings</a:t>
            </a:r>
            <a:endParaRPr lang="en-US" sz="1400" dirty="0"/>
          </a:p>
        </p:txBody>
      </p:sp>
      <p:sp>
        <p:nvSpPr>
          <p:cNvPr id="9" name="Shape 7"/>
          <p:cNvSpPr/>
          <p:nvPr/>
        </p:nvSpPr>
        <p:spPr>
          <a:xfrm>
            <a:off x="4411980" y="2011680"/>
            <a:ext cx="320040" cy="228600"/>
          </a:xfrm>
          <a:prstGeom prst="rightArrow">
            <a:avLst/>
          </a:prstGeom>
          <a:solidFill>
            <a:srgbClr val="B85C1E"/>
          </a:solidFill>
          <a:ln w="12700">
            <a:solidFill>
              <a:srgbClr val="B85C1E"/>
            </a:solidFill>
            <a:prstDash val="solid"/>
          </a:ln>
        </p:spPr>
      </p:sp>
      <p:sp>
        <p:nvSpPr>
          <p:cNvPr id="10" name="Text 8"/>
          <p:cNvSpPr/>
          <p:nvPr/>
        </p:nvSpPr>
        <p:spPr>
          <a:xfrm>
            <a:off x="4823460" y="1783080"/>
            <a:ext cx="1543050" cy="685800"/>
          </a:xfrm>
          <a:prstGeom prst="roundRect">
            <a:avLst>
              <a:gd name="adj" fmla="val 8000"/>
            </a:avLst>
          </a:prstGeom>
          <a:solidFill>
            <a:srgbClr val="14213D"/>
          </a:solidFill>
          <a:ln/>
        </p:spPr>
        <p:txBody>
          <a:bodyPr wrap="square" lIns="50800" tIns="50800" rIns="50800" bIns="50800" rtlCol="0" anchor="ctr"/>
          <a:lstStyle/>
          <a:p>
            <a:pPr algn="ctr" indent="0" marL="0">
              <a:buNone/>
            </a:pPr>
            <a:r>
              <a:rPr lang="en-US" sz="1400" b="1" dirty="0">
                <a:solidFill>
                  <a:srgbClr val="F7F5EF"/>
                </a:solidFill>
              </a:rPr>
              <a:t>Single prompt</a:t>
            </a:r>
            <a:endParaRPr lang="en-US" sz="1400" dirty="0"/>
          </a:p>
        </p:txBody>
      </p:sp>
      <p:sp>
        <p:nvSpPr>
          <p:cNvPr id="11" name="Shape 9"/>
          <p:cNvSpPr/>
          <p:nvPr/>
        </p:nvSpPr>
        <p:spPr>
          <a:xfrm>
            <a:off x="6457950" y="2011680"/>
            <a:ext cx="320040" cy="228600"/>
          </a:xfrm>
          <a:prstGeom prst="rightArrow">
            <a:avLst/>
          </a:prstGeom>
          <a:solidFill>
            <a:srgbClr val="B85C1E"/>
          </a:solidFill>
          <a:ln w="12700">
            <a:solidFill>
              <a:srgbClr val="B85C1E"/>
            </a:solidFill>
            <a:prstDash val="solid"/>
          </a:ln>
        </p:spPr>
      </p:sp>
      <p:sp>
        <p:nvSpPr>
          <p:cNvPr id="12" name="Text 10"/>
          <p:cNvSpPr/>
          <p:nvPr/>
        </p:nvSpPr>
        <p:spPr>
          <a:xfrm>
            <a:off x="6869430" y="1783080"/>
            <a:ext cx="1543050" cy="685800"/>
          </a:xfrm>
          <a:prstGeom prst="roundRect">
            <a:avLst>
              <a:gd name="adj" fmla="val 8000"/>
            </a:avLst>
          </a:prstGeom>
          <a:solidFill>
            <a:srgbClr val="E8EEF5"/>
          </a:solidFill>
          <a:ln/>
        </p:spPr>
        <p:txBody>
          <a:bodyPr wrap="square" lIns="50800" tIns="50800" rIns="50800" bIns="50800" rtlCol="0" anchor="ctr"/>
          <a:lstStyle/>
          <a:p>
            <a:pPr algn="ctr" indent="0" marL="0">
              <a:buNone/>
            </a:pPr>
            <a:r>
              <a:rPr lang="en-US" sz="1400" b="1" dirty="0">
                <a:solidFill>
                  <a:srgbClr val="14213D"/>
                </a:solidFill>
              </a:rPr>
              <a:t>Top 5 + reasons</a:t>
            </a:r>
            <a:endParaRPr lang="en-US" sz="1400" dirty="0"/>
          </a:p>
        </p:txBody>
      </p:sp>
      <p:sp>
        <p:nvSpPr>
          <p:cNvPr id="13" name="Text 11"/>
          <p:cNvSpPr txBox="1"/>
          <p:nvPr/>
        </p:nvSpPr>
        <p:spPr>
          <a:xfrm>
            <a:off x="548640" y="2971800"/>
            <a:ext cx="4572000" cy="274320"/>
          </a:xfrm>
          <a:prstGeom prst="rect">
            <a:avLst/>
          </a:prstGeom>
          <a:noFill/>
          <a:ln/>
        </p:spPr>
        <p:txBody>
          <a:bodyPr wrap="square" lIns="0" tIns="0" rIns="0" bIns="0" rtlCol="0" anchor="ctr"/>
          <a:lstStyle/>
          <a:p>
            <a:pPr indent="0" marL="0">
              <a:buNone/>
            </a:pPr>
            <a:r>
              <a:rPr lang="en-US" sz="1500" b="1" dirty="0">
                <a:solidFill>
                  <a:srgbClr val="2F5D8C"/>
                </a:solidFill>
              </a:rPr>
              <a:t>Done</a:t>
            </a:r>
            <a:endParaRPr lang="en-US" sz="1500" dirty="0"/>
          </a:p>
        </p:txBody>
      </p:sp>
      <p:sp>
        <p:nvSpPr>
          <p:cNvPr id="14" name="Text 12"/>
          <p:cNvSpPr txBox="1"/>
          <p:nvPr/>
        </p:nvSpPr>
        <p:spPr>
          <a:xfrm>
            <a:off x="548640" y="3291840"/>
            <a:ext cx="4572000"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2D3748"/>
                </a:solidFill>
              </a:rPr>
              <a:t>One-call matcher with the same prompt, model and output check as the orchestrator</a:t>
            </a:r>
            <a:endParaRPr lang="en-US" sz="1300" dirty="0"/>
          </a:p>
          <a:p>
            <a:pPr marL="152400" indent="-152400">
              <a:spcAft>
                <a:spcPts val="400"/>
              </a:spcAft>
              <a:buSzPct val="100000"/>
              <a:buChar char="•"/>
            </a:pPr>
            <a:r>
              <a:rPr lang="en-US" sz="1300" dirty="0">
                <a:solidFill>
                  <a:srgbClr val="2D3748"/>
                </a:solidFill>
              </a:rPr>
              <a:t>Logs tokens, latency and retries for every run</a:t>
            </a:r>
            <a:endParaRPr lang="en-US" sz="1300" dirty="0"/>
          </a:p>
          <a:p>
            <a:pPr marL="152400" indent="-152400">
              <a:spcAft>
                <a:spcPts val="400"/>
              </a:spcAft>
              <a:buSzPct val="100000"/>
              <a:buChar char="•"/>
            </a:pPr>
            <a:r>
              <a:rPr lang="en-US" sz="1300" dirty="0">
                <a:solidFill>
                  <a:srgbClr val="2D3748"/>
                </a:solidFill>
              </a:rPr>
              <a:t>Local benchmark: 65s / 31k tokens at 20 jobs, 355s / 74k at 50 jobs, 4 of 4 runs passed</a:t>
            </a:r>
            <a:endParaRPr lang="en-US" sz="1300" dirty="0"/>
          </a:p>
        </p:txBody>
      </p:sp>
      <p:sp>
        <p:nvSpPr>
          <p:cNvPr id="15" name="Text 13"/>
          <p:cNvSpPr txBox="1"/>
          <p:nvPr/>
        </p:nvSpPr>
        <p:spPr>
          <a:xfrm>
            <a:off x="5486400" y="2971800"/>
            <a:ext cx="3108960" cy="274320"/>
          </a:xfrm>
          <a:prstGeom prst="rect">
            <a:avLst/>
          </a:prstGeom>
          <a:noFill/>
          <a:ln/>
        </p:spPr>
        <p:txBody>
          <a:bodyPr wrap="square" lIns="0" tIns="0" rIns="0" bIns="0" rtlCol="0" anchor="ctr"/>
          <a:lstStyle/>
          <a:p>
            <a:pPr indent="0" marL="0">
              <a:buNone/>
            </a:pPr>
            <a:r>
              <a:rPr lang="en-US" sz="1500" b="1" dirty="0">
                <a:solidFill>
                  <a:srgbClr val="B85C1E"/>
                </a:solidFill>
              </a:rPr>
              <a:t>Next</a:t>
            </a:r>
            <a:endParaRPr lang="en-US" sz="1500" dirty="0"/>
          </a:p>
        </p:txBody>
      </p:sp>
      <p:sp>
        <p:nvSpPr>
          <p:cNvPr id="16" name="Text 14"/>
          <p:cNvSpPr txBox="1"/>
          <p:nvPr/>
        </p:nvSpPr>
        <p:spPr>
          <a:xfrm>
            <a:off x="5486400" y="3291840"/>
            <a:ext cx="3108960"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2D3748"/>
                </a:solidFill>
              </a:rPr>
              <a:t>Second label review (80 pairs) to confirm the scores</a:t>
            </a:r>
            <a:endParaRPr lang="en-US" sz="1300" dirty="0"/>
          </a:p>
          <a:p>
            <a:pPr marL="152400" indent="-152400">
              <a:spcAft>
                <a:spcPts val="400"/>
              </a:spcAft>
              <a:buSzPct val="100000"/>
              <a:buChar char="•"/>
            </a:pPr>
            <a:r>
              <a:rPr lang="en-US" sz="1300" dirty="0">
                <a:solidFill>
                  <a:srgbClr val="2D3748"/>
                </a:solidFill>
              </a:rPr>
              <a:t>Error analysis on low scorers (R04: 0 of 5 relevant)</a:t>
            </a:r>
            <a:endParaRPr lang="en-US" sz="1300" dirty="0"/>
          </a:p>
        </p:txBody>
      </p:sp>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65760"/>
            <a:ext cx="5120640" cy="274320"/>
          </a:xfrm>
          <a:prstGeom prst="rect">
            <a:avLst/>
          </a:prstGeom>
          <a:noFill/>
          <a:ln/>
        </p:spPr>
        <p:txBody>
          <a:bodyPr wrap="square" lIns="0" tIns="0" rIns="0" bIns="0" rtlCol="0" anchor="ctr"/>
          <a:lstStyle/>
          <a:p>
            <a:pPr indent="0" marL="0">
              <a:buNone/>
            </a:pPr>
            <a:r>
              <a:rPr lang="en-US" sz="1200" spc="150" kern="0" dirty="0">
                <a:solidFill>
                  <a:srgbClr val="B85C1E"/>
                </a:solidFill>
                <a:latin typeface="Courier New" pitchFamily="34" charset="0"/>
                <a:ea typeface="Courier New" pitchFamily="34" charset="-122"/>
                <a:cs typeface="Courier New" pitchFamily="34" charset="-120"/>
              </a:rPr>
              <a:t>03 · ORCHESTRATED WORKFLOW · KEVIN DO</a:t>
            </a:r>
            <a:endParaRPr lang="en-US" sz="1200" dirty="0"/>
          </a:p>
        </p:txBody>
      </p:sp>
      <p:sp>
        <p:nvSpPr>
          <p:cNvPr id="3" name="status"/>
          <p:cNvSpPr/>
          <p:nvPr/>
        </p:nvSpPr>
        <p:spPr>
          <a:xfrm>
            <a:off x="5669280" y="329184"/>
            <a:ext cx="2926080" cy="329184"/>
          </a:xfrm>
          <a:prstGeom prst="roundRect">
            <a:avLst>
              <a:gd name="adj" fmla="val 138889"/>
            </a:avLst>
          </a:prstGeom>
          <a:solidFill>
            <a:srgbClr val="2F5D8C"/>
          </a:solidFill>
          <a:ln/>
        </p:spPr>
        <p:txBody>
          <a:bodyPr wrap="square" lIns="0" tIns="0" rIns="0" bIns="0" rtlCol="0" anchor="ctr"/>
          <a:lstStyle/>
          <a:p>
            <a:pPr algn="ctr" indent="0" marL="0">
              <a:buNone/>
            </a:pPr>
            <a:r>
              <a:rPr lang="en-US" sz="1100" b="1" dirty="0">
                <a:solidFill>
                  <a:srgbClr val="F7F5EF"/>
                </a:solidFill>
              </a:rPr>
              <a:t>Built · evaluated</a:t>
            </a:r>
            <a:endParaRPr lang="en-US" sz="1100" dirty="0"/>
          </a:p>
        </p:txBody>
      </p:sp>
      <p:sp>
        <p:nvSpPr>
          <p:cNvPr id="4" name="Text 0"/>
          <p:cNvSpPr/>
          <p:nvPr>
            <p:ph idx="100" type="title" hasCustomPrompt="1"/>
          </p:nvPr>
        </p:nvSpPr>
        <p:spPr>
          <a:xfrm>
            <a:off x="548640" y="77724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Three workers chained by a Python script</a:t>
            </a:r>
            <a:endParaRPr lang="en-US" sz="2800" dirty="0"/>
          </a:p>
        </p:txBody>
      </p:sp>
      <p:sp>
        <p:nvSpPr>
          <p:cNvPr id="5" name="Shape 3"/>
          <p:cNvSpPr/>
          <p:nvPr/>
        </p:nvSpPr>
        <p:spPr>
          <a:xfrm>
            <a:off x="548640" y="1508760"/>
            <a:ext cx="8046720" cy="1234440"/>
          </a:xfrm>
          <a:prstGeom prst="roundRect">
            <a:avLst>
              <a:gd name="adj" fmla="val 5926"/>
            </a:avLst>
          </a:prstGeom>
          <a:solidFill>
            <a:srgbClr val="FFFFFF"/>
          </a:solidFill>
          <a:ln w="9525">
            <a:solidFill>
              <a:srgbClr val="E2DED3"/>
            </a:solidFill>
            <a:prstDash val="solid"/>
          </a:ln>
        </p:spPr>
      </p:sp>
      <p:sp>
        <p:nvSpPr>
          <p:cNvPr id="6" name="Text 4"/>
          <p:cNvSpPr/>
          <p:nvPr/>
        </p:nvSpPr>
        <p:spPr>
          <a:xfrm>
            <a:off x="731520" y="1783080"/>
            <a:ext cx="1543050" cy="685800"/>
          </a:xfrm>
          <a:prstGeom prst="roundRect">
            <a:avLst>
              <a:gd name="adj" fmla="val 8000"/>
            </a:avLst>
          </a:prstGeom>
          <a:solidFill>
            <a:srgbClr val="14213D"/>
          </a:solidFill>
          <a:ln/>
        </p:spPr>
        <p:txBody>
          <a:bodyPr wrap="square" lIns="50800" tIns="50800" rIns="50800" bIns="50800" rtlCol="0" anchor="ctr"/>
          <a:lstStyle/>
          <a:p>
            <a:pPr algn="ctr" indent="0" marL="0">
              <a:buNone/>
            </a:pPr>
            <a:r>
              <a:rPr lang="en-US" sz="1400" b="1" dirty="0">
                <a:solidFill>
                  <a:srgbClr val="F7F5EF"/>
                </a:solidFill>
              </a:rPr>
              <a:t>Resume parser</a:t>
            </a:r>
            <a:endParaRPr lang="en-US" sz="1400" dirty="0"/>
          </a:p>
        </p:txBody>
      </p:sp>
      <p:sp>
        <p:nvSpPr>
          <p:cNvPr id="7" name="Shape 5"/>
          <p:cNvSpPr/>
          <p:nvPr/>
        </p:nvSpPr>
        <p:spPr>
          <a:xfrm>
            <a:off x="2366010" y="2011680"/>
            <a:ext cx="320040" cy="228600"/>
          </a:xfrm>
          <a:prstGeom prst="rightArrow">
            <a:avLst/>
          </a:prstGeom>
          <a:solidFill>
            <a:srgbClr val="B85C1E"/>
          </a:solidFill>
          <a:ln w="12700">
            <a:solidFill>
              <a:srgbClr val="B85C1E"/>
            </a:solidFill>
            <a:prstDash val="solid"/>
          </a:ln>
        </p:spPr>
      </p:sp>
      <p:sp>
        <p:nvSpPr>
          <p:cNvPr id="8" name="Text 6"/>
          <p:cNvSpPr/>
          <p:nvPr/>
        </p:nvSpPr>
        <p:spPr>
          <a:xfrm>
            <a:off x="2777490" y="1783080"/>
            <a:ext cx="1543050" cy="685800"/>
          </a:xfrm>
          <a:prstGeom prst="roundRect">
            <a:avLst>
              <a:gd name="adj" fmla="val 8000"/>
            </a:avLst>
          </a:prstGeom>
          <a:solidFill>
            <a:srgbClr val="14213D"/>
          </a:solidFill>
          <a:ln/>
        </p:spPr>
        <p:txBody>
          <a:bodyPr wrap="square" lIns="50800" tIns="50800" rIns="50800" bIns="50800" rtlCol="0" anchor="ctr"/>
          <a:lstStyle/>
          <a:p>
            <a:pPr algn="ctr" indent="0" marL="0">
              <a:buNone/>
            </a:pPr>
            <a:r>
              <a:rPr lang="en-US" sz="1400" b="1" dirty="0">
                <a:solidFill>
                  <a:srgbClr val="F7F5EF"/>
                </a:solidFill>
              </a:rPr>
              <a:t>Requirement extractor</a:t>
            </a:r>
            <a:endParaRPr lang="en-US" sz="1400" dirty="0"/>
          </a:p>
        </p:txBody>
      </p:sp>
      <p:sp>
        <p:nvSpPr>
          <p:cNvPr id="9" name="Shape 7"/>
          <p:cNvSpPr/>
          <p:nvPr/>
        </p:nvSpPr>
        <p:spPr>
          <a:xfrm>
            <a:off x="4411980" y="2011680"/>
            <a:ext cx="320040" cy="228600"/>
          </a:xfrm>
          <a:prstGeom prst="rightArrow">
            <a:avLst/>
          </a:prstGeom>
          <a:solidFill>
            <a:srgbClr val="B85C1E"/>
          </a:solidFill>
          <a:ln w="12700">
            <a:solidFill>
              <a:srgbClr val="B85C1E"/>
            </a:solidFill>
            <a:prstDash val="solid"/>
          </a:ln>
        </p:spPr>
      </p:sp>
      <p:sp>
        <p:nvSpPr>
          <p:cNvPr id="10" name="Text 8"/>
          <p:cNvSpPr/>
          <p:nvPr/>
        </p:nvSpPr>
        <p:spPr>
          <a:xfrm>
            <a:off x="4823460" y="1783080"/>
            <a:ext cx="1543050" cy="685800"/>
          </a:xfrm>
          <a:prstGeom prst="roundRect">
            <a:avLst>
              <a:gd name="adj" fmla="val 8000"/>
            </a:avLst>
          </a:prstGeom>
          <a:solidFill>
            <a:srgbClr val="14213D"/>
          </a:solidFill>
          <a:ln/>
        </p:spPr>
        <p:txBody>
          <a:bodyPr wrap="square" lIns="50800" tIns="50800" rIns="50800" bIns="50800" rtlCol="0" anchor="ctr"/>
          <a:lstStyle/>
          <a:p>
            <a:pPr algn="ctr" indent="0" marL="0">
              <a:buNone/>
            </a:pPr>
            <a:r>
              <a:rPr lang="en-US" sz="1400" b="1" dirty="0">
                <a:solidFill>
                  <a:srgbClr val="F7F5EF"/>
                </a:solidFill>
              </a:rPr>
              <a:t>Scorer &amp; ranker</a:t>
            </a:r>
            <a:endParaRPr lang="en-US" sz="1400" dirty="0"/>
          </a:p>
        </p:txBody>
      </p:sp>
      <p:sp>
        <p:nvSpPr>
          <p:cNvPr id="11" name="Shape 9"/>
          <p:cNvSpPr/>
          <p:nvPr/>
        </p:nvSpPr>
        <p:spPr>
          <a:xfrm>
            <a:off x="6457950" y="2011680"/>
            <a:ext cx="320040" cy="228600"/>
          </a:xfrm>
          <a:prstGeom prst="rightArrow">
            <a:avLst/>
          </a:prstGeom>
          <a:solidFill>
            <a:srgbClr val="B85C1E"/>
          </a:solidFill>
          <a:ln w="12700">
            <a:solidFill>
              <a:srgbClr val="B85C1E"/>
            </a:solidFill>
            <a:prstDash val="solid"/>
          </a:ln>
        </p:spPr>
      </p:sp>
      <p:sp>
        <p:nvSpPr>
          <p:cNvPr id="12" name="Text 10"/>
          <p:cNvSpPr/>
          <p:nvPr/>
        </p:nvSpPr>
        <p:spPr>
          <a:xfrm>
            <a:off x="6869430" y="1783080"/>
            <a:ext cx="1543050" cy="685800"/>
          </a:xfrm>
          <a:prstGeom prst="roundRect">
            <a:avLst>
              <a:gd name="adj" fmla="val 8000"/>
            </a:avLst>
          </a:prstGeom>
          <a:solidFill>
            <a:srgbClr val="E8EEF5"/>
          </a:solidFill>
          <a:ln/>
        </p:spPr>
        <p:txBody>
          <a:bodyPr wrap="square" lIns="50800" tIns="50800" rIns="50800" bIns="50800" rtlCol="0" anchor="ctr"/>
          <a:lstStyle/>
          <a:p>
            <a:pPr algn="ctr" indent="0" marL="0">
              <a:buNone/>
            </a:pPr>
            <a:r>
              <a:rPr lang="en-US" sz="1400" b="1" dirty="0">
                <a:solidFill>
                  <a:srgbClr val="14213D"/>
                </a:solidFill>
              </a:rPr>
              <a:t>Top 5</a:t>
            </a:r>
            <a:endParaRPr lang="en-US" sz="1400" dirty="0"/>
          </a:p>
        </p:txBody>
      </p:sp>
      <p:sp>
        <p:nvSpPr>
          <p:cNvPr id="13" name="Text 11"/>
          <p:cNvSpPr txBox="1"/>
          <p:nvPr/>
        </p:nvSpPr>
        <p:spPr>
          <a:xfrm>
            <a:off x="548640" y="2971800"/>
            <a:ext cx="4572000" cy="274320"/>
          </a:xfrm>
          <a:prstGeom prst="rect">
            <a:avLst/>
          </a:prstGeom>
          <a:noFill/>
          <a:ln/>
        </p:spPr>
        <p:txBody>
          <a:bodyPr wrap="square" lIns="0" tIns="0" rIns="0" bIns="0" rtlCol="0" anchor="ctr"/>
          <a:lstStyle/>
          <a:p>
            <a:pPr indent="0" marL="0">
              <a:buNone/>
            </a:pPr>
            <a:r>
              <a:rPr lang="en-US" sz="1500" b="1" dirty="0">
                <a:solidFill>
                  <a:srgbClr val="2F5D8C"/>
                </a:solidFill>
              </a:rPr>
              <a:t>Done</a:t>
            </a:r>
            <a:endParaRPr lang="en-US" sz="1500" dirty="0"/>
          </a:p>
        </p:txBody>
      </p:sp>
      <p:sp>
        <p:nvSpPr>
          <p:cNvPr id="14" name="Text 12"/>
          <p:cNvSpPr txBox="1"/>
          <p:nvPr/>
        </p:nvSpPr>
        <p:spPr>
          <a:xfrm>
            <a:off x="548640" y="3291840"/>
            <a:ext cx="4572000"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2D3748"/>
                </a:solidFill>
              </a:rPr>
              <a:t>Extractor picks up to 4 key lines per category, quoted straight from the posting</a:t>
            </a:r>
            <a:endParaRPr lang="en-US" sz="1300" dirty="0"/>
          </a:p>
          <a:p>
            <a:pPr marL="152400" indent="-152400">
              <a:spcAft>
                <a:spcPts val="400"/>
              </a:spcAft>
              <a:buSzPct val="100000"/>
              <a:buChar char="•"/>
            </a:pPr>
            <a:r>
              <a:rPr lang="en-US" sz="1300" dirty="0">
                <a:solidFill>
                  <a:srgbClr val="2D3748"/>
                </a:solidFill>
              </a:rPr>
              <a:t>Models set: local Qwen3 4B for benchmarks, GPT-4.1 mini (dated prices) for cloud</a:t>
            </a:r>
            <a:endParaRPr lang="en-US" sz="1300" dirty="0"/>
          </a:p>
          <a:p>
            <a:pPr marL="152400" indent="-152400">
              <a:spcAft>
                <a:spcPts val="400"/>
              </a:spcAft>
              <a:buSzPct val="100000"/>
              <a:buChar char="•"/>
            </a:pPr>
            <a:r>
              <a:rPr lang="en-US" sz="1300" dirty="0">
                <a:solidFill>
                  <a:srgbClr val="2D3748"/>
                </a:solidFill>
              </a:rPr>
              <a:t>Local benchmark: 274s / 93k tokens at 20 jobs, 1,200s / 215k at 50 jobs</a:t>
            </a:r>
            <a:endParaRPr lang="en-US" sz="1300" dirty="0"/>
          </a:p>
        </p:txBody>
      </p:sp>
      <p:sp>
        <p:nvSpPr>
          <p:cNvPr id="15" name="Text 13"/>
          <p:cNvSpPr txBox="1"/>
          <p:nvPr/>
        </p:nvSpPr>
        <p:spPr>
          <a:xfrm>
            <a:off x="5486400" y="2971800"/>
            <a:ext cx="3108960" cy="274320"/>
          </a:xfrm>
          <a:prstGeom prst="rect">
            <a:avLst/>
          </a:prstGeom>
          <a:noFill/>
          <a:ln/>
        </p:spPr>
        <p:txBody>
          <a:bodyPr wrap="square" lIns="0" tIns="0" rIns="0" bIns="0" rtlCol="0" anchor="ctr"/>
          <a:lstStyle/>
          <a:p>
            <a:pPr indent="0" marL="0">
              <a:buNone/>
            </a:pPr>
            <a:r>
              <a:rPr lang="en-US" sz="1500" b="1" dirty="0">
                <a:solidFill>
                  <a:srgbClr val="B85C1E"/>
                </a:solidFill>
              </a:rPr>
              <a:t>Next</a:t>
            </a:r>
            <a:endParaRPr lang="en-US" sz="1500" dirty="0"/>
          </a:p>
        </p:txBody>
      </p:sp>
      <p:sp>
        <p:nvSpPr>
          <p:cNvPr id="16" name="Text 14"/>
          <p:cNvSpPr txBox="1"/>
          <p:nvPr/>
        </p:nvSpPr>
        <p:spPr>
          <a:xfrm>
            <a:off x="5486400" y="3291840"/>
            <a:ext cx="3108960" cy="13258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2D3748"/>
                </a:solidFill>
              </a:rPr>
              <a:t>Fixed: resume parser cites line IDs, 0 of 48 eval runs failed</a:t>
            </a:r>
            <a:endParaRPr lang="en-US" sz="1300" dirty="0"/>
          </a:p>
          <a:p>
            <a:pPr marL="152400" indent="-152400">
              <a:spcAft>
                <a:spcPts val="400"/>
              </a:spcAft>
              <a:buSzPct val="100000"/>
              <a:buChar char="•"/>
            </a:pPr>
            <a:r>
              <a:rPr lang="en-US" sz="1300" dirty="0">
                <a:solidFill>
                  <a:srgbClr val="2D3748"/>
                </a:solidFill>
              </a:rPr>
              <a:t>Find out why extra steps did not raise Precision@5</a:t>
            </a:r>
            <a:endParaRPr lang="en-US" sz="1300" dirty="0"/>
          </a:p>
        </p:txBody>
      </p:sp>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65760"/>
            <a:ext cx="5120640" cy="274320"/>
          </a:xfrm>
          <a:prstGeom prst="rect">
            <a:avLst/>
          </a:prstGeom>
          <a:noFill/>
          <a:ln/>
        </p:spPr>
        <p:txBody>
          <a:bodyPr wrap="square" lIns="0" tIns="0" rIns="0" bIns="0" rtlCol="0" anchor="ctr"/>
          <a:lstStyle/>
          <a:p>
            <a:pPr indent="0" marL="0">
              <a:buNone/>
            </a:pPr>
            <a:r>
              <a:rPr lang="en-US" sz="1200" spc="150" kern="0" dirty="0">
                <a:solidFill>
                  <a:srgbClr val="B85C1E"/>
                </a:solidFill>
                <a:latin typeface="Courier New" pitchFamily="34" charset="0"/>
                <a:ea typeface="Courier New" pitchFamily="34" charset="-122"/>
                <a:cs typeface="Courier New" pitchFamily="34" charset="-120"/>
              </a:rPr>
              <a:t>04 · FIRST MEASUREMENTS</a:t>
            </a:r>
            <a:endParaRPr lang="en-US" sz="1200" dirty="0"/>
          </a:p>
        </p:txBody>
      </p:sp>
      <p:sp>
        <p:nvSpPr>
          <p:cNvPr id="3" name="status"/>
          <p:cNvSpPr/>
          <p:nvPr/>
        </p:nvSpPr>
        <p:spPr>
          <a:xfrm>
            <a:off x="5669280" y="329184"/>
            <a:ext cx="2926080" cy="329184"/>
          </a:xfrm>
          <a:prstGeom prst="roundRect">
            <a:avLst>
              <a:gd name="adj" fmla="val 138889"/>
            </a:avLst>
          </a:prstGeom>
          <a:solidFill>
            <a:srgbClr val="2F5D8C"/>
          </a:solidFill>
          <a:ln/>
        </p:spPr>
        <p:txBody>
          <a:bodyPr wrap="square" lIns="0" tIns="0" rIns="0" bIns="0" rtlCol="0" anchor="ctr"/>
          <a:lstStyle/>
          <a:p>
            <a:pPr algn="ctr" indent="0" marL="0">
              <a:buNone/>
            </a:pPr>
            <a:r>
              <a:rPr lang="en-US" sz="1100" b="1" dirty="0">
                <a:solidFill>
                  <a:srgbClr val="F7F5EF"/>
                </a:solidFill>
              </a:rPr>
              <a:t>Local benchmark · 8 runs</a:t>
            </a:r>
            <a:endParaRPr lang="en-US" sz="1100" dirty="0"/>
          </a:p>
        </p:txBody>
      </p:sp>
      <p:sp>
        <p:nvSpPr>
          <p:cNvPr id="4" name="Text 0"/>
          <p:cNvSpPr/>
          <p:nvPr>
            <p:ph idx="100" type="title" hasCustomPrompt="1"/>
          </p:nvPr>
        </p:nvSpPr>
        <p:spPr>
          <a:xfrm>
            <a:off x="548640" y="77724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Multi-agent took ~4x the time and ~3x the tokens</a:t>
            </a:r>
            <a:endParaRPr lang="en-US" sz="2800" dirty="0"/>
          </a:p>
        </p:txBody>
      </p:sp>
      <p:sp>
        <p:nvSpPr>
          <p:cNvPr id="5" name="Text 3"/>
          <p:cNvSpPr txBox="1"/>
          <p:nvPr/>
        </p:nvSpPr>
        <p:spPr>
          <a:xfrm>
            <a:off x="548640" y="1325880"/>
            <a:ext cx="8046720" cy="274320"/>
          </a:xfrm>
          <a:prstGeom prst="rect">
            <a:avLst/>
          </a:prstGeom>
          <a:noFill/>
          <a:ln/>
        </p:spPr>
        <p:txBody>
          <a:bodyPr wrap="square" lIns="0" tIns="0" rIns="0" bIns="0" rtlCol="0" anchor="ctr"/>
          <a:lstStyle/>
          <a:p>
            <a:pPr indent="0" marL="0">
              <a:buNone/>
            </a:pPr>
            <a:r>
              <a:rPr lang="en-US" sz="1300" dirty="0">
                <a:solidFill>
                  <a:srgbClr val="4A5568"/>
                </a:solidFill>
              </a:rPr>
              <a:t>2 of 4 multi-agent runs failed the evidence check · top 5 overlapped 2 of 5 jobs on R01 / 20 jobs</a:t>
            </a:r>
            <a:endParaRPr lang="en-US" sz="1300" dirty="0"/>
          </a:p>
        </p:txBody>
      </p:sp>
      <p:sp>
        <p:nvSpPr>
          <p:cNvPr id="6" name="Shape 4"/>
          <p:cNvSpPr/>
          <p:nvPr/>
        </p:nvSpPr>
        <p:spPr>
          <a:xfrm>
            <a:off x="548640" y="1737360"/>
            <a:ext cx="3931920" cy="2880360"/>
          </a:xfrm>
          <a:prstGeom prst="roundRect">
            <a:avLst>
              <a:gd name="adj" fmla="val 2540"/>
            </a:avLst>
          </a:prstGeom>
          <a:solidFill>
            <a:srgbClr val="FFFFFF"/>
          </a:solidFill>
          <a:ln w="9525">
            <a:solidFill>
              <a:srgbClr val="E2DED3"/>
            </a:solidFill>
            <a:prstDash val="solid"/>
          </a:ln>
        </p:spPr>
      </p:sp>
      <p:sp>
        <p:nvSpPr>
          <p:cNvPr id="7" name="Shape 5"/>
          <p:cNvSpPr/>
          <p:nvPr/>
        </p:nvSpPr>
        <p:spPr>
          <a:xfrm>
            <a:off x="4663440" y="1737360"/>
            <a:ext cx="3931920" cy="2880360"/>
          </a:xfrm>
          <a:prstGeom prst="roundRect">
            <a:avLst>
              <a:gd name="adj" fmla="val 2540"/>
            </a:avLst>
          </a:prstGeom>
          <a:solidFill>
            <a:srgbClr val="FFFFFF"/>
          </a:solidFill>
          <a:ln w="9525">
            <a:solidFill>
              <a:srgbClr val="E2DED3"/>
            </a:solidFill>
            <a:prstDash val="solid"/>
          </a:ln>
        </p:spPr>
      </p:sp>
      <p:graphicFrame>
        <p:nvGraphicFramePr>
          <p:cNvPr id="8" name="time chart" descr=""/>
          <p:cNvGraphicFramePr/>
          <p:nvPr/>
        </p:nvGraphicFramePr>
        <p:xfrm>
          <a:off x="640080" y="1810512"/>
          <a:ext cx="374904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oken chart" descr=""/>
          <p:cNvGraphicFramePr/>
          <p:nvPr/>
        </p:nvGraphicFramePr>
        <p:xfrm>
          <a:off x="4754880" y="1810512"/>
          <a:ext cx="3749040" cy="27432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1097280" y="4754880"/>
            <a:ext cx="7498080" cy="228600"/>
          </a:xfrm>
          <a:prstGeom prst="rect">
            <a:avLst/>
          </a:prstGeom>
          <a:noFill/>
          <a:ln/>
        </p:spPr>
        <p:txBody>
          <a:bodyPr wrap="square" lIns="0" tIns="0" rIns="0" bIns="0" rtlCol="0" anchor="ctr"/>
          <a:lstStyle/>
          <a:p>
            <a:pPr indent="0" marL="0">
              <a:buNone/>
            </a:pPr>
            <a:r>
              <a:rPr lang="en-US" sz="1000" dirty="0">
                <a:solidFill>
                  <a:srgbClr val="718096"/>
                </a:solidFill>
              </a:rPr>
              <a:t>Local Qwen3 4B (Ollama) on a Mac · R01–R02, 1 repetition · median of completed runs · $0 API cost</a:t>
            </a:r>
            <a:endParaRPr lang="en-US" sz="1000" dirty="0"/>
          </a:p>
        </p:txBody>
      </p:sp>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65760"/>
            <a:ext cx="5120640" cy="274320"/>
          </a:xfrm>
          <a:prstGeom prst="rect">
            <a:avLst/>
          </a:prstGeom>
          <a:noFill/>
          <a:ln/>
        </p:spPr>
        <p:txBody>
          <a:bodyPr wrap="square" lIns="0" tIns="0" rIns="0" bIns="0" rtlCol="0" anchor="ctr"/>
          <a:lstStyle/>
          <a:p>
            <a:pPr indent="0" marL="0">
              <a:buNone/>
            </a:pPr>
            <a:r>
              <a:rPr lang="en-US" sz="1200" spc="150" kern="0" dirty="0">
                <a:solidFill>
                  <a:srgbClr val="B85C1E"/>
                </a:solidFill>
                <a:latin typeface="Courier New" pitchFamily="34" charset="0"/>
                <a:ea typeface="Courier New" pitchFamily="34" charset="-122"/>
                <a:cs typeface="Courier New" pitchFamily="34" charset="-120"/>
              </a:rPr>
              <a:t>05 · ACCURACY (PRECISION@5)</a:t>
            </a:r>
            <a:endParaRPr lang="en-US" sz="1200" dirty="0"/>
          </a:p>
        </p:txBody>
      </p:sp>
      <p:sp>
        <p:nvSpPr>
          <p:cNvPr id="3" name="status"/>
          <p:cNvSpPr/>
          <p:nvPr/>
        </p:nvSpPr>
        <p:spPr>
          <a:xfrm>
            <a:off x="5669280" y="329184"/>
            <a:ext cx="2926080" cy="329184"/>
          </a:xfrm>
          <a:prstGeom prst="roundRect">
            <a:avLst>
              <a:gd name="adj" fmla="val 138889"/>
            </a:avLst>
          </a:prstGeom>
          <a:solidFill>
            <a:srgbClr val="2F5D8C"/>
          </a:solidFill>
          <a:ln/>
        </p:spPr>
        <p:txBody>
          <a:bodyPr wrap="square" lIns="0" tIns="0" rIns="0" bIns="0" rtlCol="0" anchor="ctr"/>
          <a:lstStyle/>
          <a:p>
            <a:pPr algn="ctr" indent="0" marL="0">
              <a:buNone/>
            </a:pPr>
            <a:r>
              <a:rPr lang="en-US" sz="1100" b="1" dirty="0">
                <a:solidFill>
                  <a:srgbClr val="F7F5EF"/>
                </a:solidFill>
              </a:rPr>
              <a:t>Held-out eval · 96 runs</a:t>
            </a:r>
            <a:endParaRPr lang="en-US" sz="1100" dirty="0"/>
          </a:p>
        </p:txBody>
      </p:sp>
      <p:sp>
        <p:nvSpPr>
          <p:cNvPr id="4" name="Text 0"/>
          <p:cNvSpPr/>
          <p:nvPr>
            <p:ph idx="100" type="title" hasCustomPrompt="1"/>
          </p:nvPr>
        </p:nvSpPr>
        <p:spPr>
          <a:xfrm>
            <a:off x="548640" y="77724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Multi-agent: no more accurate, 4–6x slower</a:t>
            </a:r>
            <a:endParaRPr lang="en-US" sz="2800" dirty="0"/>
          </a:p>
        </p:txBody>
      </p:sp>
      <p:sp>
        <p:nvSpPr>
          <p:cNvPr id="5" name="Text 3"/>
          <p:cNvSpPr txBox="1"/>
          <p:nvPr/>
        </p:nvSpPr>
        <p:spPr>
          <a:xfrm>
            <a:off x="548640" y="1325880"/>
            <a:ext cx="8046720" cy="274320"/>
          </a:xfrm>
          <a:prstGeom prst="rect">
            <a:avLst/>
          </a:prstGeom>
          <a:noFill/>
          <a:ln/>
        </p:spPr>
        <p:txBody>
          <a:bodyPr wrap="square" lIns="0" tIns="0" rIns="0" bIns="0" rtlCol="0" anchor="ctr"/>
          <a:lstStyle/>
          <a:p>
            <a:pPr indent="0" marL="0">
              <a:buNone/>
            </a:pPr>
            <a:r>
              <a:rPr lang="en-US" sz="1300" dirty="0">
                <a:solidFill>
                  <a:srgbClr val="4A5568"/>
                </a:solidFill>
              </a:rPr>
              <a:t>Multi-agent better on 1 of 8 resumes at 50 jobs, worse on 2 · decision rule (+5 pts, ≤2x cost/time) misses</a:t>
            </a:r>
            <a:endParaRPr lang="en-US" sz="1300" dirty="0"/>
          </a:p>
        </p:txBody>
      </p:sp>
      <p:sp>
        <p:nvSpPr>
          <p:cNvPr id="6" name="Shape 4"/>
          <p:cNvSpPr/>
          <p:nvPr/>
        </p:nvSpPr>
        <p:spPr>
          <a:xfrm>
            <a:off x="548640" y="1737360"/>
            <a:ext cx="3931920" cy="2880360"/>
          </a:xfrm>
          <a:prstGeom prst="roundRect">
            <a:avLst>
              <a:gd name="adj" fmla="val 2540"/>
            </a:avLst>
          </a:prstGeom>
          <a:solidFill>
            <a:srgbClr val="FFFFFF"/>
          </a:solidFill>
          <a:ln w="9525">
            <a:solidFill>
              <a:srgbClr val="E2DED3"/>
            </a:solidFill>
            <a:prstDash val="solid"/>
          </a:ln>
        </p:spPr>
      </p:sp>
      <p:sp>
        <p:nvSpPr>
          <p:cNvPr id="7" name="Shape 5"/>
          <p:cNvSpPr/>
          <p:nvPr/>
        </p:nvSpPr>
        <p:spPr>
          <a:xfrm>
            <a:off x="4663440" y="1737360"/>
            <a:ext cx="3931920" cy="2880360"/>
          </a:xfrm>
          <a:prstGeom prst="roundRect">
            <a:avLst>
              <a:gd name="adj" fmla="val 2540"/>
            </a:avLst>
          </a:prstGeom>
          <a:solidFill>
            <a:srgbClr val="FFFFFF"/>
          </a:solidFill>
          <a:ln w="9525">
            <a:solidFill>
              <a:srgbClr val="E2DED3"/>
            </a:solidFill>
            <a:prstDash val="solid"/>
          </a:ln>
        </p:spPr>
      </p:sp>
      <p:sp>
        <p:nvSpPr>
          <p:cNvPr id="10" name="Text 6"/>
          <p:cNvSpPr txBox="1"/>
          <p:nvPr/>
        </p:nvSpPr>
        <p:spPr>
          <a:xfrm>
            <a:off x="1097280" y="4754880"/>
            <a:ext cx="7498080" cy="228600"/>
          </a:xfrm>
          <a:prstGeom prst="rect">
            <a:avLst/>
          </a:prstGeom>
          <a:noFill/>
          <a:ln/>
        </p:spPr>
        <p:txBody>
          <a:bodyPr wrap="square" lIns="0" tIns="0" rIns="0" bIns="0" rtlCol="0" anchor="ctr"/>
          <a:lstStyle/>
          <a:p>
            <a:pPr indent="0" marL="0">
              <a:buNone/>
            </a:pPr>
            <a:r>
              <a:rPr lang="en-US" sz="1000" dirty="0">
                <a:solidFill>
                  <a:srgbClr val="718096"/>
                </a:solidFill>
              </a:rPr>
              <a:t>Qwen3 4B on a Colab A100 · R03–R10 × 3 reps vs. 400 team labels · multi used 2.8x tokens · 0/96 runs failed</a:t>
            </a:r>
            <a:endParaRPr lang="en-US" sz="1000" dirty="0"/>
          </a:p>
        </p:txBody>
      </p:sp>
      <p:sp>
        <p:nvSpPr>
          <p:cNvPr id="25" name="Slide Number Placeholder 0"/>
          <p:cNvSpPr>
            <a:spLocks noGrp="1"/>
          </p:cNvSpPr>
          <p:nvPr>
            <p:ph type="sldNum" sz="quarter" idx="4294967295"/>
          </p:nvPr>
        </p:nvSpPr>
        <p:spPr>
          <a:xfrm>
            <a:off x="548640" y="4800600"/>
            <a:ext cx="9144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18096"/>
                </a:solidFill>
                <a:latin typeface="Calibri"/>
                <a:ea typeface="Calibri"/>
                <a:cs typeface="Calibri"/>
              </a:defRPr>
            </a:lvl1pPr>
          </a:lstStyle>
          <a:p>
            <a:r>
              <a:t>6</a:t>
            </a:r>
          </a:p>
        </p:txBody>
      </p:sp>
      <p:graphicFrame>
        <p:nvGraphicFramePr>
          <p:cNvPr id="26" name="Chart 25"/>
          <p:cNvGraphicFramePr>
            <a:graphicFrameLocks noGrp="1"/>
          </p:cNvGraphicFramePr>
          <p:nvPr/>
        </p:nvGraphicFramePr>
        <p:xfrm>
          <a:off x="640080" y="1810512"/>
          <a:ext cx="3749040" cy="2734056"/>
        </p:xfrm>
        <a:graphic>
          <a:graphicData uri="http://schemas.openxmlformats.org/drawingml/2006/chart">
            <c:chart xmlns:c="http://schemas.openxmlformats.org/drawingml/2006/chart" r:id="rId2"/>
          </a:graphicData>
        </a:graphic>
      </p:graphicFrame>
      <p:graphicFrame>
        <p:nvGraphicFramePr>
          <p:cNvPr id="27" name="Chart 26"/>
          <p:cNvGraphicFramePr>
            <a:graphicFrameLocks noGrp="1"/>
          </p:cNvGraphicFramePr>
          <p:nvPr/>
        </p:nvGraphicFramePr>
        <p:xfrm>
          <a:off x="4754880" y="1810512"/>
          <a:ext cx="3749040" cy="2734056"/>
        </p:xfrm>
        <a:graphic>
          <a:graphicData uri="http://schemas.openxmlformats.org/drawingml/2006/chart">
            <c:chart xmlns:c="http://schemas.openxmlformats.org/drawingml/2006/chart" r:id="rId3"/>
          </a:graphicData>
        </a:graphic>
      </p:graphicFrame>
    </p:spTree>
  </p:cSld>
  <p:clrMapOvr>
    <a:masterClrMapping/>
  </p:clrMapOvr>
</p:sld>
</file>

<file path=ppt/theme/theme1.xml><?xml version="1.0" encoding="utf-8"?>
<a:theme xmlns:a="http://schemas.openxmlformats.org/drawingml/2006/main" name="Resume Matcher">
  <a:themeElements>
    <a:clrScheme name="Resume Matcher">
      <a:dk1>
        <a:srgbClr val="14213D"/>
      </a:dk1>
      <a:lt1>
        <a:srgbClr val="FFFFFF"/>
      </a:lt1>
      <a:dk2>
        <a:srgbClr val="2D3748"/>
      </a:dk2>
      <a:lt2>
        <a:srgbClr val="F7F5EF"/>
      </a:lt2>
      <a:accent1>
        <a:srgbClr val="B85C1E"/>
      </a:accent1>
      <a:accent2>
        <a:srgbClr val="2F5D8C"/>
      </a:accent2>
      <a:accent3>
        <a:srgbClr val="E8EEF5"/>
      </a:accent3>
      <a:accent4>
        <a:srgbClr val="F2C79A"/>
      </a:accent4>
      <a:accent5>
        <a:srgbClr val="718096"/>
      </a:accent5>
      <a:accent6>
        <a:srgbClr val="E2DED3"/>
      </a:accent6>
      <a:hlink>
        <a:srgbClr val="2F5D8C"/>
      </a:hlink>
      <a:folHlink>
        <a:srgbClr val="6D4C9C"/>
      </a:folHlink>
    </a:clrScheme>
    <a:fontScheme name="Resume Match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Agent or Many? Progress Update</dc:title>
  <dc:subject>PptxGenJS Presentation</dc:subject>
  <dc:creator>PptxGenJS</dc:creator>
  <cp:lastModifiedBy>PptxGenJS</cp:lastModifiedBy>
  <cp:revision>1</cp:revision>
  <dcterms:created xsi:type="dcterms:W3CDTF">2026-10-06T19:37:30Z</dcterms:created>
  <dcterms:modified xsi:type="dcterms:W3CDTF">2026-10-06T19:37:30Z</dcterms:modified>
</cp:coreProperties>
</file>