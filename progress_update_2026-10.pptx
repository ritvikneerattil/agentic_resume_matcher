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fc9c66c6-658e-dcf3-2991-d085cadbce8a}">
          <p14:sldIdLst>
            <p14:sldId id="256"/>
          </p14:sldIdLst>
        </p14:section>
        <p14:section name="Progress" id="{9d883d13-2848-e685-c1ae-1f6a632c0069}">
          <p14:sldIdLst>
            <p14:sldId id="257"/>
            <p14:sldId id="258"/>
            <p14:sldId id="259"/>
          </p14:sldIdLst>
        </p14:section>
        <p14:section name="Results" id="{a4225a8b-24fc-cca3-683c-d76ebfa2725b}">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Seconds per completed run</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2A64A8"/>
            </a:solidFill>
            <a:effectLst/>
          </c:spPr>
          <c:invertIfNegative val="0"/>
          <c:dLbls>
            <c:numFmt formatCode="#,##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multiLvlStrRef>
              <c:f>Sheet1!$A$2:$A$5</c:f>
              <c:multiLvlStrCache>
                <c:ptCount val="4"/>
                <c:lvl>
                  <c:pt idx="0">
                    <c:v>20 jobs Single</c:v>
                  </c:pt>
                  <c:pt idx="1">
                    <c:v>20 jobs Multi</c:v>
                  </c:pt>
                  <c:pt idx="2">
                    <c:v>50 jobs Single</c:v>
                  </c:pt>
                  <c:pt idx="3">
                    <c:v>50 jobs Multi</c:v>
                  </c:pt>
                </c:lvl>
              </c:multiLvlStrCache>
            </c:multiLvlStrRef>
          </c:cat>
          <c:val>
            <c:numRef>
              <c:f>Sheet1!$B$2:$B$5</c:f>
              <c:numCache>
                <c:formatCode>General</c:formatCode>
                <c:ptCount val="4"/>
                <c:pt idx="0">
                  <c:v>65.5</c:v>
                </c:pt>
                <c:pt idx="1">
                  <c:v>274.4</c:v>
                </c:pt>
                <c:pt idx="2">
                  <c:v>354.8</c:v>
                </c:pt>
                <c:pt idx="3">
                  <c:v>1200.2</c:v>
                </c:pt>
              </c:numCache>
            </c:numRef>
          </c:val>
        </c:ser>
        <c:dLbls>
          <c:numFmt formatCode="#,##0&quot;s&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mn-lt"/>
              </a:defRPr>
            </a:pPr>
            <a:r>
              <a:rPr sz="1300" b="0" i="0" u="none" strike="noStrike">
                <a:solidFill>
                  <a:srgbClr val="14213D"/>
                </a:solidFill>
                <a:latin typeface="+mn-lt"/>
              </a:rPr>
              <a:t>Tokens per completed run (thousands)</a:t>
            </a:r>
          </a:p>
        </c:rich>
      </c:tx>
      <c:layout/>
      <c:overlay val="0"/>
    </c:title>
    <c:autoTitleDeleted val="0"/>
    <c:plotArea>
      <c:layout/>
      <c:barChart>
        <c:barDir val="col"/>
        <c:grouping val="clustered"/>
        <c:varyColors val="0"/>
        <c:ser>
          <c:idx val="0"/>
          <c:order val="0"/>
          <c:tx>
            <c:strRef>
              <c:f>Sheet1!$B$1</c:f>
              <c:strCache>
                <c:ptCount val="1"/>
                <c:pt idx="0">
                  <c:v>Tokens</c:v>
                </c:pt>
              </c:strCache>
            </c:strRef>
          </c:tx>
          <c:spPr>
            <a:solidFill>
              <a:srgbClr val="2A64A8"/>
            </a:solidFill>
            <a:effectLst/>
          </c:spPr>
          <c:invertIfNegative val="0"/>
          <c:dLbls>
            <c:numFmt formatCode="#,##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2A64A8"/>
              </a:solidFill>
              <a:effectLst/>
            </c:spPr>
          </c:dPt>
          <c:dPt>
            <c:idx val="1"/>
            <c:invertIfNegative val="0"/>
            <c:bubble3D val="0"/>
            <c:spPr>
              <a:solidFill>
                <a:srgbClr val="B85C1E"/>
              </a:solidFill>
              <a:effectLst/>
            </c:spPr>
          </c:dPt>
          <c:dPt>
            <c:idx val="2"/>
            <c:invertIfNegative val="0"/>
            <c:bubble3D val="0"/>
            <c:spPr>
              <a:solidFill>
                <a:srgbClr val="2A64A8"/>
              </a:solidFill>
              <a:effectLst/>
            </c:spPr>
          </c:dPt>
          <c:dPt>
            <c:idx val="3"/>
            <c:invertIfNegative val="0"/>
            <c:bubble3D val="0"/>
            <c:spPr>
              <a:solidFill>
                <a:srgbClr val="B85C1E"/>
              </a:solidFill>
              <a:effectLst/>
            </c:spPr>
          </c:dPt>
          <c:cat>
            <c:multiLvlStrRef>
              <c:f>Sheet1!$A$2:$A$5</c:f>
              <c:multiLvlStrCache>
                <c:ptCount val="4"/>
                <c:lvl>
                  <c:pt idx="0">
                    <c:v>20 jobs Single</c:v>
                  </c:pt>
                  <c:pt idx="1">
                    <c:v>20 jobs Multi</c:v>
                  </c:pt>
                  <c:pt idx="2">
                    <c:v>50 jobs Single</c:v>
                  </c:pt>
                  <c:pt idx="3">
                    <c:v>50 jobs Multi</c:v>
                  </c:pt>
                </c:lvl>
              </c:multiLvlStrCache>
            </c:multiLvlStrRef>
          </c:cat>
          <c:val>
            <c:numRef>
              <c:f>Sheet1!$B$2:$B$5</c:f>
              <c:numCache>
                <c:formatCode>General</c:formatCode>
                <c:ptCount val="4"/>
                <c:pt idx="0">
                  <c:v>31.3</c:v>
                </c:pt>
                <c:pt idx="1">
                  <c:v>92.8</c:v>
                </c:pt>
                <c:pt idx="2">
                  <c:v>73.5</c:v>
                </c:pt>
                <c:pt idx="3">
                  <c:v>214.6</c:v>
                </c:pt>
              </c:numCache>
            </c:numRef>
          </c:val>
        </c:ser>
        <c:dLbls>
          <c:numFmt formatCode="#,##0&quot;k&quot;" sourceLinked="0"/>
          <c:txPr>
            <a:bodyPr/>
            <a:lstStyle/>
            <a:p>
              <a:pPr>
                <a:defRPr b="0" i="0" strike="noStrike" sz="11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status check: where each of the three pieces stands. Nothing is graded here; no real experiment results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data was pulled Sept 24: 219 postings fetched, filtered to early-career US software/data roles, 20 flagged as the small workload (10 per source). Resumes: 10 chosen from 33 student resumes from a previous course, mostly new-grad CS / CompE / data, with a mix of SWE, data, AI/ML and embedded backgrounds. Location preferences were assigned by us. Labels: Kevin, Ritvik and Aidan labeled all 400 eval pairs (8 resumes x 50 jobs) by applying the rubric before any matcher output existed; 109 are relevant, and every no has a reason code. The 80-pair second review by the team is still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sends the cleaned resume, preferences and every job description in one call and gets back five ranked job IDs with explanations. It shares input cleanup, model, output limit, ranking prompt and validation with the orchestrator, so the only difference is the architecture. The local benchmark runs both pipelines on the 2 dev resumes against 20 and 50 jobs (8 runs) and measures tokens and wall-clock time; it doesn't measure accuracy; that's the Precision@5 step using the 400 reference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 extractor now selects numbered lines from each posting (at most four per required / preferred / constraints) and the controller restores the exact original text, so nothing gets paraphrased or invented. The ranker gets those references plus the full numbered postings. Local runs have $0 API cost; hardware and electricity aren't measured. Cloud runs would use GPT-4.1 mini at prices recorded Oct 6. In the benchmark both R02 multi-agent runs failed the resume-evidence check, so that validator needs a look. No quality numbers yet; Precision@5 against the reference labels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Kevin ran both pipelines locally: 2 dev resumes x 20 and 50 jobs x 2 architectures = 8 runs, 6 completed. Single agent: 65.5s and 31k tokens at 20 jobs, 355s and 74k tokens at 50 jobs. Multi agent: 274s and 93k tokens at 20 jobs, 1,200s and 215k tokens at 50 jobs. On the same resume (R01) multi agent was 4.2x slower at 20 jobs and 4.5x slower at 50. Both R02 multi-agent runs failed: the resume parser returned evidence that wasn't an exact quote, so the validator rejected it. Local runs have $0 API charges; hardware and electricity weren't measured. On R01 with 20 jobs the two pipelines agreed on 2 of their top 5 picks; that's agreement, not accuracy. Small sample, one repetition, model already warm, so treat these as early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800" b="1" dirty="0">
                <a:solidFill>
                  <a:srgbClr val="F4F1EA"/>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77240"/>
            <a:ext cx="8046720" cy="548640"/>
          </a:xfrm>
          <a:prstGeom prst="rect">
            <a:avLst/>
          </a:prstGeom>
          <a:noFill/>
          <a:ln/>
        </p:spPr>
        <p:txBody>
          <a:bodyPr wrap="square" rtlCol="0"/>
          <a:lstStyle>
            <a:lvl1pPr algn="l" indent="0" marL="0">
              <a:buNone/>
              <a:defRPr lang="en-US" sz="2800" b="1" dirty="0">
                <a:solidFill>
                  <a:srgbClr val="14213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indent="0" marL="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Jobs, resumes, labels done</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Jobs, resumes and labels are ready</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sp>
      <p:sp>
        <p:nvSpPr>
          <p:cNvPr id="6" name="Text 4"/>
          <p:cNvSpPr txBox="1"/>
          <p:nvPr/>
        </p:nvSpPr>
        <p:spPr>
          <a:xfrm>
            <a:off x="6858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50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new-grad SWE / data postings, 46 employers</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sp>
      <p:sp>
        <p:nvSpPr>
          <p:cNvPr id="9" name="Text 7"/>
          <p:cNvSpPr txBox="1"/>
          <p:nvPr/>
        </p:nvSpPr>
        <p:spPr>
          <a:xfrm>
            <a:off x="27432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25 + 25</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Greenhouse + Lever</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sp>
      <p:sp>
        <p:nvSpPr>
          <p:cNvPr id="12" name="Text 10"/>
          <p:cNvSpPr txBox="1"/>
          <p:nvPr/>
        </p:nvSpPr>
        <p:spPr>
          <a:xfrm>
            <a:off x="48006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10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anonymized resumes (2 dev, 8 eval)</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sp>
      <p:sp>
        <p:nvSpPr>
          <p:cNvPr id="15" name="Text 13"/>
          <p:cNvSpPr txBox="1"/>
          <p:nvPr/>
        </p:nvSpPr>
        <p:spPr>
          <a:xfrm>
            <a:off x="68580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400</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pairs labeled, 109 relevant (labeled by the team)</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Job set pulled from live Greenhouse / Lever APIs, reproducible selection</a:t>
            </a:r>
            <a:endParaRPr lang="en-US" sz="1300" dirty="0"/>
          </a:p>
          <a:p>
            <a:pPr marL="152400" indent="-152400">
              <a:spcAft>
                <a:spcPts val="400"/>
              </a:spcAft>
              <a:buSzPct val="100000"/>
              <a:buChar char="•"/>
            </a:pPr>
            <a:r>
              <a:rPr lang="en-US" sz="1300" dirty="0">
                <a:solidFill>
                  <a:srgbClr val="2D3748"/>
                </a:solidFill>
              </a:rPr>
              <a:t>10 resumes picked from 33 past-course resumes, names and contact info stripped</a:t>
            </a:r>
            <a:endParaRPr lang="en-US" sz="1300" dirty="0"/>
          </a:p>
          <a:p>
            <a:pPr marL="152400" indent="-152400">
              <a:spcAft>
                <a:spcPts val="400"/>
              </a:spcAft>
              <a:buSzPct val="100000"/>
              <a:buChar char="•"/>
            </a:pPr>
            <a:r>
              <a:rPr lang="en-US" sz="1300" dirty="0">
                <a:solidFill>
                  <a:srgbClr val="2D3748"/>
                </a:solidFill>
              </a:rPr>
              <a:t>All 400 resume × job pairs labeled with the rubric, by Kevin, Ritvik and Aidan</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Team second review of 80 pairs</a:t>
            </a:r>
            <a:endParaRPr lang="en-US" sz="1300" dirty="0"/>
          </a:p>
          <a:p>
            <a:pPr marL="152400" indent="-152400">
              <a:spcAft>
                <a:spcPts val="400"/>
              </a:spcAft>
              <a:buSzPct val="100000"/>
              <a:buChar char="•"/>
            </a:pPr>
            <a:r>
              <a:rPr lang="en-US" sz="1300" dirty="0">
                <a:solidFill>
                  <a:srgbClr val="2D3748"/>
                </a:solidFill>
              </a:rPr>
              <a:t>Score both matchers with Precision@5</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02 · SINGLE-AGENT BASELINE</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benchmarked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Resume + preferences</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All postings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One-call matcher with the same prompt, model and output check as the orchestrator</a:t>
            </a:r>
            <a:endParaRPr lang="en-US" sz="1300" dirty="0"/>
          </a:p>
          <a:p>
            <a:pPr marL="152400" indent="-152400">
              <a:spcAft>
                <a:spcPts val="400"/>
              </a:spcAft>
              <a:buSzPct val="100000"/>
              <a:buChar char="•"/>
            </a:pPr>
            <a:r>
              <a:rPr lang="en-US" sz="1300" dirty="0">
                <a:solidFill>
                  <a:srgbClr val="2D3748"/>
                </a:solidFill>
              </a:rPr>
              <a:t>Logs tokens, latency and retries for every run</a:t>
            </a:r>
            <a:endParaRPr lang="en-US" sz="1300" dirty="0"/>
          </a:p>
          <a:p>
            <a:pPr marL="152400" indent="-152400">
              <a:spcAft>
                <a:spcPts val="400"/>
              </a:spcAft>
              <a:buSzPct val="100000"/>
              <a:buChar char="•"/>
            </a:pPr>
            <a:r>
              <a:rPr lang="en-US" sz="1300" dirty="0">
                <a:solidFill>
                  <a:srgbClr val="2D3748"/>
                </a:solidFill>
              </a:rPr>
              <a:t>Local benchmark: 65s / 31k tokens at 20 jobs, 355s / 74k at 50 jobs, 4 of 4 runs passed</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Precision@5 on the 8 eval resumes</a:t>
            </a:r>
            <a:endParaRPr lang="en-US" sz="1300" dirty="0"/>
          </a:p>
          <a:p>
            <a:pPr marL="152400" indent="-152400">
              <a:spcAft>
                <a:spcPts val="400"/>
              </a:spcAft>
              <a:buSzPct val="100000"/>
              <a:buChar char="•"/>
            </a:pPr>
            <a:r>
              <a:rPr lang="en-US" sz="1300" dirty="0">
                <a:solidFill>
                  <a:srgbClr val="2D3748"/>
                </a:solidFill>
              </a:rPr>
              <a:t>Repeat timing with 3 repetitions</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benchmarked</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Extractor picks up to 4 key lines per category, quoted straight from the posting</a:t>
            </a:r>
            <a:endParaRPr lang="en-US" sz="1300" dirty="0"/>
          </a:p>
          <a:p>
            <a:pPr marL="152400" indent="-152400">
              <a:spcAft>
                <a:spcPts val="400"/>
              </a:spcAft>
              <a:buSzPct val="100000"/>
              <a:buChar char="•"/>
            </a:pPr>
            <a:r>
              <a:rPr lang="en-US" sz="1300" dirty="0">
                <a:solidFill>
                  <a:srgbClr val="2D3748"/>
                </a:solidFill>
              </a:rPr>
              <a:t>Models set: local Qwen3 4B for benchmarks, GPT-4.1 mini (dated prices) for cloud</a:t>
            </a:r>
            <a:endParaRPr lang="en-US" sz="1300" dirty="0"/>
          </a:p>
          <a:p>
            <a:pPr marL="152400" indent="-152400">
              <a:spcAft>
                <a:spcPts val="400"/>
              </a:spcAft>
              <a:buSzPct val="100000"/>
              <a:buChar char="•"/>
            </a:pPr>
            <a:r>
              <a:rPr lang="en-US" sz="1300" dirty="0">
                <a:solidFill>
                  <a:srgbClr val="2D3748"/>
                </a:solidFill>
              </a:rPr>
              <a:t>Local benchmark: 274s / 93k tokens at 20 jobs, 1,200s / 215k at 50 jobs</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Fix evidence check: 2 of 4 runs failed</a:t>
            </a:r>
            <a:endParaRPr lang="en-US" sz="1300" dirty="0"/>
          </a:p>
          <a:p>
            <a:pPr marL="152400" indent="-152400">
              <a:spcAft>
                <a:spcPts val="400"/>
              </a:spcAft>
              <a:buSzPct val="100000"/>
              <a:buChar char="•"/>
            </a:pPr>
            <a:r>
              <a:rPr lang="en-US" sz="1300" dirty="0">
                <a:solidFill>
                  <a:srgbClr val="2D3748"/>
                </a:solidFill>
              </a:rPr>
              <a:t>Precision@5, then the 96-run comparison</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04 · FIRST MEASUREMENTS</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Local benchmark · 8 runs</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Multi-agent took ~4x the time and ~3x the tokens</a:t>
            </a:r>
            <a:endParaRPr lang="en-US" sz="2800" dirty="0"/>
          </a:p>
        </p:txBody>
      </p:sp>
      <p:sp>
        <p:nvSpPr>
          <p:cNvPr id="5" name="Text 3"/>
          <p:cNvSpPr txBox="1"/>
          <p:nvPr/>
        </p:nvSpPr>
        <p:spPr>
          <a:xfrm>
            <a:off x="548640" y="1325880"/>
            <a:ext cx="8046720" cy="274320"/>
          </a:xfrm>
          <a:prstGeom prst="rect">
            <a:avLst/>
          </a:prstGeom>
          <a:noFill/>
          <a:ln/>
        </p:spPr>
        <p:txBody>
          <a:bodyPr wrap="square" lIns="0" tIns="0" rIns="0" bIns="0" rtlCol="0" anchor="ctr"/>
          <a:lstStyle/>
          <a:p>
            <a:pPr indent="0" marL="0">
              <a:buNone/>
            </a:pPr>
            <a:r>
              <a:rPr lang="en-US" sz="1300" dirty="0">
                <a:solidFill>
                  <a:srgbClr val="4A5568"/>
                </a:solidFill>
              </a:rPr>
              <a:t>2 of 4 multi-agent runs failed the evidence check · top 5 overlapped 2 of 5 jobs on R01 / 20 jobs</a:t>
            </a:r>
            <a:endParaRPr lang="en-US" sz="1300" dirty="0"/>
          </a:p>
        </p:txBody>
      </p:sp>
      <p:sp>
        <p:nvSpPr>
          <p:cNvPr id="6" name="Shape 4"/>
          <p:cNvSpPr/>
          <p:nvPr/>
        </p:nvSpPr>
        <p:spPr>
          <a:xfrm>
            <a:off x="548640" y="1737360"/>
            <a:ext cx="3931920" cy="2880360"/>
          </a:xfrm>
          <a:prstGeom prst="roundRect">
            <a:avLst>
              <a:gd name="adj" fmla="val 2540"/>
            </a:avLst>
          </a:prstGeom>
          <a:solidFill>
            <a:srgbClr val="FFFFFF"/>
          </a:solidFill>
          <a:ln w="9525">
            <a:solidFill>
              <a:srgbClr val="E2DED3"/>
            </a:solidFill>
            <a:prstDash val="solid"/>
          </a:ln>
        </p:spPr>
      </p:sp>
      <p:sp>
        <p:nvSpPr>
          <p:cNvPr id="7" name="Shape 5"/>
          <p:cNvSpPr/>
          <p:nvPr/>
        </p:nvSpPr>
        <p:spPr>
          <a:xfrm>
            <a:off x="4663440" y="1737360"/>
            <a:ext cx="3931920" cy="2880360"/>
          </a:xfrm>
          <a:prstGeom prst="roundRect">
            <a:avLst>
              <a:gd name="adj" fmla="val 2540"/>
            </a:avLst>
          </a:prstGeom>
          <a:solidFill>
            <a:srgbClr val="FFFFFF"/>
          </a:solidFill>
          <a:ln w="9525">
            <a:solidFill>
              <a:srgbClr val="E2DED3"/>
            </a:solidFill>
            <a:prstDash val="solid"/>
          </a:ln>
        </p:spPr>
      </p:sp>
      <p:graphicFrame>
        <p:nvGraphicFramePr>
          <p:cNvPr id="8" name="time chart" descr=""/>
          <p:cNvGraphicFramePr/>
          <p:nvPr/>
        </p:nvGraphicFramePr>
        <p:xfrm>
          <a:off x="640080" y="1810512"/>
          <a:ext cx="374904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oken chart" descr=""/>
          <p:cNvGraphicFramePr/>
          <p:nvPr/>
        </p:nvGraphicFramePr>
        <p:xfrm>
          <a:off x="4754880" y="1810512"/>
          <a:ext cx="3749040" cy="27432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1097280" y="4754880"/>
            <a:ext cx="7498080" cy="228600"/>
          </a:xfrm>
          <a:prstGeom prst="rect">
            <a:avLst/>
          </a:prstGeom>
          <a:noFill/>
          <a:ln/>
        </p:spPr>
        <p:txBody>
          <a:bodyPr wrap="square" lIns="0" tIns="0" rIns="0" bIns="0" rtlCol="0" anchor="ctr"/>
          <a:lstStyle/>
          <a:p>
            <a:pPr indent="0" marL="0">
              <a:buNone/>
            </a:pPr>
            <a:r>
              <a:rPr lang="en-US" sz="1000" dirty="0">
                <a:solidFill>
                  <a:srgbClr val="718096"/>
                </a:solidFill>
              </a:rPr>
              <a:t>Local Qwen3 4B (Ollama) on a Mac · R01–R02, 1 repetition · median of completed runs · $0 API cost</a:t>
            </a:r>
            <a:endParaRPr lang="en-US" sz="10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PptxGenJS</cp:lastModifiedBy>
  <cp:revision>1</cp:revision>
  <dcterms:created xsi:type="dcterms:W3CDTF">2026-10-06T19:37:30Z</dcterms:created>
  <dcterms:modified xsi:type="dcterms:W3CDTF">2026-10-06T19:37:30Z</dcterms:modified>
</cp:coreProperties>
</file>