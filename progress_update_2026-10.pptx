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63ae722e-9a31-2ef3-2fe0-c3aed25b49cc}">
          <p14:sldIdLst>
            <p14:sldId id="256"/>
          </p14:sldIdLst>
        </p14:section>
        <p14:section name="Progress" id="{ad7e1791-18cf-0208-7c93-f189492b84e3}">
          <p14:sldIdLst>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status check: where each of the three pieces stands. Nothing is graded here; no real experiment results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data was pulled Sept 24: 219 postings fetched, filtered to early-career US software/data roles, 20 flagged as the small workload (10 per source). Resumes: 10 chosen from 33 student resumes from a previous course, mostly new-grad CS / CompE / data, with a mix of SWE, data, AI/ML and embedded backgrounds. Location preferences were assigned by us since the owners didn't state any. The labeling rubric follows the proposal: relevant means core quals and stated constraints are met; a missing preferred skill alone doesn't count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sends the cleaned resume, preferences and every job description in one call and gets back five ranked job IDs with explanations. It shares input cleanup, model, output limit, ranking prompt and validation with the orchestrator, so the only difference is the architecture. The local benchmark runs both pipelines on the 2 dev resumes against 20 and 50 jobs (8 runs) and measures tokens and wall-clock time; it doesn't measure accuracy, that needs the human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 extractor now selects numbered lines from each posting (at most four per required / preferred / constraints) and the controller restores the exact original text, so nothing gets paraphrased or invented. The ranker gets those references plus the full numbered postings. Local runs have $0 API cost; hardware and electricity aren't measured. Cloud runs would use GPT-4.1 mini at prices recorded Oct 6. No quality numbers yet, those need the human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800" b="1" dirty="0">
                <a:solidFill>
                  <a:srgbClr val="F4F1EA"/>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77240"/>
            <a:ext cx="8046720" cy="548640"/>
          </a:xfrm>
          <a:prstGeom prst="rect">
            <a:avLst/>
          </a:prstGeom>
          <a:noFill/>
          <a:ln/>
        </p:spPr>
        <p:txBody>
          <a:bodyPr wrap="square" rtlCol="0"/>
          <a:lstStyle>
            <a:lvl1pPr algn="l" indent="0" marL="0">
              <a:buNone/>
              <a:defRPr lang="en-US" sz="2800" b="1" dirty="0">
                <a:solidFill>
                  <a:srgbClr val="14213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One Agent or Many?</a:t>
            </a:r>
            <a:endParaRPr lang="en-US" sz="4800" dirty="0"/>
          </a:p>
        </p:txBody>
      </p:sp>
      <p:sp>
        <p:nvSpPr>
          <p:cNvPr id="4" name="Text 2"/>
          <p:cNvSpPr txBox="1"/>
          <p:nvPr/>
        </p:nvSpPr>
        <p:spPr>
          <a:xfrm>
            <a:off x="548640" y="2514600"/>
            <a:ext cx="6858000" cy="457200"/>
          </a:xfrm>
          <a:prstGeom prst="rect">
            <a:avLst/>
          </a:prstGeom>
          <a:noFill/>
          <a:ln/>
        </p:spPr>
        <p:txBody>
          <a:bodyPr wrap="square" lIns="0" tIns="0" rIns="0" bIns="0" rtlCol="0" anchor="ctr"/>
          <a:lstStyle/>
          <a:p>
            <a:pPr indent="0" marL="0">
              <a:buNone/>
            </a:pPr>
            <a:r>
              <a:rPr lang="en-US" sz="2000" dirty="0">
                <a:solidFill>
                  <a:srgbClr val="BFC8D9"/>
                </a:solidFill>
              </a:rPr>
              <a:t>Orchestrated vs. single-agent resume-to-job matching</a:t>
            </a:r>
            <a:endParaRPr lang="en-US" sz="2000" dirty="0"/>
          </a:p>
        </p:txBody>
      </p:sp>
      <p:sp>
        <p:nvSpPr>
          <p:cNvPr id="5" name="Text 3"/>
          <p:cNvSpPr txBox="1"/>
          <p:nvPr/>
        </p:nvSpPr>
        <p:spPr>
          <a:xfrm>
            <a:off x="54864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Aidan · single-agent baseline</a:t>
            </a:r>
            <a:endParaRPr lang="en-US" sz="1400" dirty="0"/>
          </a:p>
        </p:txBody>
      </p:sp>
      <p:sp>
        <p:nvSpPr>
          <p:cNvPr id="6" name="Text 4"/>
          <p:cNvSpPr txBox="1"/>
          <p:nvPr/>
        </p:nvSpPr>
        <p:spPr>
          <a:xfrm>
            <a:off x="324612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Kevin Do · orchestration</a:t>
            </a:r>
            <a:endParaRPr lang="en-US" sz="1400" dirty="0"/>
          </a:p>
        </p:txBody>
      </p:sp>
      <p:sp>
        <p:nvSpPr>
          <p:cNvPr id="7" name="Text 5"/>
          <p:cNvSpPr txBox="1"/>
          <p:nvPr/>
        </p:nvSpPr>
        <p:spPr>
          <a:xfrm>
            <a:off x="594360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Ritvik · data &amp; eval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01 · DATA &amp; EVALUATION · RITVIK</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Jobs + resumes done · labeling next</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Jobs and resumes are in; labeling is next</a:t>
            </a:r>
            <a:endParaRPr lang="en-US" sz="2800" dirty="0"/>
          </a:p>
        </p:txBody>
      </p:sp>
      <p:sp>
        <p:nvSpPr>
          <p:cNvPr id="5" name="Shape 3"/>
          <p:cNvSpPr/>
          <p:nvPr/>
        </p:nvSpPr>
        <p:spPr>
          <a:xfrm>
            <a:off x="548640" y="1508760"/>
            <a:ext cx="1874520" cy="1280160"/>
          </a:xfrm>
          <a:prstGeom prst="roundRect">
            <a:avLst>
              <a:gd name="adj" fmla="val 5714"/>
            </a:avLst>
          </a:prstGeom>
          <a:solidFill>
            <a:srgbClr val="FFFFFF"/>
          </a:solidFill>
          <a:ln w="9525">
            <a:solidFill>
              <a:srgbClr val="E2DED3"/>
            </a:solidFill>
            <a:prstDash val="solid"/>
          </a:ln>
        </p:spPr>
      </p:sp>
      <p:sp>
        <p:nvSpPr>
          <p:cNvPr id="6" name="Text 4"/>
          <p:cNvSpPr txBox="1"/>
          <p:nvPr/>
        </p:nvSpPr>
        <p:spPr>
          <a:xfrm>
            <a:off x="6858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50</a:t>
            </a:r>
            <a:endParaRPr lang="en-US" sz="3200" dirty="0"/>
          </a:p>
        </p:txBody>
      </p:sp>
      <p:sp>
        <p:nvSpPr>
          <p:cNvPr id="7" name="Text 5"/>
          <p:cNvSpPr txBox="1"/>
          <p:nvPr/>
        </p:nvSpPr>
        <p:spPr>
          <a:xfrm>
            <a:off x="6858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new-grad SWE / data postings, 46 employers</a:t>
            </a:r>
            <a:endParaRPr lang="en-US" sz="1200" dirty="0"/>
          </a:p>
        </p:txBody>
      </p:sp>
      <p:sp>
        <p:nvSpPr>
          <p:cNvPr id="8" name="Shape 6"/>
          <p:cNvSpPr/>
          <p:nvPr/>
        </p:nvSpPr>
        <p:spPr>
          <a:xfrm>
            <a:off x="2606040" y="1508760"/>
            <a:ext cx="1874520" cy="1280160"/>
          </a:xfrm>
          <a:prstGeom prst="roundRect">
            <a:avLst>
              <a:gd name="adj" fmla="val 5714"/>
            </a:avLst>
          </a:prstGeom>
          <a:solidFill>
            <a:srgbClr val="FFFFFF"/>
          </a:solidFill>
          <a:ln w="9525">
            <a:solidFill>
              <a:srgbClr val="E2DED3"/>
            </a:solidFill>
            <a:prstDash val="solid"/>
          </a:ln>
        </p:spPr>
      </p:sp>
      <p:sp>
        <p:nvSpPr>
          <p:cNvPr id="9" name="Text 7"/>
          <p:cNvSpPr txBox="1"/>
          <p:nvPr/>
        </p:nvSpPr>
        <p:spPr>
          <a:xfrm>
            <a:off x="27432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25 + 25</a:t>
            </a:r>
            <a:endParaRPr lang="en-US" sz="3200" dirty="0"/>
          </a:p>
        </p:txBody>
      </p:sp>
      <p:sp>
        <p:nvSpPr>
          <p:cNvPr id="10" name="Text 8"/>
          <p:cNvSpPr txBox="1"/>
          <p:nvPr/>
        </p:nvSpPr>
        <p:spPr>
          <a:xfrm>
            <a:off x="27432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Greenhouse + Lever</a:t>
            </a:r>
            <a:endParaRPr lang="en-US" sz="1200" dirty="0"/>
          </a:p>
        </p:txBody>
      </p:sp>
      <p:sp>
        <p:nvSpPr>
          <p:cNvPr id="11" name="Shape 9"/>
          <p:cNvSpPr/>
          <p:nvPr/>
        </p:nvSpPr>
        <p:spPr>
          <a:xfrm>
            <a:off x="4663440" y="1508760"/>
            <a:ext cx="1874520" cy="1280160"/>
          </a:xfrm>
          <a:prstGeom prst="roundRect">
            <a:avLst>
              <a:gd name="adj" fmla="val 5714"/>
            </a:avLst>
          </a:prstGeom>
          <a:solidFill>
            <a:srgbClr val="FFFFFF"/>
          </a:solidFill>
          <a:ln w="9525">
            <a:solidFill>
              <a:srgbClr val="E2DED3"/>
            </a:solidFill>
            <a:prstDash val="solid"/>
          </a:ln>
        </p:spPr>
      </p:sp>
      <p:sp>
        <p:nvSpPr>
          <p:cNvPr id="12" name="Text 10"/>
          <p:cNvSpPr txBox="1"/>
          <p:nvPr/>
        </p:nvSpPr>
        <p:spPr>
          <a:xfrm>
            <a:off x="48006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10</a:t>
            </a:r>
            <a:endParaRPr lang="en-US" sz="3200" dirty="0"/>
          </a:p>
        </p:txBody>
      </p:sp>
      <p:sp>
        <p:nvSpPr>
          <p:cNvPr id="13" name="Text 11"/>
          <p:cNvSpPr txBox="1"/>
          <p:nvPr/>
        </p:nvSpPr>
        <p:spPr>
          <a:xfrm>
            <a:off x="48006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anonymized resumes (2 dev, 8 eval)</a:t>
            </a:r>
            <a:endParaRPr lang="en-US" sz="1200" dirty="0"/>
          </a:p>
        </p:txBody>
      </p:sp>
      <p:sp>
        <p:nvSpPr>
          <p:cNvPr id="14" name="Shape 12"/>
          <p:cNvSpPr/>
          <p:nvPr/>
        </p:nvSpPr>
        <p:spPr>
          <a:xfrm>
            <a:off x="6720840" y="1508760"/>
            <a:ext cx="1874520" cy="1280160"/>
          </a:xfrm>
          <a:prstGeom prst="roundRect">
            <a:avLst>
              <a:gd name="adj" fmla="val 5714"/>
            </a:avLst>
          </a:prstGeom>
          <a:solidFill>
            <a:srgbClr val="FFFFFF"/>
          </a:solidFill>
          <a:ln w="9525">
            <a:solidFill>
              <a:srgbClr val="E2DED3"/>
            </a:solidFill>
            <a:prstDash val="solid"/>
          </a:ln>
        </p:spPr>
      </p:sp>
      <p:sp>
        <p:nvSpPr>
          <p:cNvPr id="15" name="Text 13"/>
          <p:cNvSpPr txBox="1"/>
          <p:nvPr/>
        </p:nvSpPr>
        <p:spPr>
          <a:xfrm>
            <a:off x="68580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400</a:t>
            </a:r>
            <a:endParaRPr lang="en-US" sz="3200" dirty="0"/>
          </a:p>
        </p:txBody>
      </p:sp>
      <p:sp>
        <p:nvSpPr>
          <p:cNvPr id="16" name="Text 14"/>
          <p:cNvSpPr txBox="1"/>
          <p:nvPr/>
        </p:nvSpPr>
        <p:spPr>
          <a:xfrm>
            <a:off x="68580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label rows ready, 0 filled</a:t>
            </a:r>
            <a:endParaRPr lang="en-US" sz="1200" dirty="0"/>
          </a:p>
        </p:txBody>
      </p:sp>
      <p:sp>
        <p:nvSpPr>
          <p:cNvPr id="17" name="Text 15"/>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8" name="Text 16"/>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Job set pulled from live Greenhouse / Lever APIs, reproducible selection</a:t>
            </a:r>
            <a:endParaRPr lang="en-US" sz="1300" dirty="0"/>
          </a:p>
          <a:p>
            <a:pPr marL="152400" indent="-152400">
              <a:spcAft>
                <a:spcPts val="400"/>
              </a:spcAft>
              <a:buSzPct val="100000"/>
              <a:buChar char="•"/>
            </a:pPr>
            <a:r>
              <a:rPr lang="en-US" sz="1300" dirty="0">
                <a:solidFill>
                  <a:srgbClr val="2D3748"/>
                </a:solidFill>
              </a:rPr>
              <a:t>10 resumes picked from 33 past-course resumes, names and contact info stripped</a:t>
            </a:r>
            <a:endParaRPr lang="en-US" sz="1300" dirty="0"/>
          </a:p>
          <a:p>
            <a:pPr marL="152400" indent="-152400">
              <a:spcAft>
                <a:spcPts val="400"/>
              </a:spcAft>
              <a:buSzPct val="100000"/>
              <a:buChar char="•"/>
            </a:pPr>
            <a:r>
              <a:rPr lang="en-US" sz="1300" dirty="0">
                <a:solidFill>
                  <a:srgbClr val="2D3748"/>
                </a:solidFill>
              </a:rPr>
              <a:t>Rubric, 400 + 80 label sheets, agreement / kappa script</a:t>
            </a:r>
            <a:endParaRPr lang="en-US" sz="1300" dirty="0"/>
          </a:p>
        </p:txBody>
      </p:sp>
      <p:sp>
        <p:nvSpPr>
          <p:cNvPr id="19" name="Text 17"/>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20" name="Text 18"/>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Team calibration on the 2 dev resumes</a:t>
            </a:r>
            <a:endParaRPr lang="en-US" sz="1300" dirty="0"/>
          </a:p>
          <a:p>
            <a:pPr marL="152400" indent="-152400">
              <a:spcAft>
                <a:spcPts val="400"/>
              </a:spcAft>
              <a:buSzPct val="100000"/>
              <a:buChar char="•"/>
            </a:pPr>
            <a:r>
              <a:rPr lang="en-US" sz="1300" dirty="0">
                <a:solidFill>
                  <a:srgbClr val="2D3748"/>
                </a:solidFill>
              </a:rPr>
              <a:t>Label all 400 pairs before seeing any predictions</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02 · SINGLE-AGENT BASELINE</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benchmark running</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One prompt reads everything, returns top 5</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Resume + preferences</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All postings</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Single prompt</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 + reasons</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One-call matcher with the same prompt, model and output check as the orchestrator</a:t>
            </a:r>
            <a:endParaRPr lang="en-US" sz="1300" dirty="0"/>
          </a:p>
          <a:p>
            <a:pPr marL="152400" indent="-152400">
              <a:spcAft>
                <a:spcPts val="400"/>
              </a:spcAft>
              <a:buSzPct val="100000"/>
              <a:buChar char="•"/>
            </a:pPr>
            <a:r>
              <a:rPr lang="en-US" sz="1300" dirty="0">
                <a:solidFill>
                  <a:srgbClr val="2D3748"/>
                </a:solidFill>
              </a:rPr>
              <a:t>Logs tokens, latency and retries for every run</a:t>
            </a:r>
            <a:endParaRPr lang="en-US" sz="1300" dirty="0"/>
          </a:p>
          <a:p>
            <a:pPr marL="152400" indent="-152400">
              <a:spcAft>
                <a:spcPts val="400"/>
              </a:spcAft>
              <a:buSzPct val="100000"/>
              <a:buChar char="•"/>
            </a:pPr>
            <a:r>
              <a:rPr lang="en-US" sz="1300" dirty="0">
                <a:solidFill>
                  <a:srgbClr val="2D3748"/>
                </a:solidFill>
              </a:rPr>
              <a:t>Paired cost / speed benchmark vs. orchestrator on a local Qwen3 4B model (no API cost)</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Finish the local benchmark and generate the PDF report</a:t>
            </a:r>
            <a:endParaRPr lang="en-US" sz="1300" dirty="0"/>
          </a:p>
          <a:p>
            <a:pPr marL="152400" indent="-152400">
              <a:spcAft>
                <a:spcPts val="400"/>
              </a:spcAft>
              <a:buSzPct val="100000"/>
              <a:buChar char="•"/>
            </a:pPr>
            <a:r>
              <a:rPr lang="en-US" sz="1300" dirty="0">
                <a:solidFill>
                  <a:srgbClr val="2D3748"/>
                </a:solidFill>
              </a:rPr>
              <a:t>Quality comparison once labels are done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03 · ORCHESTRATED WORKFLOW · KEVIN DO</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16 offline tests pass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Three workers chained by a Python script</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Resume parser</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Requirement extractor</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Scorer &amp; ranker</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Extractor picks up to 4 key lines per category, quoted straight from the posting</a:t>
            </a:r>
            <a:endParaRPr lang="en-US" sz="1300" dirty="0"/>
          </a:p>
          <a:p>
            <a:pPr marL="152400" indent="-152400">
              <a:spcAft>
                <a:spcPts val="400"/>
              </a:spcAft>
              <a:buSzPct val="100000"/>
              <a:buChar char="•"/>
            </a:pPr>
            <a:r>
              <a:rPr lang="en-US" sz="1300" dirty="0">
                <a:solidFill>
                  <a:srgbClr val="2D3748"/>
                </a:solidFill>
              </a:rPr>
              <a:t>Models set: local Qwen3 4B for benchmarks, GPT-4.1 mini (dated prices) for cloud</a:t>
            </a:r>
            <a:endParaRPr lang="en-US" sz="1300" dirty="0"/>
          </a:p>
          <a:p>
            <a:pPr marL="152400" indent="-152400">
              <a:spcAft>
                <a:spcPts val="400"/>
              </a:spcAft>
              <a:buSzPct val="100000"/>
              <a:buChar char="•"/>
            </a:pPr>
            <a:r>
              <a:rPr lang="en-US" sz="1300" dirty="0">
                <a:solidFill>
                  <a:srgbClr val="2D3748"/>
                </a:solidFill>
              </a:rPr>
              <a:t>Logs tokens, cost, latency, retries; 48 + 6 runs scripted</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8-run paired pilot with both pipelines</a:t>
            </a:r>
            <a:endParaRPr lang="en-US" sz="1300" dirty="0"/>
          </a:p>
          <a:p>
            <a:pPr marL="152400" indent="-152400">
              <a:spcAft>
                <a:spcPts val="400"/>
              </a:spcAft>
              <a:buSzPct val="100000"/>
              <a:buChar char="•"/>
            </a:pPr>
            <a:r>
              <a:rPr lang="en-US" sz="1300" dirty="0">
                <a:solidFill>
                  <a:srgbClr val="2D3748"/>
                </a:solidFill>
              </a:rPr>
              <a:t>Full 96-run comparison after labels</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Resume Matcher">
  <a:themeElements>
    <a:clrScheme name="Resume Matcher">
      <a:dk1>
        <a:srgbClr val="14213D"/>
      </a:dk1>
      <a:lt1>
        <a:srgbClr val="FFFFFF"/>
      </a:lt1>
      <a:dk2>
        <a:srgbClr val="2D3748"/>
      </a:dk2>
      <a:lt2>
        <a:srgbClr val="F7F5EF"/>
      </a:lt2>
      <a:accent1>
        <a:srgbClr val="B85C1E"/>
      </a:accent1>
      <a:accent2>
        <a:srgbClr val="2F5D8C"/>
      </a:accent2>
      <a:accent3>
        <a:srgbClr val="E8EEF5"/>
      </a:accent3>
      <a:accent4>
        <a:srgbClr val="F2C79A"/>
      </a:accent4>
      <a:accent5>
        <a:srgbClr val="718096"/>
      </a:accent5>
      <a:accent6>
        <a:srgbClr val="E2DED3"/>
      </a:accent6>
      <a:hlink>
        <a:srgbClr val="2F5D8C"/>
      </a:hlink>
      <a:folHlink>
        <a:srgbClr val="6D4C9C"/>
      </a:folHlink>
    </a:clrScheme>
    <a:fontScheme name="Resume Mat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Agent or Many? Progress Update</dc:title>
  <dc:subject>PptxGenJS Presentation</dc:subject>
  <dc:creator>PptxGenJS</dc:creator>
  <cp:lastModifiedBy>PptxGenJS</cp:lastModifiedBy>
  <cp:revision>1</cp:revision>
  <dcterms:created xsi:type="dcterms:W3CDTF">2026-10-06T18:26:38Z</dcterms:created>
  <dcterms:modified xsi:type="dcterms:W3CDTF">2026-10-06T18:26:38Z</dcterms:modified>
</cp:coreProperties>
</file>