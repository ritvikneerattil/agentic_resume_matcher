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 id="264" r:id="rId15"/>
    <p:sldId id="262" r:id="rId13"/>
    <p:sldId id="263" r:id="rId14"/>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seconds per resume</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Sheet1!$A$2:$A$3</c:f>
              <c:strCache>
                <c:ptCount val="2"/>
                <c:pt idx="0">
                  <c:v>Single</c:v>
                </c:pt>
                <c:pt idx="1">
                  <c:v>Multi</c:v>
                </c:pt>
              </c:strCache>
            </c:strRef>
          </c:cat>
          <c:val>
            <c:numRef>
              <c:f>Sheet1!$B$2:$B$3</c:f>
              <c:numCache>
                <c:formatCode>General</c:formatCode>
                <c:ptCount val="2"/>
                <c:pt idx="0">
                  <c:v>5.5</c:v>
                </c:pt>
                <c:pt idx="1">
                  <c:v>20.9</c:v>
                </c:pt>
              </c:numCache>
            </c:numRef>
          </c:val>
        </c:ser>
        <c:dLbls>
          <c:numFmt formatCode="0.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Median tokens per resume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strRef>
              <c:f>Sheet1!$A$2:$A$3</c:f>
              <c:strCache>
                <c:ptCount val="2"/>
                <c:pt idx="0">
                  <c:v>Single</c:v>
                </c:pt>
                <c:pt idx="1">
                  <c:v>Multi</c:v>
                </c:pt>
              </c:strCache>
            </c:strRef>
          </c:cat>
          <c:val>
            <c:numRef>
              <c:f>Sheet1!$B$2:$B$3</c:f>
              <c:numCache>
                <c:formatCode>General</c:formatCode>
                <c:ptCount val="2"/>
                <c:pt idx="0">
                  <c:v>9.9</c:v>
                </c:pt>
                <c:pt idx="1">
                  <c:v>32.2</c:v>
                </c:pt>
              </c:numCache>
            </c:numRef>
          </c:val>
        </c:ser>
        <c:dLbls>
          <c:numFmt formatCode="0.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Accuracy (higher is better)</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Sheet1!$A$2:$A$4</c:f>
              <c:strCache>
                <c:ptCount val="3"/>
                <c:pt idx="0">
                  <c:v>nDCG@5</c:v>
                </c:pt>
                <c:pt idx="1">
                  <c:v>Precision@5</c:v>
                </c:pt>
                <c:pt idx="2">
                  <c:v>Top-1 hit</c:v>
                </c:pt>
              </c:strCache>
            </c:strRef>
          </c:cat>
          <c:val>
            <c:numRef>
              <c:f>Sheet1!$B$2:$B$4</c:f>
              <c:numCache>
                <c:formatCode>General</c:formatCode>
                <c:ptCount val="3"/>
                <c:pt idx="0">
                  <c:v>0.568</c:v>
                </c:pt>
                <c:pt idx="1">
                  <c:v>0.679</c:v>
                </c:pt>
                <c:pt idx="2">
                  <c:v>0.643</c:v>
                </c:pt>
              </c:numCache>
            </c:numRef>
          </c:val>
        </c:ser>
        <c:ser>
          <c:idx val="1"/>
          <c:order val="1"/>
          <c:tx>
            <c:strRef>
              <c:f>Sheet1!$C$1</c:f>
              <c:strCache>
                <c:ptCount val="1"/>
                <c:pt idx="0">
                  <c:v>Multi-agent</c:v>
                </c:pt>
              </c:strCache>
            </c:strRef>
          </c:tx>
          <c:spPr>
            <a:solidFill>
              <a:srgbClr val="B85C1E"/>
            </a:solidFill>
          </c:spPr>
          <c:cat>
            <c:strRef>
              <c:f>Sheet1!$A$2:$A$4</c:f>
              <c:strCache>
                <c:ptCount val="3"/>
                <c:pt idx="0">
                  <c:v>nDCG@5</c:v>
                </c:pt>
                <c:pt idx="1">
                  <c:v>Precision@5</c:v>
                </c:pt>
                <c:pt idx="2">
                  <c:v>Top-1 hit</c:v>
                </c:pt>
              </c:strCache>
            </c:strRef>
          </c:cat>
          <c:val>
            <c:numRef>
              <c:f>Sheet1!$C$2:$C$4</c:f>
              <c:numCache>
                <c:formatCode>General</c:formatCode>
                <c:ptCount val="3"/>
                <c:pt idx="0">
                  <c:v>0.512</c:v>
                </c:pt>
                <c:pt idx="1">
                  <c:v>0.629</c:v>
                </c:pt>
                <c:pt idx="2">
                  <c:v>0.607</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nDCG@5 with and without the 2 failures</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Sheet1!$A$2:$A$3</c:f>
              <c:strCache>
                <c:ptCount val="2"/>
                <c:pt idx="0">
                  <c:v>All 28 resumes</c:v>
                </c:pt>
                <c:pt idx="1">
                  <c:v>Without P03, P17</c:v>
                </c:pt>
              </c:strCache>
            </c:strRef>
          </c:cat>
          <c:val>
            <c:numRef>
              <c:f>Sheet1!$B$2:$B$3</c:f>
              <c:numCache>
                <c:formatCode>General</c:formatCode>
                <c:ptCount val="2"/>
                <c:pt idx="0">
                  <c:v>0.568</c:v>
                </c:pt>
                <c:pt idx="1">
                  <c:v>0.554</c:v>
                </c:pt>
              </c:numCache>
            </c:numRef>
          </c:val>
        </c:ser>
        <c:ser>
          <c:idx val="1"/>
          <c:order val="1"/>
          <c:tx>
            <c:strRef>
              <c:f>Sheet1!$C$1</c:f>
              <c:strCache>
                <c:ptCount val="1"/>
                <c:pt idx="0">
                  <c:v>Multi-agent</c:v>
                </c:pt>
              </c:strCache>
            </c:strRef>
          </c:tx>
          <c:spPr>
            <a:solidFill>
              <a:srgbClr val="B85C1E"/>
            </a:solidFill>
          </c:spPr>
          <c:cat>
            <c:strRef>
              <c:f>Sheet1!$A$2:$A$3</c:f>
              <c:strCache>
                <c:ptCount val="2"/>
                <c:pt idx="0">
                  <c:v>All 28 resumes</c:v>
                </c:pt>
                <c:pt idx="1">
                  <c:v>Without P03, P17</c:v>
                </c:pt>
              </c:strCache>
            </c:strRef>
          </c:cat>
          <c:val>
            <c:numRef>
              <c:f>Sheet1!$C$2:$C$3</c:f>
              <c:numCache>
                <c:formatCode>General</c:formatCode>
                <c:ptCount val="2"/>
                <c:pt idx="0">
                  <c:v>0.512</c:v>
                </c:pt>
                <c:pt idx="1">
                  <c:v>0.551</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status check. Both approaches now have first measured results on a public labeled dataset.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deviated from the proposal. Our 50-job Greenhouse/Lever workload with 400 team labels was small (8 eval resumes), so we switched to rjdfit (cnamuangtoun/resume-job-description-fit on Hugging Face): 8,000 resume/job pairs labeled no fit, potential fit or good fit. It has about 642 unique resumes and 280 unique jobs, so each resume has roughly a dozen labeled jobs. We built 30 pools (a resume plus its own labeled jobs, 8 to 20 jobs each): 2 for development, 28 for evaluation. About 58% of jobs are relevant, so a random top 5 scores about 0.58 precision. The dataset has no card, so the license and labeling method are unknown; we should not call these human labels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baseline sends the resume and every job in the pool in one call and gets back five ranked job IDs with explanations. It shares input cleanup, model, output limit, ranking prompt and validation with the orchestrator, so the only difference is the architecture. Results on the 28 eval resumes (1 repetition each): nDCG@5 0.568, Precision@5 0.679, top-1 hit rate 0.643, no failed runs. Median 5.5 seconds and about 9.9k tokens per resume.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orchestrator runs three workers: resume parser, requirement extractor and ranker, chained by Python. Workers pick numbered lines and the controller restores the exact source text. Messy rjdfit text is flattened and split into lines of at most 300 characters. On the 28 eval resumes: nDCG@5 0.512, Precision@5 0.629, top-1 0.607, and 2 failed runs (P03 and P17), which score 0. Median 20.9 seconds and 32.2k tokens. Local runs have no API cost; hardware cost is not measured. We have not yet read the error behind the two failures.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Median wall-clock per resume was 5.5s for the single agent and 20.9s for the orchestrator (3.8x). Median tokens were 9.9k vs 32.2k (3.3x). This matches what we saw earlier on the old workload (4 to 6x slower, about 2.8x tokens) and is expected: three sequential calls, and the later calls re-read the resume and job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agent: nDCG@5 0.568, Precision@5 0.679, top-1 0.643, 0 failures. Multi-agent: 0.512, 0.629, 0.607, 2 failures out of 28 (P03 and P17, scored 0). Per resume, single was better on 16, multi on 9, tied on 3; the mean gap is 0.056 with a bootstrap 95% interval of about -0.16 to +0.04, so we can't call it a real difference. Dropping the two failed resumes for both, they are essentially tied (0.554 vs 0.551). Both are only modestly above the 0.58 random Precision@5, so a 4B model on these pools is a weak matcher either way. One repetition per resume, so no run-to-run variance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Largest per-resume gaps. Single wins: P03 and P17 (multi-agent failed, scored 0), P28 (0.83 vs 0.45), P07 (0.80 vs 0.53). Multi-agent wins: P06 (1.00 vs 0.47), P15 (0.61 vs 0.24), P14 (0.58 vs 0.26), P08 (0.47 vs 0.32). Three resumes tied exactly. Full per-resume table is in paired_resumes.csv.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model output for dev resume P02, an HR/admin background with a pool of 9 jobs where only 2 are relevant (D028 is a potential fit, D024 a good fit). Both pipelines found both relevant jobs. The single agent ranked them 1st and 3rd (nDCG@5 0.69), the orchestrator 1st and 4th (0.63). Both had to return 5, so both filled the remaining 3 slots with no-fit jobs, and the model's own explanations say things like 'no alignment' or 'not mentioned' about those picks. This is dev data used while building the pipeline, so it's an illustration, not part of the 28-resume eval. Also visible: the explanations get cut off at the 300-character limit mid-sentence.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Dataset + pools ready</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Switched to a public labeled dataset</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8,000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labeled resume-job pairs (rjdfit)</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30</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resume pools (2 dev, 28 eval)</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8–20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jobs per pool, all labeled for that resume</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58%</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of jobs are relevant, so random Precision@5 ≈ 0.58</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Our own 50-job set was too small and noisy, so we moved to rjdfit: labels are no fit / potential fit / good fit</a:t>
            </a:r>
            <a:endParaRPr lang="en-US" sz="1300" dirty="0"/>
          </a:p>
          <a:p>
            <a:pPr marL="152400" indent="-152400">
              <a:spcAft>
                <a:spcPts val="400"/>
              </a:spcAft>
              <a:buSzPct val="100000"/>
              <a:buChar char="•"/>
            </a:pPr>
            <a:r>
              <a:rPr lang="en-US" sz="1300" dirty="0">
                <a:solidFill>
                  <a:srgbClr val="2D3748"/>
                </a:solidFill>
              </a:rPr>
              <a:t>Each pool is one resume plus its own labeled jobs; the matcher returns a top 5</a:t>
            </a:r>
            <a:endParaRPr lang="en-US" sz="1300" dirty="0"/>
          </a:p>
          <a:p>
            <a:pPr marL="152400" indent="-152400">
              <a:spcAft>
                <a:spcPts val="400"/>
              </a:spcAft>
              <a:buSzPct val="100000"/>
              <a:buChar char="•"/>
            </a:pPr>
            <a:r>
              <a:rPr lang="en-US" sz="1300" dirty="0">
                <a:solidFill>
                  <a:srgbClr val="2D3748"/>
                </a:solidFill>
              </a:rPr>
              <a:t>Pools are fixed (seed 585) and hashed, so both matchers see identical inputs</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Labels come from the dataset; we could not verify who labeled them</a:t>
            </a:r>
            <a:endParaRPr lang="en-US" sz="1300" dirty="0"/>
          </a:p>
          <a:p>
            <a:pPr marL="152400" indent="-152400">
              <a:spcAft>
                <a:spcPts val="400"/>
              </a:spcAft>
              <a:buSzPct val="100000"/>
              <a:buChar char="•"/>
            </a:pPr>
            <a:r>
              <a:rPr lang="en-US" sz="1300" dirty="0">
                <a:solidFill>
                  <a:srgbClr val="2D3748"/>
                </a:solidFill>
              </a:rPr>
              <a:t>Error analysis on the lowest-scoring resumes</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text</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pool jobs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28 eval resumes: nDCG@5 0.568, Precision@5 0.68, 0 of 28 runs failed</a:t>
            </a:r>
            <a:endParaRPr lang="en-US" sz="1300" dirty="0"/>
          </a:p>
          <a:p>
            <a:pPr marL="152400" indent="-152400">
              <a:spcAft>
                <a:spcPts val="400"/>
              </a:spcAft>
              <a:buSzPct val="100000"/>
              <a:buChar char="•"/>
            </a:pPr>
            <a:r>
              <a:rPr lang="en-US" sz="1300" dirty="0">
                <a:solidFill>
                  <a:srgbClr val="2D3748"/>
                </a:solidFill>
              </a:rPr>
              <a:t>Median 5.5s and 9.9k tokens per resume on an A100</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Look at low scorers (P11: 0.19, P15: 0.24)</a:t>
            </a:r>
            <a:endParaRPr lang="en-US" sz="1300" dirty="0"/>
          </a:p>
          <a:p>
            <a:pPr marL="152400" indent="-152400">
              <a:spcAft>
                <a:spcPts val="400"/>
              </a:spcAft>
              <a:buSzPct val="100000"/>
              <a:buChar char="•"/>
            </a:pPr>
            <a:r>
              <a:rPr lang="en-US" sz="1300" dirty="0">
                <a:solidFill>
                  <a:srgbClr val="2D3748"/>
                </a:solidFill>
              </a:rPr>
              <a:t>Try larger pools or a bigger model</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Resume parser and extractor cite numbered lines (L001 / E001), so the 4B model picks lines instead of retyping quotes</a:t>
            </a:r>
            <a:endParaRPr lang="en-US" sz="1300" dirty="0"/>
          </a:p>
          <a:p>
            <a:pPr marL="152400" indent="-152400">
              <a:spcAft>
                <a:spcPts val="400"/>
              </a:spcAft>
              <a:buSzPct val="100000"/>
              <a:buChar char="•"/>
            </a:pPr>
            <a:r>
              <a:rPr lang="en-US" sz="1300" dirty="0">
                <a:solidFill>
                  <a:srgbClr val="2D3748"/>
                </a:solidFill>
              </a:rPr>
              <a:t>28 eval resumes: nDCG@5 0.512, Precision@5 0.63, 2 of 28 runs failed (P03, P17)</a:t>
            </a:r>
            <a:endParaRPr lang="en-US" sz="1300" dirty="0"/>
          </a:p>
          <a:p>
            <a:pPr marL="152400" indent="-152400">
              <a:spcAft>
                <a:spcPts val="400"/>
              </a:spcAft>
              <a:buSzPct val="100000"/>
              <a:buChar char="•"/>
            </a:pPr>
            <a:r>
              <a:rPr lang="en-US" sz="1300" dirty="0">
                <a:solidFill>
                  <a:srgbClr val="2D3748"/>
                </a:solidFill>
              </a:rPr>
              <a:t>Median 20.9s and 32.2k tokens per resume</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Find why P03 and P17 failed</a:t>
            </a:r>
            <a:endParaRPr lang="en-US" sz="1300" dirty="0"/>
          </a:p>
          <a:p>
            <a:pPr marL="152400" indent="-152400">
              <a:spcAft>
                <a:spcPts val="400"/>
              </a:spcAft>
              <a:buSzPct val="100000"/>
              <a:buChar char="•"/>
            </a:pPr>
            <a:r>
              <a:rPr lang="en-US" sz="1300" dirty="0">
                <a:solidFill>
                  <a:srgbClr val="2D3748"/>
                </a:solidFill>
              </a:rPr>
              <a:t>Check if the extra steps drop useful lines</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A100 run · 56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Median per resume: 20.9s vs 5.5s, 32.2k vs 9.9k tokens · 3 sequential calls instead of 1</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(Ollama) on a Colab A100 · 28 eval resumes, 1 repetition · median per run · tokens in thousands · $0 API cost</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05 · ACCURACY (nDCG@5)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Held-out eval · 56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Single agent scored higher, mostly from 2 failures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Single better on 16 resumes, multi on 9, tied on 3 · mean gap 0.06 nDCG@5, not significant</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on a Colab A100 · 28 eval resumes × 1 rep · labels from rjdfit · random Precision@5 = 0.58 · multi used 3.3x tokens</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r:id="rId2"/>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07 · PER-RESUME RESULTS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Biggest gaps · nDCG@5</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Failures drive the largest gaps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nDCG@5 for the same resume, single vs. multi-agent · 28 eval resumes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Repetition 1 of 1 · P03 and P17 are the two multi-agent failures · full table in paired_resumes.csv</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wins</a:t>
            </a:r>
          </a:p>
        </p:txBody>
      </p:sp>
      <p:sp>
        <p:nvSpPr>
          <p:cNvPr id="27" name="TextBox 26"/>
          <p:cNvSpPr txBox="1"/>
          <p:nvPr/>
        </p:nvSpPr>
        <p:spPr>
          <a:xfrm>
            <a:off x="6858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2F5D8C"/>
                </a:solidFill>
              </a:rPr>
              <a:t>P03 · 0.83</a:t>
            </a:r>
          </a:p>
          <a:p>
            <a:pPr>
              <a:spcBef>
                <a:spcPts val="500"/>
              </a:spcBef>
            </a:pPr>
            <a:r>
              <a:rPr sz="1100" b="1">
                <a:solidFill>
                  <a:srgbClr val="2F5D8C"/>
                </a:solidFill>
              </a:rPr>
              <a:t>P17 · 0.69</a:t>
            </a:r>
          </a:p>
          <a:p>
            <a:pPr>
              <a:spcBef>
                <a:spcPts val="500"/>
              </a:spcBef>
            </a:pPr>
            <a:r>
              <a:rPr sz="1100" b="1">
                <a:solidFill>
                  <a:srgbClr val="2F5D8C"/>
                </a:solidFill>
              </a:rPr>
              <a:t>P28 · 0.83</a:t>
            </a:r>
          </a:p>
          <a:p>
            <a:pPr>
              <a:spcBef>
                <a:spcPts val="500"/>
              </a:spcBef>
            </a:pPr>
            <a:r>
              <a:rPr sz="1100" b="1">
                <a:solidFill>
                  <a:srgbClr val="2F5D8C"/>
                </a:solidFill>
              </a:rPr>
              <a:t>P07 · 0.80</a:t>
            </a:r>
          </a:p>
        </p:txBody>
      </p:sp>
      <p:sp>
        <p:nvSpPr>
          <p:cNvPr id="28" name="TextBox 27"/>
          <p:cNvSpPr txBox="1"/>
          <p:nvPr/>
        </p:nvSpPr>
        <p:spPr>
          <a:xfrm>
            <a:off x="25603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P03 · 0.00 (failed)</a:t>
            </a:r>
          </a:p>
          <a:p>
            <a:pPr>
              <a:spcBef>
                <a:spcPts val="500"/>
              </a:spcBef>
            </a:pPr>
            <a:r>
              <a:rPr sz="1100" b="1">
                <a:solidFill>
                  <a:srgbClr val="B85C1E"/>
                </a:solidFill>
              </a:rPr>
              <a:t>P17 · 0.00 (failed)</a:t>
            </a:r>
          </a:p>
          <a:p>
            <a:pPr>
              <a:spcBef>
                <a:spcPts val="500"/>
              </a:spcBef>
            </a:pPr>
            <a:r>
              <a:rPr sz="1100" b="1">
                <a:solidFill>
                  <a:srgbClr val="B85C1E"/>
                </a:solidFill>
              </a:rPr>
              <a:t>P28 · 0.45</a:t>
            </a:r>
          </a:p>
          <a:p>
            <a:pPr>
              <a:spcBef>
                <a:spcPts val="500"/>
              </a:spcBef>
            </a:pPr>
            <a:r>
              <a:rPr sz="1100" b="1">
                <a:solidFill>
                  <a:srgbClr val="B85C1E"/>
                </a:solidFill>
              </a:rPr>
              <a:t>P07 · 0.53</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wins</a:t>
            </a:r>
          </a:p>
        </p:txBody>
      </p:sp>
      <p:sp>
        <p:nvSpPr>
          <p:cNvPr id="30" name="TextBox 29"/>
          <p:cNvSpPr txBox="1"/>
          <p:nvPr/>
        </p:nvSpPr>
        <p:spPr>
          <a:xfrm>
            <a:off x="4800600" y="2231136"/>
            <a:ext cx="1783080" cy="2286000"/>
          </a:xfrm>
          <a:prstGeom prst="rect">
            <a:avLst/>
          </a:prstGeom>
          <a:noFill/>
        </p:spPr>
        <p:txBody>
          <a:bodyPr wrap="square" lIns="18288" rIns="18288" tIns="0" bIns="0">
            <a:spAutoFit/>
          </a:bodyPr>
          <a:lstStyle/>
          <a:p>
            <a:r>
              <a:rPr sz="1200" b="1">
                <a:solidFill>
                  <a:srgbClr val="2F5D8C"/>
                </a:solidFill>
              </a:rPr>
              <a:t>Single</a:t>
            </a:r>
          </a:p>
          <a:p>
            <a:pPr>
              <a:spcBef>
                <a:spcPts val="500"/>
              </a:spcBef>
            </a:pPr>
            <a:r>
              <a:rPr sz="1100" b="1">
                <a:solidFill>
                  <a:srgbClr val="B85C1E"/>
                </a:solidFill>
              </a:rPr>
              <a:t>P06 · 0.47</a:t>
            </a:r>
          </a:p>
          <a:p>
            <a:pPr>
              <a:spcBef>
                <a:spcPts val="500"/>
              </a:spcBef>
            </a:pPr>
            <a:r>
              <a:rPr sz="1100" b="1">
                <a:solidFill>
                  <a:srgbClr val="B85C1E"/>
                </a:solidFill>
              </a:rPr>
              <a:t>P15 · 0.24</a:t>
            </a:r>
          </a:p>
          <a:p>
            <a:pPr>
              <a:spcBef>
                <a:spcPts val="500"/>
              </a:spcBef>
            </a:pPr>
            <a:r>
              <a:rPr sz="1100" b="1">
                <a:solidFill>
                  <a:srgbClr val="B85C1E"/>
                </a:solidFill>
              </a:rPr>
              <a:t>P14 · 0.26</a:t>
            </a:r>
          </a:p>
          <a:p>
            <a:pPr>
              <a:spcBef>
                <a:spcPts val="500"/>
              </a:spcBef>
            </a:pPr>
            <a:r>
              <a:rPr sz="1100" b="1">
                <a:solidFill>
                  <a:srgbClr val="B85C1E"/>
                </a:solidFill>
              </a:rPr>
              <a:t>P08 · 0.32</a:t>
            </a:r>
          </a:p>
        </p:txBody>
      </p:sp>
      <p:sp>
        <p:nvSpPr>
          <p:cNvPr id="31" name="TextBox 30"/>
          <p:cNvSpPr txBox="1"/>
          <p:nvPr/>
        </p:nvSpPr>
        <p:spPr>
          <a:xfrm>
            <a:off x="6675120" y="2231136"/>
            <a:ext cx="1783080" cy="2286000"/>
          </a:xfrm>
          <a:prstGeom prst="rect">
            <a:avLst/>
          </a:prstGeom>
          <a:noFill/>
        </p:spPr>
        <p:txBody>
          <a:bodyPr wrap="square" lIns="18288" rIns="18288" tIns="0" bIns="0">
            <a:spAutoFit/>
          </a:bodyPr>
          <a:lstStyle/>
          <a:p>
            <a:r>
              <a:rPr sz="1200" b="1">
                <a:solidFill>
                  <a:srgbClr val="B85C1E"/>
                </a:solidFill>
              </a:rPr>
              <a:t>Multi-agent</a:t>
            </a:r>
          </a:p>
          <a:p>
            <a:pPr>
              <a:spcBef>
                <a:spcPts val="500"/>
              </a:spcBef>
            </a:pPr>
            <a:r>
              <a:rPr sz="1100" b="1">
                <a:solidFill>
                  <a:srgbClr val="B85C1E"/>
                </a:solidFill>
              </a:rPr>
              <a:t>P06 · 1.00</a:t>
            </a:r>
          </a:p>
          <a:p>
            <a:pPr>
              <a:spcBef>
                <a:spcPts val="500"/>
              </a:spcBef>
            </a:pPr>
            <a:r>
              <a:rPr sz="1100" b="1">
                <a:solidFill>
                  <a:srgbClr val="B85C1E"/>
                </a:solidFill>
              </a:rPr>
              <a:t>P15 · 0.61</a:t>
            </a:r>
          </a:p>
          <a:p>
            <a:pPr>
              <a:spcBef>
                <a:spcPts val="500"/>
              </a:spcBef>
            </a:pPr>
            <a:r>
              <a:rPr sz="1100" b="1">
                <a:solidFill>
                  <a:srgbClr val="B85C1E"/>
                </a:solidFill>
              </a:rPr>
              <a:t>P14 · 0.58</a:t>
            </a:r>
          </a:p>
          <a:p>
            <a:pPr>
              <a:spcBef>
                <a:spcPts val="500"/>
              </a:spcBef>
            </a:pPr>
            <a:r>
              <a:rPr sz="1100" b="1">
                <a:solidFill>
                  <a:srgbClr val="B85C1E"/>
                </a:solidFill>
              </a:rPr>
              <a:t>P08 · 0.47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92024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Questions?</a:t>
            </a:r>
            <a:endParaRPr lang="en-US" sz="48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06 · WHAT THE MODEL SAID</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Dev resume P02 · 9 jobs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Both found the 2 relevant jobs, then padded the list</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Only 2 of 9 jobs are relevant (D028 potential fit, D024 good fit) · ✓ relevant, ✗ no fit in the dataset labels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 dev resume P02 (HR / admin background) · must return 5 picks · job names shortened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Single agent · nDCG@5 0.69</a:t>
            </a:r>
          </a:p>
        </p:txBody>
      </p:sp>
      <p:sp>
        <p:nvSpPr>
          <p:cNvPr id="27" name="TextBox 26"/>
          <p:cNvSpPr txBox="1"/>
          <p:nvPr/>
        </p:nvSpPr>
        <p:spPr>
          <a:xfrm>
            <a:off x="685800" y="2231136"/>
            <a:ext cx="3657600" cy="2286000"/>
          </a:xfrm>
          <a:prstGeom prst="rect">
            <a:avLst/>
          </a:prstGeom>
          <a:noFill/>
        </p:spPr>
        <p:txBody>
          <a:bodyPr wrap="square" lIns="18288" rIns="18288" tIns="0" bIns="0">
            <a:spAutoFit/>
          </a:bodyPr>
          <a:lstStyle/>
          <a:p>
            <a:r>
              <a:rPr sz="1200" b="1">
                <a:solidFill>
                  <a:srgbClr val="2F5D8C"/>
                </a:solidFill>
              </a:rPr>
              <a:t>Top 5 (2/5 relevant)</a:t>
            </a:r>
          </a:p>
          <a:p>
            <a:pPr>
              <a:spcBef>
                <a:spcPts val="500"/>
              </a:spcBef>
            </a:pPr>
            <a:r>
              <a:rPr sz="1100" b="1">
                <a:solidFill>
                  <a:srgbClr val="2F5D8C"/>
                </a:solidFill>
              </a:rPr>
              <a:t>✓ Data Engineer, SaaS firm</a:t>
            </a:r>
          </a:p>
          <a:p>
            <a:pPr>
              <a:spcBef>
                <a:spcPts val="500"/>
              </a:spcBef>
            </a:pPr>
            <a:r>
              <a:rPr sz="1100" b="1">
                <a:solidFill>
                  <a:srgbClr val="2F5D8C"/>
                </a:solidFill>
              </a:rPr>
              <a:t>✗ Sr Business Systems DB Engineer</a:t>
            </a:r>
          </a:p>
          <a:p>
            <a:pPr>
              <a:spcBef>
                <a:spcPts val="500"/>
              </a:spcBef>
            </a:pPr>
            <a:r>
              <a:rPr sz="1100" b="1">
                <a:solidFill>
                  <a:srgbClr val="2F5D8C"/>
                </a:solidFill>
              </a:rPr>
              <a:t>✓ ROR Partners data role</a:t>
            </a:r>
          </a:p>
          <a:p>
            <a:pPr>
              <a:spcBef>
                <a:spcPts val="500"/>
              </a:spcBef>
            </a:pPr>
            <a:r>
              <a:rPr sz="1100" b="1">
                <a:solidFill>
                  <a:srgbClr val="2F5D8C"/>
                </a:solidFill>
              </a:rPr>
              <a:t>✗ Cybersecurity / embedded (SEL)</a:t>
            </a:r>
          </a:p>
          <a:p>
            <a:pPr>
              <a:spcBef>
                <a:spcPts val="500"/>
              </a:spcBef>
            </a:pPr>
            <a:r>
              <a:rPr sz="1100" b="1">
                <a:solidFill>
                  <a:srgbClr val="2F5D8C"/>
                </a:solidFill>
              </a:rPr>
              <a:t>✗ Software Engineer (Brooksource)</a:t>
            </a:r>
          </a:p>
          <a:p>
            <a:pPr>
              <a:spcBef>
                <a:spcPts val="500"/>
              </a:spcBef>
            </a:pPr>
            <a:r>
              <a:rPr sz="1100" b="1">
                <a:solidFill>
                  <a:srgbClr val="2F5D8C"/>
                </a:solidFill>
              </a:rPr>
              <a:t>Its own note on #4: "no alignment"</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Multi-agent · nDCG@5 0.63</a:t>
            </a:r>
          </a:p>
        </p:txBody>
      </p:sp>
      <p:sp>
        <p:nvSpPr>
          <p:cNvPr id="30" name="TextBox 29"/>
          <p:cNvSpPr txBox="1"/>
          <p:nvPr/>
        </p:nvSpPr>
        <p:spPr>
          <a:xfrm>
            <a:off x="4800600" y="2231136"/>
            <a:ext cx="3657600" cy="2286000"/>
          </a:xfrm>
          <a:prstGeom prst="rect">
            <a:avLst/>
          </a:prstGeom>
          <a:noFill/>
        </p:spPr>
        <p:txBody>
          <a:bodyPr wrap="square" lIns="18288" rIns="18288" tIns="0" bIns="0">
            <a:spAutoFit/>
          </a:bodyPr>
          <a:lstStyle/>
          <a:p>
            <a:r>
              <a:rPr sz="1200" b="1">
                <a:solidFill>
                  <a:srgbClr val="2F5D8C"/>
                </a:solidFill>
              </a:rPr>
              <a:t>Top 5 (2/5 relevant)</a:t>
            </a:r>
          </a:p>
          <a:p>
            <a:pPr>
              <a:spcBef>
                <a:spcPts val="500"/>
              </a:spcBef>
            </a:pPr>
            <a:r>
              <a:rPr sz="1100" b="1">
                <a:solidFill>
                  <a:srgbClr val="B85C1E"/>
                </a:solidFill>
              </a:rPr>
              <a:t>✓ Data Engineer, SaaS firm</a:t>
            </a:r>
          </a:p>
          <a:p>
            <a:pPr>
              <a:spcBef>
                <a:spcPts val="500"/>
              </a:spcBef>
            </a:pPr>
            <a:r>
              <a:rPr sz="1100" b="1">
                <a:solidFill>
                  <a:srgbClr val="B85C1E"/>
                </a:solidFill>
              </a:rPr>
              <a:t>✗ Prop trading firm data role</a:t>
            </a:r>
          </a:p>
          <a:p>
            <a:pPr>
              <a:spcBef>
                <a:spcPts val="500"/>
              </a:spcBef>
            </a:pPr>
            <a:r>
              <a:rPr sz="1100" b="1">
                <a:solidFill>
                  <a:srgbClr val="B85C1E"/>
                </a:solidFill>
              </a:rPr>
              <a:t>✗ Sr Business Systems DB Engineer</a:t>
            </a:r>
          </a:p>
          <a:p>
            <a:pPr>
              <a:spcBef>
                <a:spcPts val="500"/>
              </a:spcBef>
            </a:pPr>
            <a:r>
              <a:rPr sz="1100" b="1">
                <a:solidFill>
                  <a:srgbClr val="B85C1E"/>
                </a:solidFill>
              </a:rPr>
              <a:t>✓ ROR Partners data role</a:t>
            </a:r>
          </a:p>
          <a:p>
            <a:pPr>
              <a:spcBef>
                <a:spcPts val="500"/>
              </a:spcBef>
            </a:pPr>
            <a:r>
              <a:rPr sz="1100" b="1">
                <a:solidFill>
                  <a:srgbClr val="B85C1E"/>
                </a:solidFill>
              </a:rPr>
              <a:t>✗ Cost Accountant</a:t>
            </a:r>
          </a:p>
          <a:p>
            <a:pPr>
              <a:spcBef>
                <a:spcPts val="500"/>
              </a:spcBef>
            </a:pPr>
            <a:r>
              <a:rPr sz="1100" b="1">
                <a:solidFill>
                  <a:srgbClr val="B85C1E"/>
                </a:solidFill>
              </a:rPr>
              <a:t>Its own note on #5: needs ERP skills, "not mentioned"</a:t>
            </a:r>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